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247"/>
        </a:solidFill>
      </p:bgPr>
    </p:bg>
    <p:spTree>
      <p:nvGrpSpPr>
        <p:cNvPr id="1" name=""/>
        <p:cNvGrpSpPr/>
        <p:nvPr/>
      </p:nvGrpSpPr>
      <p:grpSpPr>
        <a:xfrm>
          <a:off x="0" y="0"/>
          <a:ext cx="0" cy="0"/>
          <a:chOff x="0" y="0"/>
          <a:chExt cx="0" cy="0"/>
        </a:xfrm>
      </p:grpSpPr>
      <p:sp>
        <p:nvSpPr>
          <p:cNvPr id="2" name="Shape 0"/>
          <p:cNvSpPr/>
          <p:nvPr/>
        </p:nvSpPr>
        <p:spPr>
          <a:xfrm>
            <a:off x="1225296" y="1179576"/>
            <a:ext cx="18288" cy="18288"/>
          </a:xfrm>
          <a:prstGeom prst="ellipse">
            <a:avLst/>
          </a:prstGeom>
          <a:solidFill>
            <a:srgbClr val="D4A017">
              <a:alpha val="31000"/>
            </a:srgbClr>
          </a:solidFill>
          <a:ln/>
        </p:spPr>
      </p:sp>
      <p:sp>
        <p:nvSpPr>
          <p:cNvPr id="3" name="Shape 1"/>
          <p:cNvSpPr/>
          <p:nvPr/>
        </p:nvSpPr>
        <p:spPr>
          <a:xfrm>
            <a:off x="1254189" y="1207258"/>
            <a:ext cx="19314" cy="19314"/>
          </a:xfrm>
          <a:prstGeom prst="ellipse">
            <a:avLst/>
          </a:prstGeom>
          <a:solidFill>
            <a:srgbClr val="D4A017">
              <a:alpha val="33000"/>
            </a:srgbClr>
          </a:solidFill>
          <a:ln/>
        </p:spPr>
      </p:sp>
      <p:sp>
        <p:nvSpPr>
          <p:cNvPr id="4" name="Shape 2"/>
          <p:cNvSpPr/>
          <p:nvPr/>
        </p:nvSpPr>
        <p:spPr>
          <a:xfrm>
            <a:off x="1264977" y="1254059"/>
            <a:ext cx="20341" cy="20341"/>
          </a:xfrm>
          <a:prstGeom prst="ellipse">
            <a:avLst/>
          </a:prstGeom>
          <a:solidFill>
            <a:srgbClr val="D4A017">
              <a:alpha val="34000"/>
            </a:srgbClr>
          </a:solidFill>
          <a:ln/>
        </p:spPr>
      </p:sp>
      <p:sp>
        <p:nvSpPr>
          <p:cNvPr id="5" name="Shape 3"/>
          <p:cNvSpPr/>
          <p:nvPr/>
        </p:nvSpPr>
        <p:spPr>
          <a:xfrm>
            <a:off x="1248780" y="1309500"/>
            <a:ext cx="21367" cy="21367"/>
          </a:xfrm>
          <a:prstGeom prst="ellipse">
            <a:avLst/>
          </a:prstGeom>
          <a:solidFill>
            <a:srgbClr val="D4A017">
              <a:alpha val="35000"/>
            </a:srgbClr>
          </a:solidFill>
          <a:ln/>
        </p:spPr>
      </p:sp>
      <p:sp>
        <p:nvSpPr>
          <p:cNvPr id="6" name="Shape 4"/>
          <p:cNvSpPr/>
          <p:nvPr/>
        </p:nvSpPr>
        <p:spPr>
          <a:xfrm>
            <a:off x="1202197" y="1359673"/>
            <a:ext cx="22393" cy="22393"/>
          </a:xfrm>
          <a:prstGeom prst="ellipse">
            <a:avLst/>
          </a:prstGeom>
          <a:solidFill>
            <a:srgbClr val="D4A017">
              <a:alpha val="36000"/>
            </a:srgbClr>
          </a:solidFill>
          <a:ln/>
        </p:spPr>
      </p:sp>
      <p:sp>
        <p:nvSpPr>
          <p:cNvPr id="7" name="Shape 5"/>
          <p:cNvSpPr/>
          <p:nvPr/>
        </p:nvSpPr>
        <p:spPr>
          <a:xfrm>
            <a:off x="1128426" y="1389872"/>
            <a:ext cx="23420" cy="23420"/>
          </a:xfrm>
          <a:prstGeom prst="ellipse">
            <a:avLst/>
          </a:prstGeom>
          <a:solidFill>
            <a:srgbClr val="D4A017">
              <a:alpha val="37000"/>
            </a:srgbClr>
          </a:solidFill>
          <a:ln/>
        </p:spPr>
      </p:sp>
      <p:sp>
        <p:nvSpPr>
          <p:cNvPr id="8" name="Shape 6"/>
          <p:cNvSpPr/>
          <p:nvPr/>
        </p:nvSpPr>
        <p:spPr>
          <a:xfrm>
            <a:off x="1037197" y="1387527"/>
            <a:ext cx="24446" cy="24446"/>
          </a:xfrm>
          <a:prstGeom prst="ellipse">
            <a:avLst/>
          </a:prstGeom>
          <a:solidFill>
            <a:srgbClr val="D4A017">
              <a:alpha val="39000"/>
            </a:srgbClr>
          </a:solidFill>
          <a:ln/>
        </p:spPr>
      </p:sp>
      <p:sp>
        <p:nvSpPr>
          <p:cNvPr id="9" name="Shape 7"/>
          <p:cNvSpPr/>
          <p:nvPr/>
        </p:nvSpPr>
        <p:spPr>
          <a:xfrm>
            <a:off x="943486" y="1344903"/>
            <a:ext cx="25473" cy="25473"/>
          </a:xfrm>
          <a:prstGeom prst="ellipse">
            <a:avLst/>
          </a:prstGeom>
          <a:solidFill>
            <a:srgbClr val="D4A017">
              <a:alpha val="40000"/>
            </a:srgbClr>
          </a:solidFill>
          <a:ln/>
        </p:spPr>
      </p:sp>
      <p:sp>
        <p:nvSpPr>
          <p:cNvPr id="10" name="Shape 8"/>
          <p:cNvSpPr/>
          <p:nvPr/>
        </p:nvSpPr>
        <p:spPr>
          <a:xfrm>
            <a:off x="865165" y="1261109"/>
            <a:ext cx="26499" cy="26499"/>
          </a:xfrm>
          <a:prstGeom prst="ellipse">
            <a:avLst/>
          </a:prstGeom>
          <a:solidFill>
            <a:srgbClr val="D4A017">
              <a:alpha val="41000"/>
            </a:srgbClr>
          </a:solidFill>
          <a:ln/>
        </p:spPr>
      </p:sp>
      <p:sp>
        <p:nvSpPr>
          <p:cNvPr id="11" name="Shape 9"/>
          <p:cNvSpPr/>
          <p:nvPr/>
        </p:nvSpPr>
        <p:spPr>
          <a:xfrm>
            <a:off x="819963" y="1143007"/>
            <a:ext cx="27525" cy="27525"/>
          </a:xfrm>
          <a:prstGeom prst="ellipse">
            <a:avLst/>
          </a:prstGeom>
          <a:solidFill>
            <a:srgbClr val="D4A017">
              <a:alpha val="42000"/>
            </a:srgbClr>
          </a:solidFill>
          <a:ln/>
        </p:spPr>
      </p:sp>
      <p:sp>
        <p:nvSpPr>
          <p:cNvPr id="12" name="Shape 10"/>
          <p:cNvSpPr/>
          <p:nvPr/>
        </p:nvSpPr>
        <p:spPr>
          <a:xfrm>
            <a:off x="822208" y="1004816"/>
            <a:ext cx="28552" cy="28552"/>
          </a:xfrm>
          <a:prstGeom prst="ellipse">
            <a:avLst/>
          </a:prstGeom>
          <a:solidFill>
            <a:srgbClr val="D4A017">
              <a:alpha val="43000"/>
            </a:srgbClr>
          </a:solidFill>
          <a:ln/>
        </p:spPr>
      </p:sp>
      <p:sp>
        <p:nvSpPr>
          <p:cNvPr id="13" name="Shape 11"/>
          <p:cNvSpPr/>
          <p:nvPr/>
        </p:nvSpPr>
        <p:spPr>
          <a:xfrm>
            <a:off x="879900" y="866399"/>
            <a:ext cx="29578" cy="29578"/>
          </a:xfrm>
          <a:prstGeom prst="ellipse">
            <a:avLst/>
          </a:prstGeom>
          <a:solidFill>
            <a:srgbClr val="D4A017">
              <a:alpha val="45000"/>
            </a:srgbClr>
          </a:solidFill>
          <a:ln/>
        </p:spPr>
      </p:sp>
      <p:sp>
        <p:nvSpPr>
          <p:cNvPr id="14" name="Shape 12"/>
          <p:cNvSpPr/>
          <p:nvPr/>
        </p:nvSpPr>
        <p:spPr>
          <a:xfrm>
            <a:off x="992627" y="750436"/>
            <a:ext cx="30604" cy="30604"/>
          </a:xfrm>
          <a:prstGeom prst="ellipse">
            <a:avLst/>
          </a:prstGeom>
          <a:solidFill>
            <a:srgbClr val="D4A017">
              <a:alpha val="46000"/>
            </a:srgbClr>
          </a:solidFill>
          <a:ln/>
        </p:spPr>
      </p:sp>
      <p:sp>
        <p:nvSpPr>
          <p:cNvPr id="15" name="Shape 13"/>
          <p:cNvSpPr/>
          <p:nvPr/>
        </p:nvSpPr>
        <p:spPr>
          <a:xfrm>
            <a:off x="1150718" y="678880"/>
            <a:ext cx="31631" cy="31631"/>
          </a:xfrm>
          <a:prstGeom prst="ellipse">
            <a:avLst/>
          </a:prstGeom>
          <a:solidFill>
            <a:srgbClr val="D4A017">
              <a:alpha val="47000"/>
            </a:srgbClr>
          </a:solidFill>
          <a:ln/>
        </p:spPr>
      </p:sp>
      <p:sp>
        <p:nvSpPr>
          <p:cNvPr id="16" name="Shape 14"/>
          <p:cNvSpPr/>
          <p:nvPr/>
        </p:nvSpPr>
        <p:spPr>
          <a:xfrm>
            <a:off x="1335876" y="669239"/>
            <a:ext cx="32657" cy="32657"/>
          </a:xfrm>
          <a:prstGeom prst="ellipse">
            <a:avLst/>
          </a:prstGeom>
          <a:solidFill>
            <a:srgbClr val="D4A017">
              <a:alpha val="48000"/>
            </a:srgbClr>
          </a:solidFill>
          <a:ln/>
        </p:spPr>
      </p:sp>
      <p:sp>
        <p:nvSpPr>
          <p:cNvPr id="17" name="Shape 15"/>
          <p:cNvSpPr/>
          <p:nvPr/>
        </p:nvSpPr>
        <p:spPr>
          <a:xfrm>
            <a:off x="1523258" y="731262"/>
            <a:ext cx="33684" cy="33684"/>
          </a:xfrm>
          <a:prstGeom prst="ellipse">
            <a:avLst/>
          </a:prstGeom>
          <a:solidFill>
            <a:srgbClr val="D4A017">
              <a:alpha val="49000"/>
            </a:srgbClr>
          </a:solidFill>
          <a:ln/>
        </p:spPr>
      </p:sp>
      <p:sp>
        <p:nvSpPr>
          <p:cNvPr id="18" name="Shape 16"/>
          <p:cNvSpPr/>
          <p:nvPr/>
        </p:nvSpPr>
        <p:spPr>
          <a:xfrm>
            <a:off x="1684797" y="864604"/>
            <a:ext cx="34710" cy="34710"/>
          </a:xfrm>
          <a:prstGeom prst="ellipse">
            <a:avLst/>
          </a:prstGeom>
          <a:solidFill>
            <a:srgbClr val="D4A017">
              <a:alpha val="51000"/>
            </a:srgbClr>
          </a:solidFill>
          <a:ln/>
        </p:spPr>
      </p:sp>
      <p:sp>
        <p:nvSpPr>
          <p:cNvPr id="19" name="Shape 17"/>
          <p:cNvSpPr/>
          <p:nvPr/>
        </p:nvSpPr>
        <p:spPr>
          <a:xfrm>
            <a:off x="1793301" y="1057894"/>
            <a:ext cx="35736" cy="35736"/>
          </a:xfrm>
          <a:prstGeom prst="ellipse">
            <a:avLst/>
          </a:prstGeom>
          <a:solidFill>
            <a:srgbClr val="D4A017">
              <a:alpha val="52000"/>
            </a:srgbClr>
          </a:solidFill>
          <a:ln/>
        </p:spPr>
      </p:sp>
      <p:sp>
        <p:nvSpPr>
          <p:cNvPr id="20" name="Shape 18"/>
          <p:cNvSpPr/>
          <p:nvPr/>
        </p:nvSpPr>
        <p:spPr>
          <a:xfrm>
            <a:off x="1826756" y="1289461"/>
            <a:ext cx="36763" cy="36763"/>
          </a:xfrm>
          <a:prstGeom prst="ellipse">
            <a:avLst/>
          </a:prstGeom>
          <a:solidFill>
            <a:srgbClr val="D4A017">
              <a:alpha val="53000"/>
            </a:srgbClr>
          </a:solidFill>
          <a:ln/>
        </p:spPr>
      </p:sp>
      <p:sp>
        <p:nvSpPr>
          <p:cNvPr id="21" name="Shape 19"/>
          <p:cNvSpPr/>
          <p:nvPr/>
        </p:nvSpPr>
        <p:spPr>
          <a:xfrm>
            <a:off x="1772166" y="1529707"/>
            <a:ext cx="37789" cy="37789"/>
          </a:xfrm>
          <a:prstGeom prst="ellipse">
            <a:avLst/>
          </a:prstGeom>
          <a:solidFill>
            <a:srgbClr val="D4A017">
              <a:alpha val="54000"/>
            </a:srgbClr>
          </a:solidFill>
          <a:ln/>
        </p:spPr>
      </p:sp>
      <p:sp>
        <p:nvSpPr>
          <p:cNvPr id="22" name="Shape 20"/>
          <p:cNvSpPr/>
          <p:nvPr/>
        </p:nvSpPr>
        <p:spPr>
          <a:xfrm>
            <a:off x="1628316" y="1744885"/>
            <a:ext cx="38815" cy="38815"/>
          </a:xfrm>
          <a:prstGeom prst="ellipse">
            <a:avLst/>
          </a:prstGeom>
          <a:solidFill>
            <a:srgbClr val="D4A017">
              <a:alpha val="55000"/>
            </a:srgbClr>
          </a:solidFill>
          <a:ln/>
        </p:spPr>
      </p:sp>
      <p:sp>
        <p:nvSpPr>
          <p:cNvPr id="23" name="Shape 21"/>
          <p:cNvSpPr/>
          <p:nvPr/>
        </p:nvSpPr>
        <p:spPr>
          <a:xfrm>
            <a:off x="1406961" y="1901787"/>
            <a:ext cx="39842" cy="39842"/>
          </a:xfrm>
          <a:prstGeom prst="ellipse">
            <a:avLst/>
          </a:prstGeom>
          <a:solidFill>
            <a:srgbClr val="D4A017">
              <a:alpha val="57000"/>
            </a:srgbClr>
          </a:solidFill>
          <a:ln/>
        </p:spPr>
      </p:sp>
      <p:sp>
        <p:nvSpPr>
          <p:cNvPr id="24" name="Shape 22"/>
          <p:cNvSpPr/>
          <p:nvPr/>
        </p:nvSpPr>
        <p:spPr>
          <a:xfrm>
            <a:off x="1132159" y="1972707"/>
            <a:ext cx="40868" cy="40868"/>
          </a:xfrm>
          <a:prstGeom prst="ellipse">
            <a:avLst/>
          </a:prstGeom>
          <a:solidFill>
            <a:srgbClr val="D4A017">
              <a:alpha val="58000"/>
            </a:srgbClr>
          </a:solidFill>
          <a:ln/>
        </p:spPr>
      </p:sp>
      <p:sp>
        <p:nvSpPr>
          <p:cNvPr id="25" name="Shape 23"/>
          <p:cNvSpPr/>
          <p:nvPr/>
        </p:nvSpPr>
        <p:spPr>
          <a:xfrm>
            <a:off x="837728" y="1939951"/>
            <a:ext cx="41894" cy="41894"/>
          </a:xfrm>
          <a:prstGeom prst="ellipse">
            <a:avLst/>
          </a:prstGeom>
          <a:solidFill>
            <a:srgbClr val="D4A017">
              <a:alpha val="59000"/>
            </a:srgbClr>
          </a:solidFill>
          <a:ln/>
        </p:spPr>
      </p:sp>
      <p:sp>
        <p:nvSpPr>
          <p:cNvPr id="26" name="Shape 24"/>
          <p:cNvSpPr/>
          <p:nvPr/>
        </p:nvSpPr>
        <p:spPr>
          <a:xfrm>
            <a:off x="563078" y="1799184"/>
            <a:ext cx="42921" cy="42921"/>
          </a:xfrm>
          <a:prstGeom prst="ellipse">
            <a:avLst/>
          </a:prstGeom>
          <a:solidFill>
            <a:srgbClr val="D4A017">
              <a:alpha val="60000"/>
            </a:srgbClr>
          </a:solidFill>
          <a:ln/>
        </p:spPr>
      </p:sp>
      <p:sp>
        <p:nvSpPr>
          <p:cNvPr id="27" name="Shape 25"/>
          <p:cNvSpPr/>
          <p:nvPr/>
        </p:nvSpPr>
        <p:spPr>
          <a:xfrm>
            <a:off x="347944" y="1561061"/>
            <a:ext cx="43947" cy="43947"/>
          </a:xfrm>
          <a:prstGeom prst="ellipse">
            <a:avLst/>
          </a:prstGeom>
          <a:solidFill>
            <a:srgbClr val="D4A017">
              <a:alpha val="61000"/>
            </a:srgbClr>
          </a:solidFill>
          <a:ln/>
        </p:spPr>
      </p:sp>
      <p:sp>
        <p:nvSpPr>
          <p:cNvPr id="28" name="Shape 26"/>
          <p:cNvSpPr/>
          <p:nvPr/>
        </p:nvSpPr>
        <p:spPr>
          <a:xfrm>
            <a:off x="226706" y="1250792"/>
            <a:ext cx="44974" cy="44974"/>
          </a:xfrm>
          <a:prstGeom prst="ellipse">
            <a:avLst/>
          </a:prstGeom>
          <a:solidFill>
            <a:srgbClr val="D4A017">
              <a:alpha val="63000"/>
            </a:srgbClr>
          </a:solidFill>
          <a:ln/>
        </p:spPr>
      </p:sp>
      <p:sp>
        <p:nvSpPr>
          <p:cNvPr id="29" name="Shape 27"/>
          <p:cNvSpPr/>
          <p:nvPr/>
        </p:nvSpPr>
        <p:spPr>
          <a:xfrm>
            <a:off x="223111" y="905576"/>
            <a:ext cx="46000" cy="46000"/>
          </a:xfrm>
          <a:prstGeom prst="ellipse">
            <a:avLst/>
          </a:prstGeom>
          <a:solidFill>
            <a:srgbClr val="D4A017">
              <a:alpha val="64000"/>
            </a:srgbClr>
          </a:solidFill>
          <a:ln/>
        </p:spPr>
      </p:sp>
      <p:sp>
        <p:nvSpPr>
          <p:cNvPr id="30" name="Shape 28"/>
          <p:cNvSpPr/>
          <p:nvPr/>
        </p:nvSpPr>
        <p:spPr>
          <a:xfrm>
            <a:off x="346181" y="570150"/>
            <a:ext cx="47026" cy="47026"/>
          </a:xfrm>
          <a:prstGeom prst="ellipse">
            <a:avLst/>
          </a:prstGeom>
          <a:solidFill>
            <a:srgbClr val="D4A017">
              <a:alpha val="65000"/>
            </a:srgbClr>
          </a:solidFill>
          <a:ln/>
        </p:spPr>
      </p:sp>
      <p:sp>
        <p:nvSpPr>
          <p:cNvPr id="31" name="Shape 29"/>
          <p:cNvSpPr/>
          <p:nvPr/>
        </p:nvSpPr>
        <p:spPr>
          <a:xfrm>
            <a:off x="587963" y="290983"/>
            <a:ext cx="48053" cy="48053"/>
          </a:xfrm>
          <a:prstGeom prst="ellipse">
            <a:avLst/>
          </a:prstGeom>
          <a:solidFill>
            <a:srgbClr val="D4A017">
              <a:alpha val="66000"/>
            </a:srgbClr>
          </a:solidFill>
          <a:ln/>
        </p:spPr>
      </p:sp>
      <p:sp>
        <p:nvSpPr>
          <p:cNvPr id="32" name="Shape 30"/>
          <p:cNvSpPr/>
          <p:nvPr/>
        </p:nvSpPr>
        <p:spPr>
          <a:xfrm>
            <a:off x="923542" y="109876"/>
            <a:ext cx="49079" cy="49079"/>
          </a:xfrm>
          <a:prstGeom prst="ellipse">
            <a:avLst/>
          </a:prstGeom>
          <a:solidFill>
            <a:srgbClr val="D4A017">
              <a:alpha val="67000"/>
            </a:srgbClr>
          </a:solidFill>
          <a:ln/>
        </p:spPr>
      </p:sp>
      <p:sp>
        <p:nvSpPr>
          <p:cNvPr id="33" name="Shape 31"/>
          <p:cNvSpPr/>
          <p:nvPr/>
        </p:nvSpPr>
        <p:spPr>
          <a:xfrm>
            <a:off x="1313464" y="57826"/>
            <a:ext cx="50105" cy="50105"/>
          </a:xfrm>
          <a:prstGeom prst="ellipse">
            <a:avLst/>
          </a:prstGeom>
          <a:solidFill>
            <a:srgbClr val="D4A017">
              <a:alpha val="69000"/>
            </a:srgbClr>
          </a:solidFill>
          <a:ln/>
        </p:spPr>
      </p:sp>
      <p:sp>
        <p:nvSpPr>
          <p:cNvPr id="34" name="Shape 32"/>
          <p:cNvSpPr/>
          <p:nvPr/>
        </p:nvSpPr>
        <p:spPr>
          <a:xfrm>
            <a:off x="1708323" y="150060"/>
            <a:ext cx="51132" cy="51132"/>
          </a:xfrm>
          <a:prstGeom prst="ellipse">
            <a:avLst/>
          </a:prstGeom>
          <a:solidFill>
            <a:srgbClr val="D4A017">
              <a:alpha val="70000"/>
            </a:srgbClr>
          </a:solidFill>
          <a:ln/>
        </p:spPr>
      </p:sp>
      <p:sp>
        <p:nvSpPr>
          <p:cNvPr id="35" name="Shape 33"/>
          <p:cNvSpPr/>
          <p:nvPr/>
        </p:nvSpPr>
        <p:spPr>
          <a:xfrm>
            <a:off x="2055021" y="382992"/>
            <a:ext cx="52158" cy="52158"/>
          </a:xfrm>
          <a:prstGeom prst="ellipse">
            <a:avLst/>
          </a:prstGeom>
          <a:solidFill>
            <a:srgbClr val="D4A017">
              <a:alpha val="71000"/>
            </a:srgbClr>
          </a:solidFill>
          <a:ln/>
        </p:spPr>
      </p:sp>
      <p:sp>
        <p:nvSpPr>
          <p:cNvPr id="36" name="Shape 34"/>
          <p:cNvSpPr/>
          <p:nvPr/>
        </p:nvSpPr>
        <p:spPr>
          <a:xfrm>
            <a:off x="2303876" y="733622"/>
            <a:ext cx="53184" cy="53184"/>
          </a:xfrm>
          <a:prstGeom prst="ellipse">
            <a:avLst/>
          </a:prstGeom>
          <a:solidFill>
            <a:srgbClr val="D4A017">
              <a:alpha val="72000"/>
            </a:srgbClr>
          </a:solidFill>
          <a:ln/>
        </p:spPr>
      </p:sp>
      <p:sp>
        <p:nvSpPr>
          <p:cNvPr id="37" name="Shape 35"/>
          <p:cNvSpPr/>
          <p:nvPr/>
        </p:nvSpPr>
        <p:spPr>
          <a:xfrm>
            <a:off x="2415649" y="1161615"/>
            <a:ext cx="54211" cy="54211"/>
          </a:xfrm>
          <a:prstGeom prst="ellipse">
            <a:avLst/>
          </a:prstGeom>
          <a:solidFill>
            <a:srgbClr val="D4A017">
              <a:alpha val="73000"/>
            </a:srgbClr>
          </a:solidFill>
          <a:ln/>
        </p:spPr>
      </p:sp>
      <p:sp>
        <p:nvSpPr>
          <p:cNvPr id="38" name="Shape 36"/>
          <p:cNvSpPr/>
          <p:nvPr/>
        </p:nvSpPr>
        <p:spPr>
          <a:xfrm>
            <a:off x="2367494" y="1613868"/>
            <a:ext cx="55237" cy="55237"/>
          </a:xfrm>
          <a:prstGeom prst="ellipse">
            <a:avLst/>
          </a:prstGeom>
          <a:solidFill>
            <a:srgbClr val="D4A017">
              <a:alpha val="74000"/>
            </a:srgbClr>
          </a:solidFill>
          <a:ln/>
        </p:spPr>
      </p:sp>
      <p:sp>
        <p:nvSpPr>
          <p:cNvPr id="39" name="Shape 37"/>
          <p:cNvSpPr/>
          <p:nvPr/>
        </p:nvSpPr>
        <p:spPr>
          <a:xfrm>
            <a:off x="2156963" y="2031094"/>
            <a:ext cx="56264" cy="56264"/>
          </a:xfrm>
          <a:prstGeom prst="ellipse">
            <a:avLst/>
          </a:prstGeom>
          <a:solidFill>
            <a:srgbClr val="D4A017">
              <a:alpha val="76000"/>
            </a:srgbClr>
          </a:solidFill>
          <a:ln/>
        </p:spPr>
      </p:sp>
      <p:sp>
        <p:nvSpPr>
          <p:cNvPr id="40" name="Shape 38"/>
          <p:cNvSpPr/>
          <p:nvPr/>
        </p:nvSpPr>
        <p:spPr>
          <a:xfrm>
            <a:off x="1803401" y="2355575"/>
            <a:ext cx="57290" cy="57290"/>
          </a:xfrm>
          <a:prstGeom prst="ellipse">
            <a:avLst/>
          </a:prstGeom>
          <a:solidFill>
            <a:srgbClr val="D4A017">
              <a:alpha val="77000"/>
            </a:srgbClr>
          </a:solidFill>
          <a:ln/>
        </p:spPr>
      </p:sp>
      <p:sp>
        <p:nvSpPr>
          <p:cNvPr id="41" name="Shape 39"/>
          <p:cNvSpPr/>
          <p:nvPr/>
        </p:nvSpPr>
        <p:spPr>
          <a:xfrm>
            <a:off x="1346432" y="2539090"/>
            <a:ext cx="58316" cy="58316"/>
          </a:xfrm>
          <a:prstGeom prst="ellipse">
            <a:avLst/>
          </a:prstGeom>
          <a:solidFill>
            <a:srgbClr val="D4A017">
              <a:alpha val="78000"/>
            </a:srgbClr>
          </a:solidFill>
          <a:ln/>
        </p:spPr>
      </p:sp>
      <p:sp>
        <p:nvSpPr>
          <p:cNvPr id="42" name="Shape 40"/>
          <p:cNvSpPr/>
          <p:nvPr/>
        </p:nvSpPr>
        <p:spPr>
          <a:xfrm>
            <a:off x="841589" y="2549930"/>
            <a:ext cx="59343" cy="59343"/>
          </a:xfrm>
          <a:prstGeom prst="ellipse">
            <a:avLst/>
          </a:prstGeom>
          <a:solidFill>
            <a:srgbClr val="D4A017">
              <a:alpha val="79000"/>
            </a:srgbClr>
          </a:solidFill>
          <a:ln/>
        </p:spPr>
      </p:sp>
      <p:sp>
        <p:nvSpPr>
          <p:cNvPr id="43" name="Shape 41"/>
          <p:cNvSpPr/>
          <p:nvPr/>
        </p:nvSpPr>
        <p:spPr>
          <a:xfrm>
            <a:off x="353579" y="2377992"/>
            <a:ext cx="60369" cy="60369"/>
          </a:xfrm>
          <a:prstGeom prst="ellipse">
            <a:avLst/>
          </a:prstGeom>
          <a:solidFill>
            <a:srgbClr val="D4A017">
              <a:alpha val="80000"/>
            </a:srgbClr>
          </a:solidFill>
          <a:ln/>
        </p:spPr>
      </p:sp>
      <p:sp>
        <p:nvSpPr>
          <p:cNvPr id="44" name="Shape 42"/>
          <p:cNvSpPr/>
          <p:nvPr/>
        </p:nvSpPr>
        <p:spPr>
          <a:xfrm>
            <a:off x="-52022" y="2037171"/>
            <a:ext cx="61395" cy="61395"/>
          </a:xfrm>
          <a:prstGeom prst="ellipse">
            <a:avLst/>
          </a:prstGeom>
          <a:solidFill>
            <a:srgbClr val="D4A017">
              <a:alpha val="82000"/>
            </a:srgbClr>
          </a:solidFill>
          <a:ln/>
        </p:spPr>
      </p:sp>
      <p:sp>
        <p:nvSpPr>
          <p:cNvPr id="45" name="Shape 43"/>
          <p:cNvSpPr/>
          <p:nvPr/>
        </p:nvSpPr>
        <p:spPr>
          <a:xfrm>
            <a:off x="-317567" y="1564604"/>
            <a:ext cx="62422" cy="62422"/>
          </a:xfrm>
          <a:prstGeom prst="ellipse">
            <a:avLst/>
          </a:prstGeom>
          <a:solidFill>
            <a:srgbClr val="D4A017">
              <a:alpha val="83000"/>
            </a:srgbClr>
          </a:solidFill>
          <a:ln/>
        </p:spPr>
      </p:sp>
      <p:sp>
        <p:nvSpPr>
          <p:cNvPr id="46" name="Shape 44"/>
          <p:cNvSpPr/>
          <p:nvPr/>
        </p:nvSpPr>
        <p:spPr>
          <a:xfrm>
            <a:off x="-401449" y="1016733"/>
            <a:ext cx="63448" cy="63448"/>
          </a:xfrm>
          <a:prstGeom prst="ellipse">
            <a:avLst/>
          </a:prstGeom>
          <a:solidFill>
            <a:srgbClr val="D4A017">
              <a:alpha val="84000"/>
            </a:srgbClr>
          </a:solidFill>
          <a:ln/>
        </p:spPr>
      </p:sp>
      <p:sp>
        <p:nvSpPr>
          <p:cNvPr id="47" name="Shape 45"/>
          <p:cNvSpPr/>
          <p:nvPr/>
        </p:nvSpPr>
        <p:spPr>
          <a:xfrm>
            <a:off x="-284407" y="462587"/>
            <a:ext cx="64475" cy="64475"/>
          </a:xfrm>
          <a:prstGeom prst="ellipse">
            <a:avLst/>
          </a:prstGeom>
          <a:solidFill>
            <a:srgbClr val="D4A017">
              <a:alpha val="85000"/>
            </a:srgbClr>
          </a:solidFill>
          <a:ln/>
        </p:spPr>
      </p:sp>
      <p:sp>
        <p:nvSpPr>
          <p:cNvPr id="48" name="Shape 46"/>
          <p:cNvSpPr/>
          <p:nvPr/>
        </p:nvSpPr>
        <p:spPr>
          <a:xfrm>
            <a:off x="26918" y="-24926"/>
            <a:ext cx="65501" cy="65501"/>
          </a:xfrm>
          <a:prstGeom prst="ellipse">
            <a:avLst/>
          </a:prstGeom>
          <a:solidFill>
            <a:srgbClr val="D4A017">
              <a:alpha val="86000"/>
            </a:srgbClr>
          </a:solidFill>
          <a:ln/>
        </p:spPr>
      </p:sp>
      <p:sp>
        <p:nvSpPr>
          <p:cNvPr id="49" name="Shape 47"/>
          <p:cNvSpPr/>
          <p:nvPr/>
        </p:nvSpPr>
        <p:spPr>
          <a:xfrm>
            <a:off x="499767" y="-378604"/>
            <a:ext cx="66527" cy="66527"/>
          </a:xfrm>
          <a:prstGeom prst="ellipse">
            <a:avLst/>
          </a:prstGeom>
          <a:solidFill>
            <a:srgbClr val="D4A017">
              <a:alpha val="88000"/>
            </a:srgbClr>
          </a:solidFill>
          <a:ln/>
        </p:spPr>
      </p:sp>
      <p:sp>
        <p:nvSpPr>
          <p:cNvPr id="50" name="Shape 48"/>
          <p:cNvSpPr/>
          <p:nvPr/>
        </p:nvSpPr>
        <p:spPr>
          <a:xfrm>
            <a:off x="1078546" y="-546179"/>
            <a:ext cx="67554" cy="67554"/>
          </a:xfrm>
          <a:prstGeom prst="ellipse">
            <a:avLst/>
          </a:prstGeom>
          <a:solidFill>
            <a:srgbClr val="D4A017">
              <a:alpha val="89000"/>
            </a:srgbClr>
          </a:solidFill>
          <a:ln/>
        </p:spPr>
      </p:sp>
      <p:sp>
        <p:nvSpPr>
          <p:cNvPr id="51" name="Shape 49"/>
          <p:cNvSpPr/>
          <p:nvPr/>
        </p:nvSpPr>
        <p:spPr>
          <a:xfrm>
            <a:off x="1691304" y="-497898"/>
            <a:ext cx="68580" cy="68580"/>
          </a:xfrm>
          <a:prstGeom prst="ellipse">
            <a:avLst/>
          </a:prstGeom>
          <a:solidFill>
            <a:srgbClr val="D4A017">
              <a:alpha val="90000"/>
            </a:srgbClr>
          </a:solidFill>
          <a:ln/>
        </p:spPr>
      </p:sp>
      <p:sp>
        <p:nvSpPr>
          <p:cNvPr id="52" name="Shape 50"/>
          <p:cNvSpPr/>
          <p:nvPr/>
        </p:nvSpPr>
        <p:spPr>
          <a:xfrm>
            <a:off x="11219688" y="5843016"/>
            <a:ext cx="18288" cy="18288"/>
          </a:xfrm>
          <a:prstGeom prst="ellipse">
            <a:avLst/>
          </a:prstGeom>
          <a:solidFill>
            <a:srgbClr val="8F7FD1">
              <a:alpha val="21000"/>
            </a:srgbClr>
          </a:solidFill>
          <a:ln/>
        </p:spPr>
      </p:sp>
      <p:sp>
        <p:nvSpPr>
          <p:cNvPr id="53" name="Shape 51"/>
          <p:cNvSpPr/>
          <p:nvPr/>
        </p:nvSpPr>
        <p:spPr>
          <a:xfrm>
            <a:off x="11247155" y="5872432"/>
            <a:ext cx="19578" cy="19578"/>
          </a:xfrm>
          <a:prstGeom prst="ellipse">
            <a:avLst/>
          </a:prstGeom>
          <a:solidFill>
            <a:srgbClr val="8F7FD1">
              <a:alpha val="22000"/>
            </a:srgbClr>
          </a:solidFill>
          <a:ln/>
        </p:spPr>
      </p:sp>
      <p:sp>
        <p:nvSpPr>
          <p:cNvPr id="54" name="Shape 52"/>
          <p:cNvSpPr/>
          <p:nvPr/>
        </p:nvSpPr>
        <p:spPr>
          <a:xfrm>
            <a:off x="11254052" y="5921157"/>
            <a:ext cx="20867" cy="20867"/>
          </a:xfrm>
          <a:prstGeom prst="ellipse">
            <a:avLst/>
          </a:prstGeom>
          <a:solidFill>
            <a:srgbClr val="8F7FD1">
              <a:alpha val="23000"/>
            </a:srgbClr>
          </a:solidFill>
          <a:ln/>
        </p:spPr>
      </p:sp>
      <p:sp>
        <p:nvSpPr>
          <p:cNvPr id="55" name="Shape 53"/>
          <p:cNvSpPr/>
          <p:nvPr/>
        </p:nvSpPr>
        <p:spPr>
          <a:xfrm>
            <a:off x="11231024" y="5976502"/>
            <a:ext cx="22157" cy="22157"/>
          </a:xfrm>
          <a:prstGeom prst="ellipse">
            <a:avLst/>
          </a:prstGeom>
          <a:solidFill>
            <a:srgbClr val="8F7FD1">
              <a:alpha val="24000"/>
            </a:srgbClr>
          </a:solidFill>
          <a:ln/>
        </p:spPr>
      </p:sp>
      <p:sp>
        <p:nvSpPr>
          <p:cNvPr id="56" name="Shape 54"/>
          <p:cNvSpPr/>
          <p:nvPr/>
        </p:nvSpPr>
        <p:spPr>
          <a:xfrm>
            <a:off x="11175780" y="6022092"/>
            <a:ext cx="23446" cy="23446"/>
          </a:xfrm>
          <a:prstGeom prst="ellipse">
            <a:avLst/>
          </a:prstGeom>
          <a:solidFill>
            <a:srgbClr val="8F7FD1">
              <a:alpha val="25000"/>
            </a:srgbClr>
          </a:solidFill>
          <a:ln/>
        </p:spPr>
      </p:sp>
      <p:sp>
        <p:nvSpPr>
          <p:cNvPr id="57" name="Shape 55"/>
          <p:cNvSpPr/>
          <p:nvPr/>
        </p:nvSpPr>
        <p:spPr>
          <a:xfrm>
            <a:off x="11094254" y="6041479"/>
            <a:ext cx="24736" cy="24736"/>
          </a:xfrm>
          <a:prstGeom prst="ellipse">
            <a:avLst/>
          </a:prstGeom>
          <a:solidFill>
            <a:srgbClr val="8F7FD1">
              <a:alpha val="26000"/>
            </a:srgbClr>
          </a:solidFill>
          <a:ln/>
        </p:spPr>
      </p:sp>
      <p:sp>
        <p:nvSpPr>
          <p:cNvPr id="58" name="Shape 56"/>
          <p:cNvSpPr/>
          <p:nvPr/>
        </p:nvSpPr>
        <p:spPr>
          <a:xfrm>
            <a:off x="11000049" y="6021996"/>
            <a:ext cx="26025" cy="26025"/>
          </a:xfrm>
          <a:prstGeom prst="ellipse">
            <a:avLst/>
          </a:prstGeom>
          <a:solidFill>
            <a:srgbClr val="8F7FD1">
              <a:alpha val="27000"/>
            </a:srgbClr>
          </a:solidFill>
          <a:ln/>
        </p:spPr>
      </p:sp>
      <p:sp>
        <p:nvSpPr>
          <p:cNvPr id="59" name="Shape 57"/>
          <p:cNvSpPr/>
          <p:nvPr/>
        </p:nvSpPr>
        <p:spPr>
          <a:xfrm>
            <a:off x="10912176" y="5958053"/>
            <a:ext cx="27315" cy="27315"/>
          </a:xfrm>
          <a:prstGeom prst="ellipse">
            <a:avLst/>
          </a:prstGeom>
          <a:solidFill>
            <a:srgbClr val="8F7FD1">
              <a:alpha val="28000"/>
            </a:srgbClr>
          </a:solidFill>
          <a:ln/>
        </p:spPr>
      </p:sp>
      <p:sp>
        <p:nvSpPr>
          <p:cNvPr id="60" name="Shape 58"/>
          <p:cNvSpPr/>
          <p:nvPr/>
        </p:nvSpPr>
        <p:spPr>
          <a:xfrm>
            <a:off x="10851485" y="5853207"/>
            <a:ext cx="28604" cy="28604"/>
          </a:xfrm>
          <a:prstGeom prst="ellipse">
            <a:avLst/>
          </a:prstGeom>
          <a:solidFill>
            <a:srgbClr val="8F7FD1">
              <a:alpha val="29000"/>
            </a:srgbClr>
          </a:solidFill>
          <a:ln/>
        </p:spPr>
      </p:sp>
      <p:sp>
        <p:nvSpPr>
          <p:cNvPr id="61" name="Shape 59"/>
          <p:cNvSpPr/>
          <p:nvPr/>
        </p:nvSpPr>
        <p:spPr>
          <a:xfrm>
            <a:off x="10836410" y="5720484"/>
            <a:ext cx="29894" cy="29894"/>
          </a:xfrm>
          <a:prstGeom prst="ellipse">
            <a:avLst/>
          </a:prstGeom>
          <a:solidFill>
            <a:srgbClr val="8F7FD1">
              <a:alpha val="30000"/>
            </a:srgbClr>
          </a:solidFill>
          <a:ln/>
        </p:spPr>
      </p:sp>
      <p:sp>
        <p:nvSpPr>
          <p:cNvPr id="62" name="Shape 60"/>
          <p:cNvSpPr/>
          <p:nvPr/>
        </p:nvSpPr>
        <p:spPr>
          <a:xfrm>
            <a:off x="10878828" y="5580809"/>
            <a:ext cx="31183" cy="31183"/>
          </a:xfrm>
          <a:prstGeom prst="ellipse">
            <a:avLst/>
          </a:prstGeom>
          <a:solidFill>
            <a:srgbClr val="8F7FD1">
              <a:alpha val="31000"/>
            </a:srgbClr>
          </a:solidFill>
          <a:ln/>
        </p:spPr>
      </p:sp>
      <p:sp>
        <p:nvSpPr>
          <p:cNvPr id="63" name="Shape 61"/>
          <p:cNvSpPr/>
          <p:nvPr/>
        </p:nvSpPr>
        <p:spPr>
          <a:xfrm>
            <a:off x="10980874" y="5459706"/>
            <a:ext cx="32473" cy="32473"/>
          </a:xfrm>
          <a:prstGeom prst="ellipse">
            <a:avLst/>
          </a:prstGeom>
          <a:solidFill>
            <a:srgbClr val="8F7FD1">
              <a:alpha val="32000"/>
            </a:srgbClr>
          </a:solidFill>
          <a:ln/>
        </p:spPr>
      </p:sp>
      <p:sp>
        <p:nvSpPr>
          <p:cNvPr id="64" name="Shape 62"/>
          <p:cNvSpPr/>
          <p:nvPr/>
        </p:nvSpPr>
        <p:spPr>
          <a:xfrm>
            <a:off x="11133368" y="5382787"/>
            <a:ext cx="33762" cy="33762"/>
          </a:xfrm>
          <a:prstGeom prst="ellipse">
            <a:avLst/>
          </a:prstGeom>
          <a:solidFill>
            <a:srgbClr val="8F7FD1">
              <a:alpha val="33000"/>
            </a:srgbClr>
          </a:solidFill>
          <a:ln/>
        </p:spPr>
      </p:sp>
      <p:sp>
        <p:nvSpPr>
          <p:cNvPr id="65" name="Shape 63"/>
          <p:cNvSpPr/>
          <p:nvPr/>
        </p:nvSpPr>
        <p:spPr>
          <a:xfrm>
            <a:off x="11316287" y="5370823"/>
            <a:ext cx="35052" cy="35052"/>
          </a:xfrm>
          <a:prstGeom prst="ellipse">
            <a:avLst/>
          </a:prstGeom>
          <a:solidFill>
            <a:srgbClr val="8F7FD1">
              <a:alpha val="34000"/>
            </a:srgbClr>
          </a:solidFill>
          <a:ln/>
        </p:spPr>
      </p:sp>
      <p:sp>
        <p:nvSpPr>
          <p:cNvPr id="66" name="Shape 64"/>
          <p:cNvSpPr/>
          <p:nvPr/>
        </p:nvSpPr>
        <p:spPr>
          <a:xfrm>
            <a:off x="11501341" y="5435263"/>
            <a:ext cx="36342" cy="36342"/>
          </a:xfrm>
          <a:prstGeom prst="ellipse">
            <a:avLst/>
          </a:prstGeom>
          <a:solidFill>
            <a:srgbClr val="8F7FD1">
              <a:alpha val="35000"/>
            </a:srgbClr>
          </a:solidFill>
          <a:ln/>
        </p:spPr>
      </p:sp>
      <p:sp>
        <p:nvSpPr>
          <p:cNvPr id="67" name="Shape 65"/>
          <p:cNvSpPr/>
          <p:nvPr/>
        </p:nvSpPr>
        <p:spPr>
          <a:xfrm>
            <a:off x="11656321" y="5575110"/>
            <a:ext cx="37631" cy="37631"/>
          </a:xfrm>
          <a:prstGeom prst="ellipse">
            <a:avLst/>
          </a:prstGeom>
          <a:solidFill>
            <a:srgbClr val="8F7FD1">
              <a:alpha val="36000"/>
            </a:srgbClr>
          </a:solidFill>
          <a:ln/>
        </p:spPr>
      </p:sp>
      <p:sp>
        <p:nvSpPr>
          <p:cNvPr id="68" name="Shape 66"/>
          <p:cNvSpPr/>
          <p:nvPr/>
        </p:nvSpPr>
        <p:spPr>
          <a:xfrm>
            <a:off x="11750570" y="5775788"/>
            <a:ext cx="38921" cy="38921"/>
          </a:xfrm>
          <a:prstGeom prst="ellipse">
            <a:avLst/>
          </a:prstGeom>
          <a:solidFill>
            <a:srgbClr val="8F7FD1">
              <a:alpha val="37000"/>
            </a:srgbClr>
          </a:solidFill>
          <a:ln/>
        </p:spPr>
      </p:sp>
      <p:sp>
        <p:nvSpPr>
          <p:cNvPr id="69" name="Shape 67"/>
          <p:cNvSpPr/>
          <p:nvPr/>
        </p:nvSpPr>
        <p:spPr>
          <a:xfrm>
            <a:off x="11760634" y="6010390"/>
            <a:ext cx="40210" cy="40210"/>
          </a:xfrm>
          <a:prstGeom prst="ellipse">
            <a:avLst/>
          </a:prstGeom>
          <a:solidFill>
            <a:srgbClr val="8F7FD1">
              <a:alpha val="38000"/>
            </a:srgbClr>
          </a:solidFill>
          <a:ln/>
        </p:spPr>
      </p:sp>
      <p:sp>
        <p:nvSpPr>
          <p:cNvPr id="70" name="Shape 68"/>
          <p:cNvSpPr/>
          <p:nvPr/>
        </p:nvSpPr>
        <p:spPr>
          <a:xfrm>
            <a:off x="11675126" y="6243230"/>
            <a:ext cx="41500" cy="41500"/>
          </a:xfrm>
          <a:prstGeom prst="ellipse">
            <a:avLst/>
          </a:prstGeom>
          <a:solidFill>
            <a:srgbClr val="8F7FD1">
              <a:alpha val="39000"/>
            </a:srgbClr>
          </a:solidFill>
          <a:ln/>
        </p:spPr>
      </p:sp>
      <p:sp>
        <p:nvSpPr>
          <p:cNvPr id="71" name="Shape 69"/>
          <p:cNvSpPr/>
          <p:nvPr/>
        </p:nvSpPr>
        <p:spPr>
          <a:xfrm>
            <a:off x="11497853" y="6435255"/>
            <a:ext cx="42789" cy="42789"/>
          </a:xfrm>
          <a:prstGeom prst="ellipse">
            <a:avLst/>
          </a:prstGeom>
          <a:solidFill>
            <a:srgbClr val="8F7FD1">
              <a:alpha val="40000"/>
            </a:srgbClr>
          </a:solidFill>
          <a:ln/>
        </p:spPr>
      </p:sp>
      <p:sp>
        <p:nvSpPr>
          <p:cNvPr id="72" name="Shape 70"/>
          <p:cNvSpPr/>
          <p:nvPr/>
        </p:nvSpPr>
        <p:spPr>
          <a:xfrm>
            <a:off x="11248541" y="6550488"/>
            <a:ext cx="44079" cy="44079"/>
          </a:xfrm>
          <a:prstGeom prst="ellipse">
            <a:avLst/>
          </a:prstGeom>
          <a:solidFill>
            <a:srgbClr val="8F7FD1">
              <a:alpha val="41000"/>
            </a:srgbClr>
          </a:solidFill>
          <a:ln/>
        </p:spPr>
      </p:sp>
      <p:sp>
        <p:nvSpPr>
          <p:cNvPr id="73" name="Shape 71"/>
          <p:cNvSpPr/>
          <p:nvPr/>
        </p:nvSpPr>
        <p:spPr>
          <a:xfrm>
            <a:off x="10960861" y="6562449"/>
            <a:ext cx="45368" cy="45368"/>
          </a:xfrm>
          <a:prstGeom prst="ellipse">
            <a:avLst/>
          </a:prstGeom>
          <a:solidFill>
            <a:srgbClr val="8F7FD1">
              <a:alpha val="42000"/>
            </a:srgbClr>
          </a:solidFill>
          <a:ln/>
        </p:spPr>
      </p:sp>
      <p:sp>
        <p:nvSpPr>
          <p:cNvPr id="74" name="Shape 72"/>
          <p:cNvSpPr/>
          <p:nvPr/>
        </p:nvSpPr>
        <p:spPr>
          <a:xfrm>
            <a:off x="10677907" y="6459449"/>
            <a:ext cx="46658" cy="46658"/>
          </a:xfrm>
          <a:prstGeom prst="ellipse">
            <a:avLst/>
          </a:prstGeom>
          <a:solidFill>
            <a:srgbClr val="8F7FD1">
              <a:alpha val="43000"/>
            </a:srgbClr>
          </a:solidFill>
          <a:ln/>
        </p:spPr>
      </p:sp>
      <p:sp>
        <p:nvSpPr>
          <p:cNvPr id="75" name="Shape 73"/>
          <p:cNvSpPr/>
          <p:nvPr/>
        </p:nvSpPr>
        <p:spPr>
          <a:xfrm>
            <a:off x="10445730" y="6247771"/>
            <a:ext cx="47947" cy="47947"/>
          </a:xfrm>
          <a:prstGeom prst="ellipse">
            <a:avLst/>
          </a:prstGeom>
          <a:solidFill>
            <a:srgbClr val="8F7FD1">
              <a:alpha val="44000"/>
            </a:srgbClr>
          </a:solidFill>
          <a:ln/>
        </p:spPr>
      </p:sp>
      <p:sp>
        <p:nvSpPr>
          <p:cNvPr id="76" name="Shape 74"/>
          <p:cNvSpPr/>
          <p:nvPr/>
        </p:nvSpPr>
        <p:spPr>
          <a:xfrm>
            <a:off x="10305889" y="5952040"/>
            <a:ext cx="49237" cy="49237"/>
          </a:xfrm>
          <a:prstGeom prst="ellipse">
            <a:avLst/>
          </a:prstGeom>
          <a:solidFill>
            <a:srgbClr val="8F7FD1">
              <a:alpha val="45000"/>
            </a:srgbClr>
          </a:solidFill>
          <a:ln/>
        </p:spPr>
      </p:sp>
      <p:sp>
        <p:nvSpPr>
          <p:cNvPr id="77" name="Shape 75"/>
          <p:cNvSpPr/>
          <p:nvPr/>
        </p:nvSpPr>
        <p:spPr>
          <a:xfrm>
            <a:off x="10288231" y="5612555"/>
            <a:ext cx="50526" cy="50526"/>
          </a:xfrm>
          <a:prstGeom prst="ellipse">
            <a:avLst/>
          </a:prstGeom>
          <a:solidFill>
            <a:srgbClr val="8F7FD1">
              <a:alpha val="46000"/>
            </a:srgbClr>
          </a:solidFill>
          <a:ln/>
        </p:spPr>
      </p:sp>
      <p:sp>
        <p:nvSpPr>
          <p:cNvPr id="78" name="Shape 76"/>
          <p:cNvSpPr/>
          <p:nvPr/>
        </p:nvSpPr>
        <p:spPr>
          <a:xfrm>
            <a:off x="10405109" y="5279823"/>
            <a:ext cx="51816" cy="51816"/>
          </a:xfrm>
          <a:prstGeom prst="ellipse">
            <a:avLst/>
          </a:prstGeom>
          <a:solidFill>
            <a:srgbClr val="8F7FD1">
              <a:alpha val="47000"/>
            </a:srgbClr>
          </a:solidFill>
          <a:ln/>
        </p:spPr>
      </p:sp>
      <p:sp>
        <p:nvSpPr>
          <p:cNvPr id="79" name="Shape 77"/>
          <p:cNvSpPr/>
          <p:nvPr/>
        </p:nvSpPr>
        <p:spPr>
          <a:xfrm>
            <a:off x="10648106" y="5007029"/>
            <a:ext cx="53106" cy="53106"/>
          </a:xfrm>
          <a:prstGeom prst="ellipse">
            <a:avLst/>
          </a:prstGeom>
          <a:solidFill>
            <a:srgbClr val="8F7FD1">
              <a:alpha val="48000"/>
            </a:srgbClr>
          </a:solidFill>
          <a:ln/>
        </p:spPr>
      </p:sp>
      <p:sp>
        <p:nvSpPr>
          <p:cNvPr id="80" name="Shape 78"/>
          <p:cNvSpPr/>
          <p:nvPr/>
        </p:nvSpPr>
        <p:spPr>
          <a:xfrm>
            <a:off x="10987956" y="4841569"/>
            <a:ext cx="54395" cy="54395"/>
          </a:xfrm>
          <a:prstGeom prst="ellipse">
            <a:avLst/>
          </a:prstGeom>
          <a:solidFill>
            <a:srgbClr val="8F7FD1">
              <a:alpha val="49000"/>
            </a:srgbClr>
          </a:solidFill>
          <a:ln/>
        </p:spPr>
      </p:sp>
      <p:sp>
        <p:nvSpPr>
          <p:cNvPr id="81" name="Shape 79"/>
          <p:cNvSpPr/>
          <p:nvPr/>
        </p:nvSpPr>
        <p:spPr>
          <a:xfrm>
            <a:off x="11377879" y="4816991"/>
            <a:ext cx="55685" cy="55685"/>
          </a:xfrm>
          <a:prstGeom prst="ellipse">
            <a:avLst/>
          </a:prstGeom>
          <a:solidFill>
            <a:srgbClr val="8F7FD1">
              <a:alpha val="50000"/>
            </a:srgbClr>
          </a:solidFill>
          <a:ln/>
        </p:spPr>
      </p:sp>
      <p:sp>
        <p:nvSpPr>
          <p:cNvPr id="82" name="Shape 80"/>
          <p:cNvSpPr/>
          <p:nvPr/>
        </p:nvSpPr>
        <p:spPr>
          <a:xfrm>
            <a:off x="11759970" y="4946679"/>
            <a:ext cx="56974" cy="56974"/>
          </a:xfrm>
          <a:prstGeom prst="ellipse">
            <a:avLst/>
          </a:prstGeom>
          <a:solidFill>
            <a:srgbClr val="8F7FD1">
              <a:alpha val="51000"/>
            </a:srgbClr>
          </a:solidFill>
          <a:ln/>
        </p:spPr>
      </p:sp>
      <p:sp>
        <p:nvSpPr>
          <p:cNvPr id="83" name="Shape 81"/>
          <p:cNvSpPr/>
          <p:nvPr/>
        </p:nvSpPr>
        <p:spPr>
          <a:xfrm>
            <a:off x="12073783" y="5220420"/>
            <a:ext cx="58264" cy="58264"/>
          </a:xfrm>
          <a:prstGeom prst="ellipse">
            <a:avLst/>
          </a:prstGeom>
          <a:solidFill>
            <a:srgbClr val="8F7FD1">
              <a:alpha val="52000"/>
            </a:srgbClr>
          </a:solidFill>
          <a:ln/>
        </p:spPr>
      </p:sp>
      <p:sp>
        <p:nvSpPr>
          <p:cNvPr id="84" name="Shape 82"/>
          <p:cNvSpPr/>
          <p:nvPr/>
        </p:nvSpPr>
        <p:spPr>
          <a:xfrm>
            <a:off x="12265838" y="5604584"/>
            <a:ext cx="59553" cy="59553"/>
          </a:xfrm>
          <a:prstGeom prst="ellipse">
            <a:avLst/>
          </a:prstGeom>
          <a:solidFill>
            <a:srgbClr val="8F7FD1">
              <a:alpha val="53000"/>
            </a:srgbClr>
          </a:solidFill>
          <a:ln/>
        </p:spPr>
      </p:sp>
      <p:sp>
        <p:nvSpPr>
          <p:cNvPr id="85" name="Shape 83"/>
          <p:cNvSpPr/>
          <p:nvPr/>
        </p:nvSpPr>
        <p:spPr>
          <a:xfrm>
            <a:off x="12298556" y="6046069"/>
            <a:ext cx="60843" cy="60843"/>
          </a:xfrm>
          <a:prstGeom prst="ellipse">
            <a:avLst/>
          </a:prstGeom>
          <a:solidFill>
            <a:srgbClr val="8F7FD1">
              <a:alpha val="54000"/>
            </a:srgbClr>
          </a:solidFill>
          <a:ln/>
        </p:spPr>
      </p:sp>
      <p:sp>
        <p:nvSpPr>
          <p:cNvPr id="86" name="Shape 84"/>
          <p:cNvSpPr/>
          <p:nvPr/>
        </p:nvSpPr>
        <p:spPr>
          <a:xfrm>
            <a:off x="12157161" y="6479594"/>
            <a:ext cx="62132" cy="62132"/>
          </a:xfrm>
          <a:prstGeom prst="ellipse">
            <a:avLst/>
          </a:prstGeom>
          <a:solidFill>
            <a:srgbClr val="8F7FD1">
              <a:alpha val="55000"/>
            </a:srgbClr>
          </a:solidFill>
          <a:ln/>
        </p:spPr>
      </p:sp>
      <p:sp>
        <p:nvSpPr>
          <p:cNvPr id="87" name="Shape 85"/>
          <p:cNvSpPr/>
          <p:nvPr/>
        </p:nvSpPr>
        <p:spPr>
          <a:xfrm>
            <a:off x="11853309" y="6837338"/>
            <a:ext cx="63422" cy="63422"/>
          </a:xfrm>
          <a:prstGeom prst="ellipse">
            <a:avLst/>
          </a:prstGeom>
          <a:solidFill>
            <a:srgbClr val="8F7FD1">
              <a:alpha val="56000"/>
            </a:srgbClr>
          </a:solidFill>
          <a:ln/>
        </p:spPr>
      </p:sp>
      <p:sp>
        <p:nvSpPr>
          <p:cNvPr id="88" name="Shape 86"/>
          <p:cNvSpPr/>
          <p:nvPr/>
        </p:nvSpPr>
        <p:spPr>
          <a:xfrm>
            <a:off x="11424718" y="7059503"/>
            <a:ext cx="64711" cy="64711"/>
          </a:xfrm>
          <a:prstGeom prst="ellipse">
            <a:avLst/>
          </a:prstGeom>
          <a:solidFill>
            <a:srgbClr val="8F7FD1">
              <a:alpha val="57000"/>
            </a:srgbClr>
          </a:solidFill>
          <a:ln/>
        </p:spPr>
      </p:sp>
      <p:sp>
        <p:nvSpPr>
          <p:cNvPr id="89" name="Shape 87"/>
          <p:cNvSpPr/>
          <p:nvPr/>
        </p:nvSpPr>
        <p:spPr>
          <a:xfrm>
            <a:off x="10930640" y="7104158"/>
            <a:ext cx="66001" cy="66001"/>
          </a:xfrm>
          <a:prstGeom prst="ellipse">
            <a:avLst/>
          </a:prstGeom>
          <a:solidFill>
            <a:srgbClr val="8F7FD1">
              <a:alpha val="58000"/>
            </a:srgbClr>
          </a:solidFill>
          <a:ln/>
        </p:spPr>
      </p:sp>
      <p:sp>
        <p:nvSpPr>
          <p:cNvPr id="90" name="Shape 88"/>
          <p:cNvSpPr/>
          <p:nvPr/>
        </p:nvSpPr>
        <p:spPr>
          <a:xfrm>
            <a:off x="10443694" y="6954766"/>
            <a:ext cx="67290" cy="67290"/>
          </a:xfrm>
          <a:prstGeom prst="ellipse">
            <a:avLst/>
          </a:prstGeom>
          <a:solidFill>
            <a:srgbClr val="8F7FD1">
              <a:alpha val="59000"/>
            </a:srgbClr>
          </a:solidFill>
          <a:ln/>
        </p:spPr>
      </p:sp>
      <p:sp>
        <p:nvSpPr>
          <p:cNvPr id="91" name="Shape 89"/>
          <p:cNvSpPr/>
          <p:nvPr/>
        </p:nvSpPr>
        <p:spPr>
          <a:xfrm>
            <a:off x="10039174" y="6624076"/>
            <a:ext cx="68580" cy="68580"/>
          </a:xfrm>
          <a:prstGeom prst="ellipse">
            <a:avLst/>
          </a:prstGeom>
          <a:solidFill>
            <a:srgbClr val="8F7FD1">
              <a:alpha val="60000"/>
            </a:srgbClr>
          </a:solidFill>
          <a:ln/>
        </p:spPr>
      </p:sp>
      <p:sp>
        <p:nvSpPr>
          <p:cNvPr id="92" name="Text 90"/>
          <p:cNvSpPr/>
          <p:nvPr/>
        </p:nvSpPr>
        <p:spPr>
          <a:xfrm>
            <a:off x="822960" y="1417320"/>
            <a:ext cx="7315200" cy="365760"/>
          </a:xfrm>
          <a:prstGeom prst="rect">
            <a:avLst/>
          </a:prstGeom>
          <a:noFill/>
          <a:ln/>
        </p:spPr>
        <p:txBody>
          <a:bodyPr wrap="square" rtlCol="0" anchor="ctr"/>
          <a:lstStyle/>
          <a:p>
            <a:pPr indent="0" marL="0">
              <a:buNone/>
            </a:pPr>
            <a:r>
              <a:rPr lang="en-US" sz="1300" b="1" spc="300" kern="0" dirty="0">
                <a:solidFill>
                  <a:srgbClr val="D4A017"/>
                </a:solidFill>
                <a:latin typeface="Calibri" pitchFamily="34" charset="0"/>
                <a:ea typeface="Calibri" pitchFamily="34" charset="-122"/>
                <a:cs typeface="Calibri" pitchFamily="34" charset="-120"/>
              </a:rPr>
              <a:t>MINI PROJECT PRESENTATION</a:t>
            </a:r>
            <a:endParaRPr lang="en-US" sz="1300" dirty="0"/>
          </a:p>
        </p:txBody>
      </p:sp>
      <p:sp>
        <p:nvSpPr>
          <p:cNvPr id="93" name="Text 91"/>
          <p:cNvSpPr/>
          <p:nvPr/>
        </p:nvSpPr>
        <p:spPr>
          <a:xfrm>
            <a:off x="822960" y="1874520"/>
            <a:ext cx="9875520" cy="2011680"/>
          </a:xfrm>
          <a:prstGeom prst="rect">
            <a:avLst/>
          </a:prstGeom>
          <a:noFill/>
          <a:ln/>
        </p:spPr>
        <p:txBody>
          <a:bodyPr wrap="square" rtlCol="0" anchor="ctr"/>
          <a:lstStyle/>
          <a:p>
            <a:pPr indent="0" marL="0">
              <a:lnSpc>
                <a:spcPct val="108000"/>
              </a:lnSpc>
              <a:buNone/>
            </a:pPr>
            <a:r>
              <a:rPr lang="en-US" sz="4400" b="1" dirty="0">
                <a:solidFill>
                  <a:srgbClr val="FFFFFF"/>
                </a:solidFill>
                <a:latin typeface="Cambria" pitchFamily="34" charset="0"/>
                <a:ea typeface="Cambria" pitchFamily="34" charset="-122"/>
                <a:cs typeface="Cambria" pitchFamily="34" charset="-120"/>
              </a:rPr>
              <a:t>Lyrics Similarity Detection</a:t>
            </a:r>
            <a:endParaRPr lang="en-US" sz="4400" dirty="0"/>
          </a:p>
          <a:p>
            <a:pPr indent="0" marL="0">
              <a:lnSpc>
                <a:spcPct val="108000"/>
              </a:lnSpc>
              <a:buNone/>
            </a:pPr>
            <a:r>
              <a:rPr lang="en-US" sz="4400" b="1" dirty="0">
                <a:solidFill>
                  <a:srgbClr val="FFFFFF"/>
                </a:solidFill>
                <a:latin typeface="Cambria" pitchFamily="34" charset="0"/>
                <a:ea typeface="Cambria" pitchFamily="34" charset="-122"/>
                <a:cs typeface="Cambria" pitchFamily="34" charset="-120"/>
              </a:rPr>
              <a:t>Using String Matching</a:t>
            </a:r>
            <a:endParaRPr lang="en-US" sz="4400" dirty="0"/>
          </a:p>
        </p:txBody>
      </p:sp>
      <p:sp>
        <p:nvSpPr>
          <p:cNvPr id="94" name="Text 92"/>
          <p:cNvSpPr/>
          <p:nvPr/>
        </p:nvSpPr>
        <p:spPr>
          <a:xfrm>
            <a:off x="822960" y="3794760"/>
            <a:ext cx="7863840" cy="731520"/>
          </a:xfrm>
          <a:prstGeom prst="rect">
            <a:avLst/>
          </a:prstGeom>
          <a:noFill/>
          <a:ln/>
        </p:spPr>
        <p:txBody>
          <a:bodyPr wrap="square" rtlCol="0" anchor="ctr"/>
          <a:lstStyle/>
          <a:p>
            <a:pPr indent="0" marL="0">
              <a:buNone/>
            </a:pPr>
            <a:r>
              <a:rPr lang="en-US" sz="1500" i="1" dirty="0">
                <a:solidFill>
                  <a:srgbClr val="CFC7EE"/>
                </a:solidFill>
                <a:latin typeface="Calibri" pitchFamily="34" charset="0"/>
                <a:ea typeface="Calibri" pitchFamily="34" charset="-122"/>
                <a:cs typeface="Calibri" pitchFamily="34" charset="-120"/>
              </a:rPr>
              <a:t>A KMP-based engine for comparing song lyrics, scoring similarity, and flagging potential plagiarism.</a:t>
            </a:r>
            <a:endParaRPr lang="en-US" sz="1500" dirty="0"/>
          </a:p>
        </p:txBody>
      </p:sp>
      <p:sp>
        <p:nvSpPr>
          <p:cNvPr id="95" name="Shape 93"/>
          <p:cNvSpPr/>
          <p:nvPr/>
        </p:nvSpPr>
        <p:spPr>
          <a:xfrm>
            <a:off x="822960" y="4892040"/>
            <a:ext cx="3840480" cy="0"/>
          </a:xfrm>
          <a:prstGeom prst="line">
            <a:avLst/>
          </a:prstGeom>
          <a:noFill/>
          <a:ln w="19050">
            <a:solidFill>
              <a:srgbClr val="D4A017"/>
            </a:solidFill>
            <a:prstDash val="solid"/>
          </a:ln>
        </p:spPr>
      </p:sp>
      <p:sp>
        <p:nvSpPr>
          <p:cNvPr id="96" name="Text 94"/>
          <p:cNvSpPr/>
          <p:nvPr/>
        </p:nvSpPr>
        <p:spPr>
          <a:xfrm>
            <a:off x="822960" y="5120640"/>
            <a:ext cx="3291840" cy="274320"/>
          </a:xfrm>
          <a:prstGeom prst="rect">
            <a:avLst/>
          </a:prstGeom>
          <a:noFill/>
          <a:ln/>
        </p:spPr>
        <p:txBody>
          <a:bodyPr wrap="square" rtlCol="0" anchor="ctr"/>
          <a:lstStyle/>
          <a:p>
            <a:pPr indent="0" marL="0">
              <a:buNone/>
            </a:pPr>
            <a:r>
              <a:rPr lang="en-US" sz="1000" b="1" spc="100" kern="0" dirty="0">
                <a:solidFill>
                  <a:srgbClr val="D4A017"/>
                </a:solidFill>
                <a:latin typeface="Calibri" pitchFamily="34" charset="0"/>
                <a:ea typeface="Calibri" pitchFamily="34" charset="-122"/>
                <a:cs typeface="Calibri" pitchFamily="34" charset="-120"/>
              </a:rPr>
              <a:t>TEAM LEAD</a:t>
            </a:r>
            <a:endParaRPr lang="en-US" sz="1000" dirty="0"/>
          </a:p>
        </p:txBody>
      </p:sp>
      <p:sp>
        <p:nvSpPr>
          <p:cNvPr id="97" name="Text 95"/>
          <p:cNvSpPr/>
          <p:nvPr/>
        </p:nvSpPr>
        <p:spPr>
          <a:xfrm>
            <a:off x="822960" y="5394960"/>
            <a:ext cx="329184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Kavi Krishna</a:t>
            </a:r>
            <a:endParaRPr lang="en-US" sz="1700" dirty="0"/>
          </a:p>
        </p:txBody>
      </p:sp>
      <p:sp>
        <p:nvSpPr>
          <p:cNvPr id="98" name="Text 96"/>
          <p:cNvSpPr/>
          <p:nvPr/>
        </p:nvSpPr>
        <p:spPr>
          <a:xfrm>
            <a:off x="822960" y="5779008"/>
            <a:ext cx="3291840" cy="274320"/>
          </a:xfrm>
          <a:prstGeom prst="rect">
            <a:avLst/>
          </a:prstGeom>
          <a:noFill/>
          <a:ln/>
        </p:spPr>
        <p:txBody>
          <a:bodyPr wrap="square" rtlCol="0" anchor="ctr"/>
          <a:lstStyle/>
          <a:p>
            <a:pPr indent="0" marL="0">
              <a:buNone/>
            </a:pPr>
            <a:r>
              <a:rPr lang="en-US" sz="1100" dirty="0">
                <a:solidFill>
                  <a:srgbClr val="B7AEDB"/>
                </a:solidFill>
                <a:latin typeface="Calibri" pitchFamily="34" charset="0"/>
                <a:ea typeface="Calibri" pitchFamily="34" charset="-122"/>
                <a:cs typeface="Calibri" pitchFamily="34" charset="-120"/>
              </a:rPr>
              <a:t>2520080021</a:t>
            </a:r>
            <a:endParaRPr lang="en-US" sz="1100" dirty="0"/>
          </a:p>
        </p:txBody>
      </p:sp>
      <p:sp>
        <p:nvSpPr>
          <p:cNvPr id="99" name="Text 97"/>
          <p:cNvSpPr/>
          <p:nvPr/>
        </p:nvSpPr>
        <p:spPr>
          <a:xfrm>
            <a:off x="4389120" y="5120640"/>
            <a:ext cx="3291840" cy="274320"/>
          </a:xfrm>
          <a:prstGeom prst="rect">
            <a:avLst/>
          </a:prstGeom>
          <a:noFill/>
          <a:ln/>
        </p:spPr>
        <p:txBody>
          <a:bodyPr wrap="square" rtlCol="0" anchor="ctr"/>
          <a:lstStyle/>
          <a:p>
            <a:pPr indent="0" marL="0">
              <a:buNone/>
            </a:pPr>
            <a:r>
              <a:rPr lang="en-US" sz="1000" b="1" spc="100" kern="0" dirty="0">
                <a:solidFill>
                  <a:srgbClr val="D4A017"/>
                </a:solidFill>
                <a:latin typeface="Calibri" pitchFamily="34" charset="0"/>
                <a:ea typeface="Calibri" pitchFamily="34" charset="-122"/>
                <a:cs typeface="Calibri" pitchFamily="34" charset="-120"/>
              </a:rPr>
              <a:t>TEAM MEMBER</a:t>
            </a:r>
            <a:endParaRPr lang="en-US" sz="1000" dirty="0"/>
          </a:p>
        </p:txBody>
      </p:sp>
      <p:sp>
        <p:nvSpPr>
          <p:cNvPr id="100" name="Text 98"/>
          <p:cNvSpPr/>
          <p:nvPr/>
        </p:nvSpPr>
        <p:spPr>
          <a:xfrm>
            <a:off x="4389120" y="5394960"/>
            <a:ext cx="329184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Hemanth</a:t>
            </a:r>
            <a:endParaRPr lang="en-US" sz="1700" dirty="0"/>
          </a:p>
        </p:txBody>
      </p:sp>
      <p:sp>
        <p:nvSpPr>
          <p:cNvPr id="101" name="Text 99"/>
          <p:cNvSpPr/>
          <p:nvPr/>
        </p:nvSpPr>
        <p:spPr>
          <a:xfrm>
            <a:off x="4389120" y="5779008"/>
            <a:ext cx="3291840" cy="274320"/>
          </a:xfrm>
          <a:prstGeom prst="rect">
            <a:avLst/>
          </a:prstGeom>
          <a:noFill/>
          <a:ln/>
        </p:spPr>
        <p:txBody>
          <a:bodyPr wrap="square" rtlCol="0" anchor="ctr"/>
          <a:lstStyle/>
          <a:p>
            <a:pPr indent="0" marL="0">
              <a:buNone/>
            </a:pPr>
            <a:r>
              <a:rPr lang="en-US" sz="1100" dirty="0">
                <a:solidFill>
                  <a:srgbClr val="B7AEDB"/>
                </a:solidFill>
                <a:latin typeface="Calibri" pitchFamily="34" charset="0"/>
                <a:ea typeface="Calibri" pitchFamily="34" charset="-122"/>
                <a:cs typeface="Calibri" pitchFamily="34" charset="-120"/>
              </a:rPr>
              <a:t>25230090074</a:t>
            </a:r>
            <a:endParaRPr lang="en-US" sz="1100" dirty="0"/>
          </a:p>
        </p:txBody>
      </p:sp>
      <p:sp>
        <p:nvSpPr>
          <p:cNvPr id="102" name="Text 100"/>
          <p:cNvSpPr/>
          <p:nvPr/>
        </p:nvSpPr>
        <p:spPr>
          <a:xfrm>
            <a:off x="7955280" y="5120640"/>
            <a:ext cx="3291840" cy="274320"/>
          </a:xfrm>
          <a:prstGeom prst="rect">
            <a:avLst/>
          </a:prstGeom>
          <a:noFill/>
          <a:ln/>
        </p:spPr>
        <p:txBody>
          <a:bodyPr wrap="square" rtlCol="0" anchor="ctr"/>
          <a:lstStyle/>
          <a:p>
            <a:pPr indent="0" marL="0">
              <a:buNone/>
            </a:pPr>
            <a:r>
              <a:rPr lang="en-US" sz="1000" b="1" spc="100" kern="0" dirty="0">
                <a:solidFill>
                  <a:srgbClr val="D4A017"/>
                </a:solidFill>
                <a:latin typeface="Calibri" pitchFamily="34" charset="0"/>
                <a:ea typeface="Calibri" pitchFamily="34" charset="-122"/>
                <a:cs typeface="Calibri" pitchFamily="34" charset="-120"/>
              </a:rPr>
              <a:t>TEAM MEMBER</a:t>
            </a:r>
            <a:endParaRPr lang="en-US" sz="1000" dirty="0"/>
          </a:p>
        </p:txBody>
      </p:sp>
      <p:sp>
        <p:nvSpPr>
          <p:cNvPr id="103" name="Text 101"/>
          <p:cNvSpPr/>
          <p:nvPr/>
        </p:nvSpPr>
        <p:spPr>
          <a:xfrm>
            <a:off x="7955280" y="5394960"/>
            <a:ext cx="329184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Prajwal</a:t>
            </a:r>
            <a:endParaRPr lang="en-US" sz="1700" dirty="0"/>
          </a:p>
        </p:txBody>
      </p:sp>
      <p:sp>
        <p:nvSpPr>
          <p:cNvPr id="104" name="Text 102"/>
          <p:cNvSpPr/>
          <p:nvPr/>
        </p:nvSpPr>
        <p:spPr>
          <a:xfrm>
            <a:off x="7955280" y="5779008"/>
            <a:ext cx="3291840" cy="274320"/>
          </a:xfrm>
          <a:prstGeom prst="rect">
            <a:avLst/>
          </a:prstGeom>
          <a:noFill/>
          <a:ln/>
        </p:spPr>
        <p:txBody>
          <a:bodyPr wrap="square" rtlCol="0" anchor="ctr"/>
          <a:lstStyle/>
          <a:p>
            <a:pPr indent="0" marL="0">
              <a:buNone/>
            </a:pPr>
            <a:r>
              <a:rPr lang="en-US" sz="1100" dirty="0">
                <a:solidFill>
                  <a:srgbClr val="B7AEDB"/>
                </a:solidFill>
                <a:latin typeface="Calibri" pitchFamily="34" charset="0"/>
                <a:ea typeface="Calibri" pitchFamily="34" charset="-122"/>
                <a:cs typeface="Calibri" pitchFamily="34" charset="-120"/>
              </a:rPr>
              <a:t>2520080017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FA"/>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rtlCol="0" anchor="ctr"/>
          <a:lstStyle/>
          <a:p>
            <a:pPr indent="0" marL="0">
              <a:buNone/>
            </a:pPr>
            <a:r>
              <a:rPr lang="en-US" sz="1200" b="1" spc="200" kern="0" dirty="0">
                <a:solidFill>
                  <a:srgbClr val="2D1B69"/>
                </a:solidFill>
                <a:latin typeface="Calibri" pitchFamily="34" charset="0"/>
                <a:ea typeface="Calibri" pitchFamily="34" charset="-122"/>
                <a:cs typeface="Calibri" pitchFamily="34" charset="-120"/>
              </a:rPr>
              <a:t>OUR TEAM</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3400" b="1" dirty="0">
                <a:solidFill>
                  <a:srgbClr val="241B3A"/>
                </a:solidFill>
                <a:latin typeface="Cambria" pitchFamily="34" charset="0"/>
                <a:ea typeface="Cambria" pitchFamily="34" charset="-122"/>
                <a:cs typeface="Cambria" pitchFamily="34" charset="-120"/>
              </a:rPr>
              <a:t>Team Members</a:t>
            </a:r>
            <a:endParaRPr lang="en-US" sz="3400" dirty="0"/>
          </a:p>
        </p:txBody>
      </p:sp>
      <p:sp>
        <p:nvSpPr>
          <p:cNvPr id="4" name="Shape 2"/>
          <p:cNvSpPr/>
          <p:nvPr/>
        </p:nvSpPr>
        <p:spPr>
          <a:xfrm>
            <a:off x="608076" y="2148840"/>
            <a:ext cx="3383280" cy="3566160"/>
          </a:xfrm>
          <a:prstGeom prst="roundRect">
            <a:avLst>
              <a:gd name="adj" fmla="val 3243"/>
            </a:avLst>
          </a:prstGeom>
          <a:solidFill>
            <a:srgbClr val="FFFFFF"/>
          </a:solidFill>
          <a:ln/>
          <a:effectLst>
            <a:outerShdw sx="100000" sy="100000" kx="0" ky="0" algn="bl" rotWithShape="0" blurRad="127000" dist="38100" dir="5400000">
              <a:srgbClr val="3B2E6B">
                <a:alpha val="18000"/>
              </a:srgbClr>
            </a:outerShdw>
          </a:effectLst>
        </p:spPr>
      </p:sp>
      <p:sp>
        <p:nvSpPr>
          <p:cNvPr id="5" name="Shape 3"/>
          <p:cNvSpPr/>
          <p:nvPr/>
        </p:nvSpPr>
        <p:spPr>
          <a:xfrm>
            <a:off x="1705356" y="2606040"/>
            <a:ext cx="1188720" cy="1188720"/>
          </a:xfrm>
          <a:prstGeom prst="ellipse">
            <a:avLst/>
          </a:prstGeom>
          <a:solidFill>
            <a:srgbClr val="D4A017"/>
          </a:solidFill>
          <a:ln/>
        </p:spPr>
      </p:sp>
      <p:sp>
        <p:nvSpPr>
          <p:cNvPr id="6" name="Text 4"/>
          <p:cNvSpPr/>
          <p:nvPr/>
        </p:nvSpPr>
        <p:spPr>
          <a:xfrm>
            <a:off x="1705356" y="2606040"/>
            <a:ext cx="1188720" cy="11887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KK</a:t>
            </a:r>
            <a:endParaRPr lang="en-US" sz="2200" dirty="0"/>
          </a:p>
        </p:txBody>
      </p:sp>
      <p:sp>
        <p:nvSpPr>
          <p:cNvPr id="7" name="Text 5"/>
          <p:cNvSpPr/>
          <p:nvPr/>
        </p:nvSpPr>
        <p:spPr>
          <a:xfrm>
            <a:off x="608076" y="4069080"/>
            <a:ext cx="3383280" cy="274320"/>
          </a:xfrm>
          <a:prstGeom prst="rect">
            <a:avLst/>
          </a:prstGeom>
          <a:noFill/>
          <a:ln/>
        </p:spPr>
        <p:txBody>
          <a:bodyPr wrap="square" rtlCol="0" anchor="ctr"/>
          <a:lstStyle/>
          <a:p>
            <a:pPr algn="ctr" indent="0" marL="0">
              <a:buNone/>
            </a:pPr>
            <a:r>
              <a:rPr lang="en-US" sz="1100" b="1" spc="150" kern="0" dirty="0">
                <a:solidFill>
                  <a:srgbClr val="D4A017"/>
                </a:solidFill>
                <a:latin typeface="Calibri" pitchFamily="34" charset="0"/>
                <a:ea typeface="Calibri" pitchFamily="34" charset="-122"/>
                <a:cs typeface="Calibri" pitchFamily="34" charset="-120"/>
              </a:rPr>
              <a:t>TEAM LEAD</a:t>
            </a:r>
            <a:endParaRPr lang="en-US" sz="1100" dirty="0"/>
          </a:p>
        </p:txBody>
      </p:sp>
      <p:sp>
        <p:nvSpPr>
          <p:cNvPr id="8" name="Text 6"/>
          <p:cNvSpPr/>
          <p:nvPr/>
        </p:nvSpPr>
        <p:spPr>
          <a:xfrm>
            <a:off x="608076" y="4361688"/>
            <a:ext cx="3383280" cy="502920"/>
          </a:xfrm>
          <a:prstGeom prst="rect">
            <a:avLst/>
          </a:prstGeom>
          <a:noFill/>
          <a:ln/>
        </p:spPr>
        <p:txBody>
          <a:bodyPr wrap="square" rtlCol="0" anchor="ctr"/>
          <a:lstStyle/>
          <a:p>
            <a:pPr algn="ctr" indent="0" marL="0">
              <a:buNone/>
            </a:pPr>
            <a:r>
              <a:rPr lang="en-US" sz="2100" b="1" dirty="0">
                <a:solidFill>
                  <a:srgbClr val="241B3A"/>
                </a:solidFill>
                <a:latin typeface="Cambria" pitchFamily="34" charset="0"/>
                <a:ea typeface="Cambria" pitchFamily="34" charset="-122"/>
                <a:cs typeface="Cambria" pitchFamily="34" charset="-120"/>
              </a:rPr>
              <a:t>Kavi Krishna</a:t>
            </a:r>
            <a:endParaRPr lang="en-US" sz="2100" dirty="0"/>
          </a:p>
        </p:txBody>
      </p:sp>
      <p:sp>
        <p:nvSpPr>
          <p:cNvPr id="9" name="Shape 7"/>
          <p:cNvSpPr/>
          <p:nvPr/>
        </p:nvSpPr>
        <p:spPr>
          <a:xfrm>
            <a:off x="1933956" y="4937760"/>
            <a:ext cx="731520" cy="0"/>
          </a:xfrm>
          <a:prstGeom prst="line">
            <a:avLst/>
          </a:prstGeom>
          <a:noFill/>
          <a:ln w="12700">
            <a:solidFill>
              <a:srgbClr val="D9D3EE"/>
            </a:solidFill>
            <a:prstDash val="solid"/>
          </a:ln>
        </p:spPr>
      </p:sp>
      <p:sp>
        <p:nvSpPr>
          <p:cNvPr id="10" name="Text 8"/>
          <p:cNvSpPr/>
          <p:nvPr/>
        </p:nvSpPr>
        <p:spPr>
          <a:xfrm>
            <a:off x="608076" y="5074920"/>
            <a:ext cx="3383280" cy="365760"/>
          </a:xfrm>
          <a:prstGeom prst="rect">
            <a:avLst/>
          </a:prstGeom>
          <a:noFill/>
          <a:ln/>
        </p:spPr>
        <p:txBody>
          <a:bodyPr wrap="square" rtlCol="0" anchor="ctr"/>
          <a:lstStyle/>
          <a:p>
            <a:pPr algn="ctr" indent="0" marL="0">
              <a:buNone/>
            </a:pPr>
            <a:r>
              <a:rPr lang="en-US" sz="1200" dirty="0">
                <a:solidFill>
                  <a:srgbClr val="5B5470"/>
                </a:solidFill>
                <a:latin typeface="Calibri" pitchFamily="34" charset="0"/>
                <a:ea typeface="Calibri" pitchFamily="34" charset="-122"/>
                <a:cs typeface="Calibri" pitchFamily="34" charset="-120"/>
              </a:rPr>
              <a:t>Roll No.  2520080021</a:t>
            </a:r>
            <a:endParaRPr lang="en-US" sz="1200" dirty="0"/>
          </a:p>
        </p:txBody>
      </p:sp>
      <p:sp>
        <p:nvSpPr>
          <p:cNvPr id="11" name="Shape 9"/>
          <p:cNvSpPr/>
          <p:nvPr/>
        </p:nvSpPr>
        <p:spPr>
          <a:xfrm>
            <a:off x="4402836" y="2148840"/>
            <a:ext cx="3383280" cy="3566160"/>
          </a:xfrm>
          <a:prstGeom prst="roundRect">
            <a:avLst>
              <a:gd name="adj" fmla="val 3243"/>
            </a:avLst>
          </a:prstGeom>
          <a:solidFill>
            <a:srgbClr val="FFFFFF"/>
          </a:solidFill>
          <a:ln/>
          <a:effectLst>
            <a:outerShdw sx="100000" sy="100000" kx="0" ky="0" algn="bl" rotWithShape="0" blurRad="127000" dist="38100" dir="5400000">
              <a:srgbClr val="3B2E6B">
                <a:alpha val="18000"/>
              </a:srgbClr>
            </a:outerShdw>
          </a:effectLst>
        </p:spPr>
      </p:sp>
      <p:sp>
        <p:nvSpPr>
          <p:cNvPr id="12" name="Shape 10"/>
          <p:cNvSpPr/>
          <p:nvPr/>
        </p:nvSpPr>
        <p:spPr>
          <a:xfrm>
            <a:off x="5500116" y="2606040"/>
            <a:ext cx="1188720" cy="1188720"/>
          </a:xfrm>
          <a:prstGeom prst="ellipse">
            <a:avLst/>
          </a:prstGeom>
          <a:solidFill>
            <a:srgbClr val="2D1B69"/>
          </a:solidFill>
          <a:ln/>
        </p:spPr>
      </p:sp>
      <p:sp>
        <p:nvSpPr>
          <p:cNvPr id="13" name="Text 11"/>
          <p:cNvSpPr/>
          <p:nvPr/>
        </p:nvSpPr>
        <p:spPr>
          <a:xfrm>
            <a:off x="5500116" y="2606040"/>
            <a:ext cx="1188720" cy="11887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a:t>
            </a:r>
            <a:endParaRPr lang="en-US" sz="2200" dirty="0"/>
          </a:p>
        </p:txBody>
      </p:sp>
      <p:sp>
        <p:nvSpPr>
          <p:cNvPr id="14" name="Text 12"/>
          <p:cNvSpPr/>
          <p:nvPr/>
        </p:nvSpPr>
        <p:spPr>
          <a:xfrm>
            <a:off x="4402836" y="4069080"/>
            <a:ext cx="3383280" cy="274320"/>
          </a:xfrm>
          <a:prstGeom prst="rect">
            <a:avLst/>
          </a:prstGeom>
          <a:noFill/>
          <a:ln/>
        </p:spPr>
        <p:txBody>
          <a:bodyPr wrap="square" rtlCol="0" anchor="ctr"/>
          <a:lstStyle/>
          <a:p>
            <a:pPr algn="ctr" indent="0" marL="0">
              <a:buNone/>
            </a:pPr>
            <a:r>
              <a:rPr lang="en-US" sz="1100" b="1" spc="150" kern="0" dirty="0">
                <a:solidFill>
                  <a:srgbClr val="2D1B69"/>
                </a:solidFill>
                <a:latin typeface="Calibri" pitchFamily="34" charset="0"/>
                <a:ea typeface="Calibri" pitchFamily="34" charset="-122"/>
                <a:cs typeface="Calibri" pitchFamily="34" charset="-120"/>
              </a:rPr>
              <a:t>TEAM MEMBER</a:t>
            </a:r>
            <a:endParaRPr lang="en-US" sz="1100" dirty="0"/>
          </a:p>
        </p:txBody>
      </p:sp>
      <p:sp>
        <p:nvSpPr>
          <p:cNvPr id="15" name="Text 13"/>
          <p:cNvSpPr/>
          <p:nvPr/>
        </p:nvSpPr>
        <p:spPr>
          <a:xfrm>
            <a:off x="4402836" y="4361688"/>
            <a:ext cx="3383280" cy="502920"/>
          </a:xfrm>
          <a:prstGeom prst="rect">
            <a:avLst/>
          </a:prstGeom>
          <a:noFill/>
          <a:ln/>
        </p:spPr>
        <p:txBody>
          <a:bodyPr wrap="square" rtlCol="0" anchor="ctr"/>
          <a:lstStyle/>
          <a:p>
            <a:pPr algn="ctr" indent="0" marL="0">
              <a:buNone/>
            </a:pPr>
            <a:r>
              <a:rPr lang="en-US" sz="2100" b="1" dirty="0">
                <a:solidFill>
                  <a:srgbClr val="241B3A"/>
                </a:solidFill>
                <a:latin typeface="Cambria" pitchFamily="34" charset="0"/>
                <a:ea typeface="Cambria" pitchFamily="34" charset="-122"/>
                <a:cs typeface="Cambria" pitchFamily="34" charset="-120"/>
              </a:rPr>
              <a:t>Hemanth</a:t>
            </a:r>
            <a:endParaRPr lang="en-US" sz="2100" dirty="0"/>
          </a:p>
        </p:txBody>
      </p:sp>
      <p:sp>
        <p:nvSpPr>
          <p:cNvPr id="16" name="Shape 14"/>
          <p:cNvSpPr/>
          <p:nvPr/>
        </p:nvSpPr>
        <p:spPr>
          <a:xfrm>
            <a:off x="5728716" y="4937760"/>
            <a:ext cx="731520" cy="0"/>
          </a:xfrm>
          <a:prstGeom prst="line">
            <a:avLst/>
          </a:prstGeom>
          <a:noFill/>
          <a:ln w="12700">
            <a:solidFill>
              <a:srgbClr val="D9D3EE"/>
            </a:solidFill>
            <a:prstDash val="solid"/>
          </a:ln>
        </p:spPr>
      </p:sp>
      <p:sp>
        <p:nvSpPr>
          <p:cNvPr id="17" name="Text 15"/>
          <p:cNvSpPr/>
          <p:nvPr/>
        </p:nvSpPr>
        <p:spPr>
          <a:xfrm>
            <a:off x="4402836" y="5074920"/>
            <a:ext cx="3383280" cy="365760"/>
          </a:xfrm>
          <a:prstGeom prst="rect">
            <a:avLst/>
          </a:prstGeom>
          <a:noFill/>
          <a:ln/>
        </p:spPr>
        <p:txBody>
          <a:bodyPr wrap="square" rtlCol="0" anchor="ctr"/>
          <a:lstStyle/>
          <a:p>
            <a:pPr algn="ctr" indent="0" marL="0">
              <a:buNone/>
            </a:pPr>
            <a:r>
              <a:rPr lang="en-US" sz="1200" dirty="0">
                <a:solidFill>
                  <a:srgbClr val="5B5470"/>
                </a:solidFill>
                <a:latin typeface="Calibri" pitchFamily="34" charset="0"/>
                <a:ea typeface="Calibri" pitchFamily="34" charset="-122"/>
                <a:cs typeface="Calibri" pitchFamily="34" charset="-120"/>
              </a:rPr>
              <a:t>Roll No.  25230090074</a:t>
            </a:r>
            <a:endParaRPr lang="en-US" sz="1200" dirty="0"/>
          </a:p>
        </p:txBody>
      </p:sp>
      <p:sp>
        <p:nvSpPr>
          <p:cNvPr id="18" name="Shape 16"/>
          <p:cNvSpPr/>
          <p:nvPr/>
        </p:nvSpPr>
        <p:spPr>
          <a:xfrm>
            <a:off x="8197596" y="2148840"/>
            <a:ext cx="3383280" cy="3566160"/>
          </a:xfrm>
          <a:prstGeom prst="roundRect">
            <a:avLst>
              <a:gd name="adj" fmla="val 3243"/>
            </a:avLst>
          </a:prstGeom>
          <a:solidFill>
            <a:srgbClr val="FFFFFF"/>
          </a:solidFill>
          <a:ln/>
          <a:effectLst>
            <a:outerShdw sx="100000" sy="100000" kx="0" ky="0" algn="bl" rotWithShape="0" blurRad="127000" dist="38100" dir="5400000">
              <a:srgbClr val="3B2E6B">
                <a:alpha val="18000"/>
              </a:srgbClr>
            </a:outerShdw>
          </a:effectLst>
        </p:spPr>
      </p:sp>
      <p:sp>
        <p:nvSpPr>
          <p:cNvPr id="19" name="Shape 17"/>
          <p:cNvSpPr/>
          <p:nvPr/>
        </p:nvSpPr>
        <p:spPr>
          <a:xfrm>
            <a:off x="9294876" y="2606040"/>
            <a:ext cx="1188720" cy="1188720"/>
          </a:xfrm>
          <a:prstGeom prst="ellipse">
            <a:avLst/>
          </a:prstGeom>
          <a:solidFill>
            <a:srgbClr val="2D1B69"/>
          </a:solidFill>
          <a:ln/>
        </p:spPr>
      </p:sp>
      <p:sp>
        <p:nvSpPr>
          <p:cNvPr id="20" name="Text 18"/>
          <p:cNvSpPr/>
          <p:nvPr/>
        </p:nvSpPr>
        <p:spPr>
          <a:xfrm>
            <a:off x="9294876" y="2606040"/>
            <a:ext cx="1188720" cy="11887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a:t>
            </a:r>
            <a:endParaRPr lang="en-US" sz="2200" dirty="0"/>
          </a:p>
        </p:txBody>
      </p:sp>
      <p:sp>
        <p:nvSpPr>
          <p:cNvPr id="21" name="Text 19"/>
          <p:cNvSpPr/>
          <p:nvPr/>
        </p:nvSpPr>
        <p:spPr>
          <a:xfrm>
            <a:off x="8197596" y="4069080"/>
            <a:ext cx="3383280" cy="274320"/>
          </a:xfrm>
          <a:prstGeom prst="rect">
            <a:avLst/>
          </a:prstGeom>
          <a:noFill/>
          <a:ln/>
        </p:spPr>
        <p:txBody>
          <a:bodyPr wrap="square" rtlCol="0" anchor="ctr"/>
          <a:lstStyle/>
          <a:p>
            <a:pPr algn="ctr" indent="0" marL="0">
              <a:buNone/>
            </a:pPr>
            <a:r>
              <a:rPr lang="en-US" sz="1100" b="1" spc="150" kern="0" dirty="0">
                <a:solidFill>
                  <a:srgbClr val="2D1B69"/>
                </a:solidFill>
                <a:latin typeface="Calibri" pitchFamily="34" charset="0"/>
                <a:ea typeface="Calibri" pitchFamily="34" charset="-122"/>
                <a:cs typeface="Calibri" pitchFamily="34" charset="-120"/>
              </a:rPr>
              <a:t>TEAM MEMBER</a:t>
            </a:r>
            <a:endParaRPr lang="en-US" sz="1100" dirty="0"/>
          </a:p>
        </p:txBody>
      </p:sp>
      <p:sp>
        <p:nvSpPr>
          <p:cNvPr id="22" name="Text 20"/>
          <p:cNvSpPr/>
          <p:nvPr/>
        </p:nvSpPr>
        <p:spPr>
          <a:xfrm>
            <a:off x="8197596" y="4361688"/>
            <a:ext cx="3383280" cy="502920"/>
          </a:xfrm>
          <a:prstGeom prst="rect">
            <a:avLst/>
          </a:prstGeom>
          <a:noFill/>
          <a:ln/>
        </p:spPr>
        <p:txBody>
          <a:bodyPr wrap="square" rtlCol="0" anchor="ctr"/>
          <a:lstStyle/>
          <a:p>
            <a:pPr algn="ctr" indent="0" marL="0">
              <a:buNone/>
            </a:pPr>
            <a:r>
              <a:rPr lang="en-US" sz="2100" b="1" dirty="0">
                <a:solidFill>
                  <a:srgbClr val="241B3A"/>
                </a:solidFill>
                <a:latin typeface="Cambria" pitchFamily="34" charset="0"/>
                <a:ea typeface="Cambria" pitchFamily="34" charset="-122"/>
                <a:cs typeface="Cambria" pitchFamily="34" charset="-120"/>
              </a:rPr>
              <a:t>Prajwal</a:t>
            </a:r>
            <a:endParaRPr lang="en-US" sz="2100" dirty="0"/>
          </a:p>
        </p:txBody>
      </p:sp>
      <p:sp>
        <p:nvSpPr>
          <p:cNvPr id="23" name="Shape 21"/>
          <p:cNvSpPr/>
          <p:nvPr/>
        </p:nvSpPr>
        <p:spPr>
          <a:xfrm>
            <a:off x="9523476" y="4937760"/>
            <a:ext cx="731520" cy="0"/>
          </a:xfrm>
          <a:prstGeom prst="line">
            <a:avLst/>
          </a:prstGeom>
          <a:noFill/>
          <a:ln w="12700">
            <a:solidFill>
              <a:srgbClr val="D9D3EE"/>
            </a:solidFill>
            <a:prstDash val="solid"/>
          </a:ln>
        </p:spPr>
      </p:sp>
      <p:sp>
        <p:nvSpPr>
          <p:cNvPr id="24" name="Text 22"/>
          <p:cNvSpPr/>
          <p:nvPr/>
        </p:nvSpPr>
        <p:spPr>
          <a:xfrm>
            <a:off x="8197596" y="5074920"/>
            <a:ext cx="3383280" cy="365760"/>
          </a:xfrm>
          <a:prstGeom prst="rect">
            <a:avLst/>
          </a:prstGeom>
          <a:noFill/>
          <a:ln/>
        </p:spPr>
        <p:txBody>
          <a:bodyPr wrap="square" rtlCol="0" anchor="ctr"/>
          <a:lstStyle/>
          <a:p>
            <a:pPr algn="ctr" indent="0" marL="0">
              <a:buNone/>
            </a:pPr>
            <a:r>
              <a:rPr lang="en-US" sz="1200" dirty="0">
                <a:solidFill>
                  <a:srgbClr val="5B5470"/>
                </a:solidFill>
                <a:latin typeface="Calibri" pitchFamily="34" charset="0"/>
                <a:ea typeface="Calibri" pitchFamily="34" charset="-122"/>
                <a:cs typeface="Calibri" pitchFamily="34" charset="-120"/>
              </a:rPr>
              <a:t>Roll No.  2520080017</a:t>
            </a:r>
            <a:endParaRPr lang="en-US" sz="1200" dirty="0"/>
          </a:p>
        </p:txBody>
      </p:sp>
      <p:sp>
        <p:nvSpPr>
          <p:cNvPr id="25" name="Text 23"/>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B547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247"/>
        </a:solidFill>
      </p:bgPr>
    </p:bg>
    <p:spTree>
      <p:nvGrpSpPr>
        <p:cNvPr id="1" name=""/>
        <p:cNvGrpSpPr/>
        <p:nvPr/>
      </p:nvGrpSpPr>
      <p:grpSpPr>
        <a:xfrm>
          <a:off x="0" y="0"/>
          <a:ext cx="0" cy="0"/>
          <a:chOff x="0" y="0"/>
          <a:chExt cx="0" cy="0"/>
        </a:xfrm>
      </p:grpSpPr>
      <p:sp>
        <p:nvSpPr>
          <p:cNvPr id="2" name="Shape 0"/>
          <p:cNvSpPr/>
          <p:nvPr/>
        </p:nvSpPr>
        <p:spPr>
          <a:xfrm>
            <a:off x="11311128" y="813816"/>
            <a:ext cx="18288" cy="18288"/>
          </a:xfrm>
          <a:prstGeom prst="ellipse">
            <a:avLst/>
          </a:prstGeom>
          <a:solidFill>
            <a:srgbClr val="8F7FD1">
              <a:alpha val="19000"/>
            </a:srgbClr>
          </a:solidFill>
          <a:ln/>
        </p:spPr>
      </p:sp>
      <p:sp>
        <p:nvSpPr>
          <p:cNvPr id="3" name="Shape 1"/>
          <p:cNvSpPr/>
          <p:nvPr/>
        </p:nvSpPr>
        <p:spPr>
          <a:xfrm>
            <a:off x="11338055" y="845738"/>
            <a:ext cx="19812" cy="19812"/>
          </a:xfrm>
          <a:prstGeom prst="ellipse">
            <a:avLst/>
          </a:prstGeom>
          <a:solidFill>
            <a:srgbClr val="8F7FD1">
              <a:alpha val="20000"/>
            </a:srgbClr>
          </a:solidFill>
          <a:ln/>
        </p:spPr>
      </p:sp>
      <p:sp>
        <p:nvSpPr>
          <p:cNvPr id="4" name="Shape 2"/>
          <p:cNvSpPr/>
          <p:nvPr/>
        </p:nvSpPr>
        <p:spPr>
          <a:xfrm>
            <a:off x="11340829" y="897748"/>
            <a:ext cx="21336" cy="21336"/>
          </a:xfrm>
          <a:prstGeom prst="ellipse">
            <a:avLst/>
          </a:prstGeom>
          <a:solidFill>
            <a:srgbClr val="8F7FD1">
              <a:alpha val="21000"/>
            </a:srgbClr>
          </a:solidFill>
          <a:ln/>
        </p:spPr>
      </p:sp>
      <p:sp>
        <p:nvSpPr>
          <p:cNvPr id="5" name="Shape 3"/>
          <p:cNvSpPr/>
          <p:nvPr/>
        </p:nvSpPr>
        <p:spPr>
          <a:xfrm>
            <a:off x="11309360" y="953836"/>
            <a:ext cx="22860" cy="22860"/>
          </a:xfrm>
          <a:prstGeom prst="ellipse">
            <a:avLst/>
          </a:prstGeom>
          <a:solidFill>
            <a:srgbClr val="8F7FD1">
              <a:alpha val="23000"/>
            </a:srgbClr>
          </a:solidFill>
          <a:ln/>
        </p:spPr>
      </p:sp>
      <p:sp>
        <p:nvSpPr>
          <p:cNvPr id="6" name="Shape 4"/>
          <p:cNvSpPr/>
          <p:nvPr/>
        </p:nvSpPr>
        <p:spPr>
          <a:xfrm>
            <a:off x="11243099" y="994024"/>
            <a:ext cx="24384" cy="24384"/>
          </a:xfrm>
          <a:prstGeom prst="ellipse">
            <a:avLst/>
          </a:prstGeom>
          <a:solidFill>
            <a:srgbClr val="8F7FD1">
              <a:alpha val="24000"/>
            </a:srgbClr>
          </a:solidFill>
          <a:ln/>
        </p:spPr>
      </p:sp>
      <p:sp>
        <p:nvSpPr>
          <p:cNvPr id="7" name="Shape 5"/>
          <p:cNvSpPr/>
          <p:nvPr/>
        </p:nvSpPr>
        <p:spPr>
          <a:xfrm>
            <a:off x="11152147" y="999581"/>
            <a:ext cx="25908" cy="25908"/>
          </a:xfrm>
          <a:prstGeom prst="ellipse">
            <a:avLst/>
          </a:prstGeom>
          <a:solidFill>
            <a:srgbClr val="8F7FD1">
              <a:alpha val="25000"/>
            </a:srgbClr>
          </a:solidFill>
          <a:ln/>
        </p:spPr>
      </p:sp>
      <p:sp>
        <p:nvSpPr>
          <p:cNvPr id="8" name="Shape 6"/>
          <p:cNvSpPr/>
          <p:nvPr/>
        </p:nvSpPr>
        <p:spPr>
          <a:xfrm>
            <a:off x="11055719" y="958270"/>
            <a:ext cx="27432" cy="27432"/>
          </a:xfrm>
          <a:prstGeom prst="ellipse">
            <a:avLst/>
          </a:prstGeom>
          <a:solidFill>
            <a:srgbClr val="8F7FD1">
              <a:alpha val="26000"/>
            </a:srgbClr>
          </a:solidFill>
          <a:ln/>
        </p:spPr>
      </p:sp>
      <p:sp>
        <p:nvSpPr>
          <p:cNvPr id="9" name="Shape 7"/>
          <p:cNvSpPr/>
          <p:nvPr/>
        </p:nvSpPr>
        <p:spPr>
          <a:xfrm>
            <a:off x="10978197" y="868397"/>
            <a:ext cx="28956" cy="28956"/>
          </a:xfrm>
          <a:prstGeom prst="ellipse">
            <a:avLst/>
          </a:prstGeom>
          <a:solidFill>
            <a:srgbClr val="8F7FD1">
              <a:alpha val="27000"/>
            </a:srgbClr>
          </a:solidFill>
          <a:ln/>
        </p:spPr>
      </p:sp>
      <p:sp>
        <p:nvSpPr>
          <p:cNvPr id="10" name="Shape 8"/>
          <p:cNvSpPr/>
          <p:nvPr/>
        </p:nvSpPr>
        <p:spPr>
          <a:xfrm>
            <a:off x="10943555" y="740604"/>
            <a:ext cx="30480" cy="30480"/>
          </a:xfrm>
          <a:prstGeom prst="ellipse">
            <a:avLst/>
          </a:prstGeom>
          <a:solidFill>
            <a:srgbClr val="8F7FD1">
              <a:alpha val="28000"/>
            </a:srgbClr>
          </a:solidFill>
          <a:ln/>
        </p:spPr>
      </p:sp>
      <p:sp>
        <p:nvSpPr>
          <p:cNvPr id="11" name="Shape 9"/>
          <p:cNvSpPr/>
          <p:nvPr/>
        </p:nvSpPr>
        <p:spPr>
          <a:xfrm>
            <a:off x="10969369" y="596856"/>
            <a:ext cx="32004" cy="32004"/>
          </a:xfrm>
          <a:prstGeom prst="ellipse">
            <a:avLst/>
          </a:prstGeom>
          <a:solidFill>
            <a:srgbClr val="8F7FD1">
              <a:alpha val="29000"/>
            </a:srgbClr>
          </a:solidFill>
          <a:ln/>
        </p:spPr>
      </p:sp>
      <p:sp>
        <p:nvSpPr>
          <p:cNvPr id="12" name="Shape 10"/>
          <p:cNvSpPr/>
          <p:nvPr/>
        </p:nvSpPr>
        <p:spPr>
          <a:xfrm>
            <a:off x="11061746" y="466642"/>
            <a:ext cx="33528" cy="33528"/>
          </a:xfrm>
          <a:prstGeom prst="ellipse">
            <a:avLst/>
          </a:prstGeom>
          <a:solidFill>
            <a:srgbClr val="8F7FD1">
              <a:alpha val="30000"/>
            </a:srgbClr>
          </a:solidFill>
          <a:ln/>
        </p:spPr>
      </p:sp>
      <p:sp>
        <p:nvSpPr>
          <p:cNvPr id="13" name="Shape 11"/>
          <p:cNvSpPr/>
          <p:nvPr/>
        </p:nvSpPr>
        <p:spPr>
          <a:xfrm>
            <a:off x="11212422" y="381052"/>
            <a:ext cx="35052" cy="35052"/>
          </a:xfrm>
          <a:prstGeom prst="ellipse">
            <a:avLst/>
          </a:prstGeom>
          <a:solidFill>
            <a:srgbClr val="8F7FD1">
              <a:alpha val="31000"/>
            </a:srgbClr>
          </a:solidFill>
          <a:ln/>
        </p:spPr>
      </p:sp>
      <p:sp>
        <p:nvSpPr>
          <p:cNvPr id="14" name="Shape 12"/>
          <p:cNvSpPr/>
          <p:nvPr/>
        </p:nvSpPr>
        <p:spPr>
          <a:xfrm>
            <a:off x="11398831" y="365896"/>
            <a:ext cx="36576" cy="36576"/>
          </a:xfrm>
          <a:prstGeom prst="ellipse">
            <a:avLst/>
          </a:prstGeom>
          <a:solidFill>
            <a:srgbClr val="8F7FD1">
              <a:alpha val="32000"/>
            </a:srgbClr>
          </a:solidFill>
          <a:ln/>
        </p:spPr>
      </p:sp>
      <p:sp>
        <p:nvSpPr>
          <p:cNvPr id="15" name="Shape 13"/>
          <p:cNvSpPr/>
          <p:nvPr/>
        </p:nvSpPr>
        <p:spPr>
          <a:xfrm>
            <a:off x="11587386" y="435316"/>
            <a:ext cx="38100" cy="38100"/>
          </a:xfrm>
          <a:prstGeom prst="ellipse">
            <a:avLst/>
          </a:prstGeom>
          <a:solidFill>
            <a:srgbClr val="8F7FD1">
              <a:alpha val="33000"/>
            </a:srgbClr>
          </a:solidFill>
          <a:ln/>
        </p:spPr>
      </p:sp>
      <p:sp>
        <p:nvSpPr>
          <p:cNvPr id="16" name="Shape 14"/>
          <p:cNvSpPr/>
          <p:nvPr/>
        </p:nvSpPr>
        <p:spPr>
          <a:xfrm>
            <a:off x="11739494" y="587322"/>
            <a:ext cx="39624" cy="39624"/>
          </a:xfrm>
          <a:prstGeom prst="ellipse">
            <a:avLst/>
          </a:prstGeom>
          <a:solidFill>
            <a:srgbClr val="8F7FD1">
              <a:alpha val="34000"/>
            </a:srgbClr>
          </a:solidFill>
          <a:ln/>
        </p:spPr>
      </p:sp>
      <p:sp>
        <p:nvSpPr>
          <p:cNvPr id="17" name="Shape 15"/>
          <p:cNvSpPr/>
          <p:nvPr/>
        </p:nvSpPr>
        <p:spPr>
          <a:xfrm>
            <a:off x="11819243" y="802386"/>
            <a:ext cx="41148" cy="41148"/>
          </a:xfrm>
          <a:prstGeom prst="ellipse">
            <a:avLst/>
          </a:prstGeom>
          <a:solidFill>
            <a:srgbClr val="8F7FD1">
              <a:alpha val="36000"/>
            </a:srgbClr>
          </a:solidFill>
          <a:ln/>
        </p:spPr>
      </p:sp>
      <p:sp>
        <p:nvSpPr>
          <p:cNvPr id="18" name="Shape 16"/>
          <p:cNvSpPr/>
          <p:nvPr/>
        </p:nvSpPr>
        <p:spPr>
          <a:xfrm>
            <a:off x="11801254" y="1045626"/>
            <a:ext cx="42672" cy="42672"/>
          </a:xfrm>
          <a:prstGeom prst="ellipse">
            <a:avLst/>
          </a:prstGeom>
          <a:solidFill>
            <a:srgbClr val="8F7FD1">
              <a:alpha val="37000"/>
            </a:srgbClr>
          </a:solidFill>
          <a:ln/>
        </p:spPr>
      </p:sp>
      <p:sp>
        <p:nvSpPr>
          <p:cNvPr id="19" name="Shape 17"/>
          <p:cNvSpPr/>
          <p:nvPr/>
        </p:nvSpPr>
        <p:spPr>
          <a:xfrm>
            <a:off x="11677043" y="1272416"/>
            <a:ext cx="44196" cy="44196"/>
          </a:xfrm>
          <a:prstGeom prst="ellipse">
            <a:avLst/>
          </a:prstGeom>
          <a:solidFill>
            <a:srgbClr val="8F7FD1">
              <a:alpha val="38000"/>
            </a:srgbClr>
          </a:solidFill>
          <a:ln/>
        </p:spPr>
      </p:sp>
      <p:sp>
        <p:nvSpPr>
          <p:cNvPr id="20" name="Shape 18"/>
          <p:cNvSpPr/>
          <p:nvPr/>
        </p:nvSpPr>
        <p:spPr>
          <a:xfrm>
            <a:off x="11458478" y="1436523"/>
            <a:ext cx="45720" cy="45720"/>
          </a:xfrm>
          <a:prstGeom prst="ellipse">
            <a:avLst/>
          </a:prstGeom>
          <a:solidFill>
            <a:srgbClr val="8F7FD1">
              <a:alpha val="39000"/>
            </a:srgbClr>
          </a:solidFill>
          <a:ln/>
        </p:spPr>
      </p:sp>
      <p:sp>
        <p:nvSpPr>
          <p:cNvPr id="21" name="Shape 19"/>
          <p:cNvSpPr/>
          <p:nvPr/>
        </p:nvSpPr>
        <p:spPr>
          <a:xfrm>
            <a:off x="11177362" y="1499293"/>
            <a:ext cx="47244" cy="47244"/>
          </a:xfrm>
          <a:prstGeom prst="ellipse">
            <a:avLst/>
          </a:prstGeom>
          <a:solidFill>
            <a:srgbClr val="8F7FD1">
              <a:alpha val="40000"/>
            </a:srgbClr>
          </a:solidFill>
          <a:ln/>
        </p:spPr>
      </p:sp>
      <p:sp>
        <p:nvSpPr>
          <p:cNvPr id="22" name="Shape 20"/>
          <p:cNvSpPr/>
          <p:nvPr/>
        </p:nvSpPr>
        <p:spPr>
          <a:xfrm>
            <a:off x="10880944" y="1438090"/>
            <a:ext cx="48768" cy="48768"/>
          </a:xfrm>
          <a:prstGeom prst="ellipse">
            <a:avLst/>
          </a:prstGeom>
          <a:solidFill>
            <a:srgbClr val="8F7FD1">
              <a:alpha val="41000"/>
            </a:srgbClr>
          </a:solidFill>
          <a:ln/>
        </p:spPr>
      </p:sp>
      <p:sp>
        <p:nvSpPr>
          <p:cNvPr id="23" name="Shape 21"/>
          <p:cNvSpPr/>
          <p:nvPr/>
        </p:nvSpPr>
        <p:spPr>
          <a:xfrm>
            <a:off x="10623968" y="1252221"/>
            <a:ext cx="50292" cy="50292"/>
          </a:xfrm>
          <a:prstGeom prst="ellipse">
            <a:avLst/>
          </a:prstGeom>
          <a:solidFill>
            <a:srgbClr val="8F7FD1">
              <a:alpha val="42000"/>
            </a:srgbClr>
          </a:solidFill>
          <a:ln/>
        </p:spPr>
      </p:sp>
      <p:sp>
        <p:nvSpPr>
          <p:cNvPr id="24" name="Shape 22"/>
          <p:cNvSpPr/>
          <p:nvPr/>
        </p:nvSpPr>
        <p:spPr>
          <a:xfrm>
            <a:off x="10458575" y="964986"/>
            <a:ext cx="51816" cy="51816"/>
          </a:xfrm>
          <a:prstGeom prst="ellipse">
            <a:avLst/>
          </a:prstGeom>
          <a:solidFill>
            <a:srgbClr val="8F7FD1">
              <a:alpha val="43000"/>
            </a:srgbClr>
          </a:solidFill>
          <a:ln/>
        </p:spPr>
      </p:sp>
      <p:sp>
        <p:nvSpPr>
          <p:cNvPr id="25" name="Shape 23"/>
          <p:cNvSpPr/>
          <p:nvPr/>
        </p:nvSpPr>
        <p:spPr>
          <a:xfrm>
            <a:off x="10423933" y="621154"/>
            <a:ext cx="53340" cy="53340"/>
          </a:xfrm>
          <a:prstGeom prst="ellipse">
            <a:avLst/>
          </a:prstGeom>
          <a:solidFill>
            <a:srgbClr val="8F7FD1">
              <a:alpha val="44000"/>
            </a:srgbClr>
          </a:solidFill>
          <a:ln/>
        </p:spPr>
      </p:sp>
      <p:sp>
        <p:nvSpPr>
          <p:cNvPr id="26" name="Shape 24"/>
          <p:cNvSpPr/>
          <p:nvPr/>
        </p:nvSpPr>
        <p:spPr>
          <a:xfrm>
            <a:off x="10537618" y="280045"/>
            <a:ext cx="54864" cy="54864"/>
          </a:xfrm>
          <a:prstGeom prst="ellipse">
            <a:avLst/>
          </a:prstGeom>
          <a:solidFill>
            <a:srgbClr val="8F7FD1">
              <a:alpha val="45000"/>
            </a:srgbClr>
          </a:solidFill>
          <a:ln/>
        </p:spPr>
      </p:sp>
      <p:sp>
        <p:nvSpPr>
          <p:cNvPr id="27" name="Shape 25"/>
          <p:cNvSpPr/>
          <p:nvPr/>
        </p:nvSpPr>
        <p:spPr>
          <a:xfrm>
            <a:off x="10790543" y="5272"/>
            <a:ext cx="56388" cy="56388"/>
          </a:xfrm>
          <a:prstGeom prst="ellipse">
            <a:avLst/>
          </a:prstGeom>
          <a:solidFill>
            <a:srgbClr val="8F7FD1">
              <a:alpha val="46000"/>
            </a:srgbClr>
          </a:solidFill>
          <a:ln/>
        </p:spPr>
      </p:sp>
      <p:sp>
        <p:nvSpPr>
          <p:cNvPr id="28" name="Shape 26"/>
          <p:cNvSpPr/>
          <p:nvPr/>
        </p:nvSpPr>
        <p:spPr>
          <a:xfrm>
            <a:off x="11146684" y="-147078"/>
            <a:ext cx="57912" cy="57912"/>
          </a:xfrm>
          <a:prstGeom prst="ellipse">
            <a:avLst/>
          </a:prstGeom>
          <a:solidFill>
            <a:srgbClr val="8F7FD1">
              <a:alpha val="47000"/>
            </a:srgbClr>
          </a:solidFill>
          <a:ln/>
        </p:spPr>
      </p:sp>
      <p:sp>
        <p:nvSpPr>
          <p:cNvPr id="29" name="Shape 27"/>
          <p:cNvSpPr/>
          <p:nvPr/>
        </p:nvSpPr>
        <p:spPr>
          <a:xfrm>
            <a:off x="11547949" y="-139651"/>
            <a:ext cx="59436" cy="59436"/>
          </a:xfrm>
          <a:prstGeom prst="ellipse">
            <a:avLst/>
          </a:prstGeom>
          <a:solidFill>
            <a:srgbClr val="8F7FD1">
              <a:alpha val="49000"/>
            </a:srgbClr>
          </a:solidFill>
          <a:ln/>
        </p:spPr>
      </p:sp>
      <p:sp>
        <p:nvSpPr>
          <p:cNvPr id="30" name="Shape 28"/>
          <p:cNvSpPr/>
          <p:nvPr/>
        </p:nvSpPr>
        <p:spPr>
          <a:xfrm>
            <a:off x="11923600" y="37788"/>
            <a:ext cx="60960" cy="60960"/>
          </a:xfrm>
          <a:prstGeom prst="ellipse">
            <a:avLst/>
          </a:prstGeom>
          <a:solidFill>
            <a:srgbClr val="8F7FD1">
              <a:alpha val="50000"/>
            </a:srgbClr>
          </a:solidFill>
          <a:ln/>
        </p:spPr>
      </p:sp>
      <p:sp>
        <p:nvSpPr>
          <p:cNvPr id="31" name="Shape 29"/>
          <p:cNvSpPr/>
          <p:nvPr/>
        </p:nvSpPr>
        <p:spPr>
          <a:xfrm>
            <a:off x="12202692" y="364574"/>
            <a:ext cx="62484" cy="62484"/>
          </a:xfrm>
          <a:prstGeom prst="ellipse">
            <a:avLst/>
          </a:prstGeom>
          <a:solidFill>
            <a:srgbClr val="8F7FD1">
              <a:alpha val="51000"/>
            </a:srgbClr>
          </a:solidFill>
          <a:ln/>
        </p:spPr>
      </p:sp>
      <p:sp>
        <p:nvSpPr>
          <p:cNvPr id="32" name="Shape 30"/>
          <p:cNvSpPr/>
          <p:nvPr/>
        </p:nvSpPr>
        <p:spPr>
          <a:xfrm>
            <a:off x="12327359" y="790956"/>
            <a:ext cx="64008" cy="64008"/>
          </a:xfrm>
          <a:prstGeom prst="ellipse">
            <a:avLst/>
          </a:prstGeom>
          <a:solidFill>
            <a:srgbClr val="8F7FD1">
              <a:alpha val="52000"/>
            </a:srgbClr>
          </a:solidFill>
          <a:ln/>
        </p:spPr>
      </p:sp>
      <p:sp>
        <p:nvSpPr>
          <p:cNvPr id="33" name="Shape 31"/>
          <p:cNvSpPr/>
          <p:nvPr/>
        </p:nvSpPr>
        <p:spPr>
          <a:xfrm>
            <a:off x="12264452" y="1245514"/>
            <a:ext cx="65532" cy="65532"/>
          </a:xfrm>
          <a:prstGeom prst="ellipse">
            <a:avLst/>
          </a:prstGeom>
          <a:solidFill>
            <a:srgbClr val="8F7FD1">
              <a:alpha val="53000"/>
            </a:srgbClr>
          </a:solidFill>
          <a:ln/>
        </p:spPr>
      </p:sp>
      <p:sp>
        <p:nvSpPr>
          <p:cNvPr id="34" name="Shape 32"/>
          <p:cNvSpPr/>
          <p:nvPr/>
        </p:nvSpPr>
        <p:spPr>
          <a:xfrm>
            <a:off x="12013257" y="1647083"/>
            <a:ext cx="67056" cy="67056"/>
          </a:xfrm>
          <a:prstGeom prst="ellipse">
            <a:avLst/>
          </a:prstGeom>
          <a:solidFill>
            <a:srgbClr val="8F7FD1">
              <a:alpha val="54000"/>
            </a:srgbClr>
          </a:solidFill>
          <a:ln/>
        </p:spPr>
      </p:sp>
      <p:sp>
        <p:nvSpPr>
          <p:cNvPr id="35" name="Shape 33"/>
          <p:cNvSpPr/>
          <p:nvPr/>
        </p:nvSpPr>
        <p:spPr>
          <a:xfrm>
            <a:off x="11607597" y="1919210"/>
            <a:ext cx="68580" cy="68580"/>
          </a:xfrm>
          <a:prstGeom prst="ellipse">
            <a:avLst/>
          </a:prstGeom>
          <a:solidFill>
            <a:srgbClr val="8F7FD1">
              <a:alpha val="55000"/>
            </a:srgbClr>
          </a:solidFill>
          <a:ln/>
        </p:spPr>
      </p:sp>
      <p:sp>
        <p:nvSpPr>
          <p:cNvPr id="36" name="Text 34"/>
          <p:cNvSpPr/>
          <p:nvPr/>
        </p:nvSpPr>
        <p:spPr>
          <a:xfrm>
            <a:off x="640080" y="457200"/>
            <a:ext cx="5486400" cy="365760"/>
          </a:xfrm>
          <a:prstGeom prst="rect">
            <a:avLst/>
          </a:prstGeom>
          <a:noFill/>
          <a:ln/>
        </p:spPr>
        <p:txBody>
          <a:bodyPr wrap="square"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AGENDA</a:t>
            </a:r>
            <a:endParaRPr lang="en-US" sz="1200" dirty="0"/>
          </a:p>
        </p:txBody>
      </p:sp>
      <p:sp>
        <p:nvSpPr>
          <p:cNvPr id="37" name="Text 35"/>
          <p:cNvSpPr/>
          <p:nvPr/>
        </p:nvSpPr>
        <p:spPr>
          <a:xfrm>
            <a:off x="640080" y="777240"/>
            <a:ext cx="1088136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Contents</a:t>
            </a:r>
            <a:endParaRPr lang="en-US" sz="3400" dirty="0"/>
          </a:p>
        </p:txBody>
      </p:sp>
      <p:sp>
        <p:nvSpPr>
          <p:cNvPr id="38" name="Shape 36"/>
          <p:cNvSpPr/>
          <p:nvPr/>
        </p:nvSpPr>
        <p:spPr>
          <a:xfrm>
            <a:off x="822960" y="2148840"/>
            <a:ext cx="457200" cy="457200"/>
          </a:xfrm>
          <a:prstGeom prst="ellipse">
            <a:avLst/>
          </a:prstGeom>
          <a:solidFill>
            <a:srgbClr val="D4A017"/>
          </a:solidFill>
          <a:ln/>
        </p:spPr>
      </p:sp>
      <p:sp>
        <p:nvSpPr>
          <p:cNvPr id="39" name="Text 37"/>
          <p:cNvSpPr/>
          <p:nvPr/>
        </p:nvSpPr>
        <p:spPr>
          <a:xfrm>
            <a:off x="822960" y="2148840"/>
            <a:ext cx="457200" cy="45720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1</a:t>
            </a:r>
            <a:endParaRPr lang="en-US" sz="1600" dirty="0"/>
          </a:p>
        </p:txBody>
      </p:sp>
      <p:sp>
        <p:nvSpPr>
          <p:cNvPr id="40" name="Text 38"/>
          <p:cNvSpPr/>
          <p:nvPr/>
        </p:nvSpPr>
        <p:spPr>
          <a:xfrm>
            <a:off x="1463040" y="2121408"/>
            <a:ext cx="448056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Abstract</a:t>
            </a:r>
            <a:endParaRPr lang="en-US" sz="1600" dirty="0"/>
          </a:p>
        </p:txBody>
      </p:sp>
      <p:sp>
        <p:nvSpPr>
          <p:cNvPr id="41" name="Shape 39"/>
          <p:cNvSpPr/>
          <p:nvPr/>
        </p:nvSpPr>
        <p:spPr>
          <a:xfrm>
            <a:off x="822960" y="2807208"/>
            <a:ext cx="457200" cy="457200"/>
          </a:xfrm>
          <a:prstGeom prst="ellipse">
            <a:avLst/>
          </a:prstGeom>
          <a:solidFill>
            <a:srgbClr val="D4A017"/>
          </a:solidFill>
          <a:ln/>
        </p:spPr>
      </p:sp>
      <p:sp>
        <p:nvSpPr>
          <p:cNvPr id="42" name="Text 40"/>
          <p:cNvSpPr/>
          <p:nvPr/>
        </p:nvSpPr>
        <p:spPr>
          <a:xfrm>
            <a:off x="822960" y="2807208"/>
            <a:ext cx="457200" cy="45720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2</a:t>
            </a:r>
            <a:endParaRPr lang="en-US" sz="1600" dirty="0"/>
          </a:p>
        </p:txBody>
      </p:sp>
      <p:sp>
        <p:nvSpPr>
          <p:cNvPr id="43" name="Text 41"/>
          <p:cNvSpPr/>
          <p:nvPr/>
        </p:nvSpPr>
        <p:spPr>
          <a:xfrm>
            <a:off x="1463040" y="2779776"/>
            <a:ext cx="448056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Introduction</a:t>
            </a:r>
            <a:endParaRPr lang="en-US" sz="1600" dirty="0"/>
          </a:p>
        </p:txBody>
      </p:sp>
      <p:sp>
        <p:nvSpPr>
          <p:cNvPr id="44" name="Shape 42"/>
          <p:cNvSpPr/>
          <p:nvPr/>
        </p:nvSpPr>
        <p:spPr>
          <a:xfrm>
            <a:off x="822960" y="3465576"/>
            <a:ext cx="457200" cy="457200"/>
          </a:xfrm>
          <a:prstGeom prst="ellipse">
            <a:avLst/>
          </a:prstGeom>
          <a:solidFill>
            <a:srgbClr val="D4A017"/>
          </a:solidFill>
          <a:ln/>
        </p:spPr>
      </p:sp>
      <p:sp>
        <p:nvSpPr>
          <p:cNvPr id="45" name="Text 43"/>
          <p:cNvSpPr/>
          <p:nvPr/>
        </p:nvSpPr>
        <p:spPr>
          <a:xfrm>
            <a:off x="822960" y="3465576"/>
            <a:ext cx="457200" cy="45720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3</a:t>
            </a:r>
            <a:endParaRPr lang="en-US" sz="1600" dirty="0"/>
          </a:p>
        </p:txBody>
      </p:sp>
      <p:sp>
        <p:nvSpPr>
          <p:cNvPr id="46" name="Text 44"/>
          <p:cNvSpPr/>
          <p:nvPr/>
        </p:nvSpPr>
        <p:spPr>
          <a:xfrm>
            <a:off x="1463040" y="3438144"/>
            <a:ext cx="448056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Literature Survey</a:t>
            </a:r>
            <a:endParaRPr lang="en-US" sz="1600" dirty="0"/>
          </a:p>
        </p:txBody>
      </p:sp>
      <p:sp>
        <p:nvSpPr>
          <p:cNvPr id="47" name="Shape 45"/>
          <p:cNvSpPr/>
          <p:nvPr/>
        </p:nvSpPr>
        <p:spPr>
          <a:xfrm>
            <a:off x="822960" y="4123944"/>
            <a:ext cx="457200" cy="457200"/>
          </a:xfrm>
          <a:prstGeom prst="ellipse">
            <a:avLst/>
          </a:prstGeom>
          <a:solidFill>
            <a:srgbClr val="D4A017"/>
          </a:solidFill>
          <a:ln/>
        </p:spPr>
      </p:sp>
      <p:sp>
        <p:nvSpPr>
          <p:cNvPr id="48" name="Text 46"/>
          <p:cNvSpPr/>
          <p:nvPr/>
        </p:nvSpPr>
        <p:spPr>
          <a:xfrm>
            <a:off x="822960" y="4123944"/>
            <a:ext cx="457200" cy="45720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4</a:t>
            </a:r>
            <a:endParaRPr lang="en-US" sz="1600" dirty="0"/>
          </a:p>
        </p:txBody>
      </p:sp>
      <p:sp>
        <p:nvSpPr>
          <p:cNvPr id="49" name="Text 47"/>
          <p:cNvSpPr/>
          <p:nvPr/>
        </p:nvSpPr>
        <p:spPr>
          <a:xfrm>
            <a:off x="1463040" y="4096512"/>
            <a:ext cx="448056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Problem Statement &amp; Objectives</a:t>
            </a:r>
            <a:endParaRPr lang="en-US" sz="1600" dirty="0"/>
          </a:p>
        </p:txBody>
      </p:sp>
      <p:sp>
        <p:nvSpPr>
          <p:cNvPr id="50" name="Shape 48"/>
          <p:cNvSpPr/>
          <p:nvPr/>
        </p:nvSpPr>
        <p:spPr>
          <a:xfrm>
            <a:off x="6400800" y="2148840"/>
            <a:ext cx="457200" cy="457200"/>
          </a:xfrm>
          <a:prstGeom prst="ellipse">
            <a:avLst/>
          </a:prstGeom>
          <a:solidFill>
            <a:srgbClr val="D4A017"/>
          </a:solidFill>
          <a:ln/>
        </p:spPr>
      </p:sp>
      <p:sp>
        <p:nvSpPr>
          <p:cNvPr id="51" name="Text 49"/>
          <p:cNvSpPr/>
          <p:nvPr/>
        </p:nvSpPr>
        <p:spPr>
          <a:xfrm>
            <a:off x="6400800" y="2148840"/>
            <a:ext cx="457200" cy="45720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5</a:t>
            </a:r>
            <a:endParaRPr lang="en-US" sz="1600" dirty="0"/>
          </a:p>
        </p:txBody>
      </p:sp>
      <p:sp>
        <p:nvSpPr>
          <p:cNvPr id="52" name="Text 50"/>
          <p:cNvSpPr/>
          <p:nvPr/>
        </p:nvSpPr>
        <p:spPr>
          <a:xfrm>
            <a:off x="7040880" y="2121408"/>
            <a:ext cx="448056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Proposed Methodology</a:t>
            </a:r>
            <a:endParaRPr lang="en-US" sz="1600" dirty="0"/>
          </a:p>
        </p:txBody>
      </p:sp>
      <p:sp>
        <p:nvSpPr>
          <p:cNvPr id="53" name="Shape 51"/>
          <p:cNvSpPr/>
          <p:nvPr/>
        </p:nvSpPr>
        <p:spPr>
          <a:xfrm>
            <a:off x="6400800" y="2807208"/>
            <a:ext cx="457200" cy="457200"/>
          </a:xfrm>
          <a:prstGeom prst="ellipse">
            <a:avLst/>
          </a:prstGeom>
          <a:solidFill>
            <a:srgbClr val="D4A017"/>
          </a:solidFill>
          <a:ln/>
        </p:spPr>
      </p:sp>
      <p:sp>
        <p:nvSpPr>
          <p:cNvPr id="54" name="Text 52"/>
          <p:cNvSpPr/>
          <p:nvPr/>
        </p:nvSpPr>
        <p:spPr>
          <a:xfrm>
            <a:off x="6400800" y="2807208"/>
            <a:ext cx="457200" cy="45720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6</a:t>
            </a:r>
            <a:endParaRPr lang="en-US" sz="1600" dirty="0"/>
          </a:p>
        </p:txBody>
      </p:sp>
      <p:sp>
        <p:nvSpPr>
          <p:cNvPr id="55" name="Text 53"/>
          <p:cNvSpPr/>
          <p:nvPr/>
        </p:nvSpPr>
        <p:spPr>
          <a:xfrm>
            <a:off x="7040880" y="2779776"/>
            <a:ext cx="448056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Hardware &amp; Software Requirements</a:t>
            </a:r>
            <a:endParaRPr lang="en-US" sz="1600" dirty="0"/>
          </a:p>
        </p:txBody>
      </p:sp>
      <p:sp>
        <p:nvSpPr>
          <p:cNvPr id="56" name="Shape 54"/>
          <p:cNvSpPr/>
          <p:nvPr/>
        </p:nvSpPr>
        <p:spPr>
          <a:xfrm>
            <a:off x="6400800" y="3465576"/>
            <a:ext cx="457200" cy="457200"/>
          </a:xfrm>
          <a:prstGeom prst="ellipse">
            <a:avLst/>
          </a:prstGeom>
          <a:solidFill>
            <a:srgbClr val="D4A017"/>
          </a:solidFill>
          <a:ln/>
        </p:spPr>
      </p:sp>
      <p:sp>
        <p:nvSpPr>
          <p:cNvPr id="57" name="Text 55"/>
          <p:cNvSpPr/>
          <p:nvPr/>
        </p:nvSpPr>
        <p:spPr>
          <a:xfrm>
            <a:off x="6400800" y="3465576"/>
            <a:ext cx="457200" cy="45720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7</a:t>
            </a:r>
            <a:endParaRPr lang="en-US" sz="1600" dirty="0"/>
          </a:p>
        </p:txBody>
      </p:sp>
      <p:sp>
        <p:nvSpPr>
          <p:cNvPr id="58" name="Text 56"/>
          <p:cNvSpPr/>
          <p:nvPr/>
        </p:nvSpPr>
        <p:spPr>
          <a:xfrm>
            <a:off x="7040880" y="3438144"/>
            <a:ext cx="448056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Results</a:t>
            </a:r>
            <a:endParaRPr lang="en-US" sz="1600" dirty="0"/>
          </a:p>
        </p:txBody>
      </p:sp>
      <p:sp>
        <p:nvSpPr>
          <p:cNvPr id="59" name="Shape 57"/>
          <p:cNvSpPr/>
          <p:nvPr/>
        </p:nvSpPr>
        <p:spPr>
          <a:xfrm>
            <a:off x="6400800" y="4123944"/>
            <a:ext cx="457200" cy="457200"/>
          </a:xfrm>
          <a:prstGeom prst="ellipse">
            <a:avLst/>
          </a:prstGeom>
          <a:solidFill>
            <a:srgbClr val="D4A017"/>
          </a:solidFill>
          <a:ln/>
        </p:spPr>
      </p:sp>
      <p:sp>
        <p:nvSpPr>
          <p:cNvPr id="60" name="Text 58"/>
          <p:cNvSpPr/>
          <p:nvPr/>
        </p:nvSpPr>
        <p:spPr>
          <a:xfrm>
            <a:off x="6400800" y="4123944"/>
            <a:ext cx="457200" cy="45720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8</a:t>
            </a:r>
            <a:endParaRPr lang="en-US" sz="1600" dirty="0"/>
          </a:p>
        </p:txBody>
      </p:sp>
      <p:sp>
        <p:nvSpPr>
          <p:cNvPr id="61" name="Text 59"/>
          <p:cNvSpPr/>
          <p:nvPr/>
        </p:nvSpPr>
        <p:spPr>
          <a:xfrm>
            <a:off x="7040880" y="4096512"/>
            <a:ext cx="448056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Conclusion &amp; Future Scope</a:t>
            </a:r>
            <a:endParaRPr lang="en-US" sz="1600" dirty="0"/>
          </a:p>
        </p:txBody>
      </p:sp>
      <p:sp>
        <p:nvSpPr>
          <p:cNvPr id="62" name="Text 6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9C2E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FA"/>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rtlCol="0" anchor="ctr"/>
          <a:lstStyle/>
          <a:p>
            <a:pPr indent="0" marL="0">
              <a:buNone/>
            </a:pPr>
            <a:r>
              <a:rPr lang="en-US" sz="1200" b="1" spc="200" kern="0" dirty="0">
                <a:solidFill>
                  <a:srgbClr val="2D1B69"/>
                </a:solidFill>
                <a:latin typeface="Calibri" pitchFamily="34" charset="0"/>
                <a:ea typeface="Calibri" pitchFamily="34" charset="-122"/>
                <a:cs typeface="Calibri" pitchFamily="34" charset="-120"/>
              </a:rPr>
              <a:t>01  ·  ABSTRACT</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3400" b="1" dirty="0">
                <a:solidFill>
                  <a:srgbClr val="241B3A"/>
                </a:solidFill>
                <a:latin typeface="Cambria" pitchFamily="34" charset="0"/>
                <a:ea typeface="Cambria" pitchFamily="34" charset="-122"/>
                <a:cs typeface="Cambria" pitchFamily="34" charset="-120"/>
              </a:rPr>
              <a:t>Abstract</a:t>
            </a:r>
            <a:endParaRPr lang="en-US" sz="3400" dirty="0"/>
          </a:p>
        </p:txBody>
      </p:sp>
      <p:sp>
        <p:nvSpPr>
          <p:cNvPr id="4" name="Shape 2"/>
          <p:cNvSpPr/>
          <p:nvPr/>
        </p:nvSpPr>
        <p:spPr>
          <a:xfrm>
            <a:off x="640080" y="1920240"/>
            <a:ext cx="10881360" cy="3246120"/>
          </a:xfrm>
          <a:prstGeom prst="roundRect">
            <a:avLst>
              <a:gd name="adj" fmla="val 2817"/>
            </a:avLst>
          </a:prstGeom>
          <a:solidFill>
            <a:srgbClr val="FFFFFF"/>
          </a:solidFill>
          <a:ln/>
          <a:effectLst>
            <a:outerShdw sx="100000" sy="100000" kx="0" ky="0" algn="bl" rotWithShape="0" blurRad="127000" dist="38100" dir="5400000">
              <a:srgbClr val="3B2E6B">
                <a:alpha val="15000"/>
              </a:srgbClr>
            </a:outerShdw>
          </a:effectLst>
        </p:spPr>
      </p:sp>
      <p:sp>
        <p:nvSpPr>
          <p:cNvPr id="5" name="Shape 3"/>
          <p:cNvSpPr/>
          <p:nvPr/>
        </p:nvSpPr>
        <p:spPr>
          <a:xfrm>
            <a:off x="640080" y="1920240"/>
            <a:ext cx="82296" cy="3246120"/>
          </a:xfrm>
          <a:prstGeom prst="rect">
            <a:avLst/>
          </a:prstGeom>
          <a:solidFill>
            <a:srgbClr val="D4A017"/>
          </a:solidFill>
          <a:ln/>
        </p:spPr>
      </p:sp>
      <p:sp>
        <p:nvSpPr>
          <p:cNvPr id="6" name="Text 4"/>
          <p:cNvSpPr/>
          <p:nvPr/>
        </p:nvSpPr>
        <p:spPr>
          <a:xfrm>
            <a:off x="1051560" y="2240280"/>
            <a:ext cx="10149840" cy="2651760"/>
          </a:xfrm>
          <a:prstGeom prst="rect">
            <a:avLst/>
          </a:prstGeom>
          <a:noFill/>
          <a:ln/>
        </p:spPr>
        <p:txBody>
          <a:bodyPr wrap="square" rtlCol="0" anchor="ctr"/>
          <a:lstStyle/>
          <a:p>
            <a:pPr indent="0" marL="0">
              <a:lnSpc>
                <a:spcPct val="135000"/>
              </a:lnSpc>
              <a:buNone/>
            </a:pPr>
            <a:r>
              <a:rPr lang="en-US" sz="1600" dirty="0">
                <a:solidFill>
                  <a:srgbClr val="241B3A"/>
                </a:solidFill>
                <a:latin typeface="Calibri" pitchFamily="34" charset="0"/>
                <a:ea typeface="Calibri" pitchFamily="34" charset="-122"/>
                <a:cs typeface="Calibri" pitchFamily="34" charset="-120"/>
              </a:rPr>
              <a:t>This project presents a </a:t>
            </a:r>
            <a:pPr indent="0" marL="0">
              <a:lnSpc>
                <a:spcPct val="135000"/>
              </a:lnSpc>
              <a:buNone/>
            </a:pPr>
            <a:r>
              <a:rPr lang="en-US" sz="1600" b="1" dirty="0">
                <a:solidFill>
                  <a:srgbClr val="2D1B69"/>
                </a:solidFill>
                <a:latin typeface="Calibri" pitchFamily="34" charset="0"/>
                <a:ea typeface="Calibri" pitchFamily="34" charset="-122"/>
                <a:cs typeface="Calibri" pitchFamily="34" charset="-120"/>
              </a:rPr>
              <a:t>Lyrics Similarity Detection Engine</a:t>
            </a:r>
            <a:pPr indent="0" marL="0">
              <a:lnSpc>
                <a:spcPct val="135000"/>
              </a:lnSpc>
              <a:buNone/>
            </a:pPr>
            <a:r>
              <a:rPr lang="en-US" sz="1600" dirty="0">
                <a:solidFill>
                  <a:srgbClr val="241B3A"/>
                </a:solidFill>
                <a:latin typeface="Calibri" pitchFamily="34" charset="0"/>
                <a:ea typeface="Calibri" pitchFamily="34" charset="-122"/>
                <a:cs typeface="Calibri" pitchFamily="34" charset="-120"/>
              </a:rPr>
              <a:t> that compares a query song against a catalogue of song lyrics to identify similar passages and flag possible plagiarism. Built in </a:t>
            </a:r>
            <a:pPr indent="0" marL="0">
              <a:lnSpc>
                <a:spcPct val="135000"/>
              </a:lnSpc>
              <a:buNone/>
            </a:pPr>
            <a:r>
              <a:rPr lang="en-US" sz="1600" b="1" dirty="0">
                <a:solidFill>
                  <a:srgbClr val="2D1B69"/>
                </a:solidFill>
                <a:latin typeface="Calibri" pitchFamily="34" charset="0"/>
                <a:ea typeface="Calibri" pitchFamily="34" charset="-122"/>
                <a:cs typeface="Calibri" pitchFamily="34" charset="-120"/>
              </a:rPr>
              <a:t>Python</a:t>
            </a:r>
            <a:pPr indent="0" marL="0">
              <a:lnSpc>
                <a:spcPct val="135000"/>
              </a:lnSpc>
              <a:buNone/>
            </a:pPr>
            <a:r>
              <a:rPr lang="en-US" sz="1600" dirty="0">
                <a:solidFill>
                  <a:srgbClr val="241B3A"/>
                </a:solidFill>
                <a:latin typeface="Calibri" pitchFamily="34" charset="0"/>
                <a:ea typeface="Calibri" pitchFamily="34" charset="-122"/>
                <a:cs typeface="Calibri" pitchFamily="34" charset="-120"/>
              </a:rPr>
              <a:t>, the system preprocesses lyrics (lower-casing, punctuation removal, tokenisation), applies the </a:t>
            </a:r>
            <a:pPr indent="0" marL="0">
              <a:lnSpc>
                <a:spcPct val="135000"/>
              </a:lnSpc>
              <a:buNone/>
            </a:pPr>
            <a:r>
              <a:rPr lang="en-US" sz="1600" b="1" dirty="0">
                <a:solidFill>
                  <a:srgbClr val="2D1B69"/>
                </a:solidFill>
                <a:latin typeface="Calibri" pitchFamily="34" charset="0"/>
                <a:ea typeface="Calibri" pitchFamily="34" charset="-122"/>
                <a:cs typeface="Calibri" pitchFamily="34" charset="-120"/>
              </a:rPr>
              <a:t>Knuth-Morris-Pratt (KMP)</a:t>
            </a:r>
            <a:pPr indent="0" marL="0">
              <a:lnSpc>
                <a:spcPct val="135000"/>
              </a:lnSpc>
              <a:buNone/>
            </a:pPr>
            <a:r>
              <a:rPr lang="en-US" sz="1600" dirty="0">
                <a:solidFill>
                  <a:srgbClr val="241B3A"/>
                </a:solidFill>
                <a:latin typeface="Calibri" pitchFamily="34" charset="0"/>
                <a:ea typeface="Calibri" pitchFamily="34" charset="-122"/>
                <a:cs typeface="Calibri" pitchFamily="34" charset="-120"/>
              </a:rPr>
              <a:t> algorithm for efficient string matching, and computes similarity scores using measures such as </a:t>
            </a:r>
            <a:pPr indent="0" marL="0">
              <a:lnSpc>
                <a:spcPct val="135000"/>
              </a:lnSpc>
              <a:buNone/>
            </a:pPr>
            <a:r>
              <a:rPr lang="en-US" sz="1600" b="1" dirty="0">
                <a:solidFill>
                  <a:srgbClr val="2D1B69"/>
                </a:solidFill>
                <a:latin typeface="Calibri" pitchFamily="34" charset="0"/>
                <a:ea typeface="Calibri" pitchFamily="34" charset="-122"/>
                <a:cs typeface="Calibri" pitchFamily="34" charset="-120"/>
              </a:rPr>
              <a:t>Cosine Similarity</a:t>
            </a:r>
            <a:pPr indent="0" marL="0">
              <a:lnSpc>
                <a:spcPct val="135000"/>
              </a:lnSpc>
              <a:buNone/>
            </a:pPr>
            <a:r>
              <a:rPr lang="en-US" sz="1600" dirty="0">
                <a:solidFill>
                  <a:srgbClr val="241B3A"/>
                </a:solidFill>
                <a:latin typeface="Calibri" pitchFamily="34" charset="0"/>
                <a:ea typeface="Calibri" pitchFamily="34" charset="-122"/>
                <a:cs typeface="Calibri" pitchFamily="34" charset="-120"/>
              </a:rPr>
              <a:t> and </a:t>
            </a:r>
            <a:pPr indent="0" marL="0">
              <a:lnSpc>
                <a:spcPct val="135000"/>
              </a:lnSpc>
              <a:buNone/>
            </a:pPr>
            <a:r>
              <a:rPr lang="en-US" sz="1600" b="1" dirty="0">
                <a:solidFill>
                  <a:srgbClr val="2D1B69"/>
                </a:solidFill>
                <a:latin typeface="Calibri" pitchFamily="34" charset="0"/>
                <a:ea typeface="Calibri" pitchFamily="34" charset="-122"/>
                <a:cs typeface="Calibri" pitchFamily="34" charset="-120"/>
              </a:rPr>
              <a:t>Jaccard Similarity</a:t>
            </a:r>
            <a:pPr indent="0" marL="0">
              <a:lnSpc>
                <a:spcPct val="135000"/>
              </a:lnSpc>
              <a:buNone/>
            </a:pPr>
            <a:r>
              <a:rPr lang="en-US" sz="1600" dirty="0">
                <a:solidFill>
                  <a:srgbClr val="241B3A"/>
                </a:solidFill>
                <a:latin typeface="Calibri" pitchFamily="34" charset="0"/>
                <a:ea typeface="Calibri" pitchFamily="34" charset="-122"/>
                <a:cs typeface="Calibri" pitchFamily="34" charset="-120"/>
              </a:rPr>
              <a:t>. The engine reports the most likely matching song(s) along with a quantified similarity score, offering a fast, low-effort way to check song originality.</a:t>
            </a:r>
            <a:endParaRPr lang="en-US" sz="1600" dirty="0"/>
          </a:p>
        </p:txBody>
      </p:sp>
      <p:sp>
        <p:nvSpPr>
          <p:cNvPr id="7" name="Shape 5"/>
          <p:cNvSpPr/>
          <p:nvPr/>
        </p:nvSpPr>
        <p:spPr>
          <a:xfrm>
            <a:off x="640080" y="5440680"/>
            <a:ext cx="2514600" cy="502920"/>
          </a:xfrm>
          <a:prstGeom prst="roundRect">
            <a:avLst>
              <a:gd name="adj" fmla="val 50909"/>
            </a:avLst>
          </a:prstGeom>
          <a:solidFill>
            <a:srgbClr val="2D1B69"/>
          </a:solidFill>
          <a:ln/>
        </p:spPr>
      </p:sp>
      <p:sp>
        <p:nvSpPr>
          <p:cNvPr id="8" name="Text 6"/>
          <p:cNvSpPr/>
          <p:nvPr/>
        </p:nvSpPr>
        <p:spPr>
          <a:xfrm>
            <a:off x="640080" y="5440680"/>
            <a:ext cx="25146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KMP Algorithm</a:t>
            </a:r>
            <a:endParaRPr lang="en-US" sz="1200" dirty="0"/>
          </a:p>
        </p:txBody>
      </p:sp>
      <p:sp>
        <p:nvSpPr>
          <p:cNvPr id="9" name="Shape 7"/>
          <p:cNvSpPr/>
          <p:nvPr/>
        </p:nvSpPr>
        <p:spPr>
          <a:xfrm>
            <a:off x="3291840" y="5440680"/>
            <a:ext cx="2514600" cy="502920"/>
          </a:xfrm>
          <a:prstGeom prst="roundRect">
            <a:avLst>
              <a:gd name="adj" fmla="val 50909"/>
            </a:avLst>
          </a:prstGeom>
          <a:solidFill>
            <a:srgbClr val="2D1B69"/>
          </a:solidFill>
          <a:ln/>
        </p:spPr>
      </p:sp>
      <p:sp>
        <p:nvSpPr>
          <p:cNvPr id="10" name="Text 8"/>
          <p:cNvSpPr/>
          <p:nvPr/>
        </p:nvSpPr>
        <p:spPr>
          <a:xfrm>
            <a:off x="3291840" y="5440680"/>
            <a:ext cx="25146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Cosine Similarity</a:t>
            </a:r>
            <a:endParaRPr lang="en-US" sz="1200" dirty="0"/>
          </a:p>
        </p:txBody>
      </p:sp>
      <p:sp>
        <p:nvSpPr>
          <p:cNvPr id="11" name="Shape 9"/>
          <p:cNvSpPr/>
          <p:nvPr/>
        </p:nvSpPr>
        <p:spPr>
          <a:xfrm>
            <a:off x="5943600" y="5440680"/>
            <a:ext cx="2514600" cy="502920"/>
          </a:xfrm>
          <a:prstGeom prst="roundRect">
            <a:avLst>
              <a:gd name="adj" fmla="val 50909"/>
            </a:avLst>
          </a:prstGeom>
          <a:solidFill>
            <a:srgbClr val="2D1B69"/>
          </a:solidFill>
          <a:ln/>
        </p:spPr>
      </p:sp>
      <p:sp>
        <p:nvSpPr>
          <p:cNvPr id="12" name="Text 10"/>
          <p:cNvSpPr/>
          <p:nvPr/>
        </p:nvSpPr>
        <p:spPr>
          <a:xfrm>
            <a:off x="5943600" y="5440680"/>
            <a:ext cx="25146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Jaccard Similarity</a:t>
            </a:r>
            <a:endParaRPr lang="en-US" sz="1200" dirty="0"/>
          </a:p>
        </p:txBody>
      </p:sp>
      <p:sp>
        <p:nvSpPr>
          <p:cNvPr id="13" name="Shape 11"/>
          <p:cNvSpPr/>
          <p:nvPr/>
        </p:nvSpPr>
        <p:spPr>
          <a:xfrm>
            <a:off x="8595360" y="5440680"/>
            <a:ext cx="2514600" cy="502920"/>
          </a:xfrm>
          <a:prstGeom prst="roundRect">
            <a:avLst>
              <a:gd name="adj" fmla="val 50909"/>
            </a:avLst>
          </a:prstGeom>
          <a:solidFill>
            <a:srgbClr val="2D1B69"/>
          </a:solidFill>
          <a:ln/>
        </p:spPr>
      </p:sp>
      <p:sp>
        <p:nvSpPr>
          <p:cNvPr id="14" name="Text 12"/>
          <p:cNvSpPr/>
          <p:nvPr/>
        </p:nvSpPr>
        <p:spPr>
          <a:xfrm>
            <a:off x="8595360" y="5440680"/>
            <a:ext cx="25146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Python</a:t>
            </a:r>
            <a:endParaRPr lang="en-US" sz="1200" dirty="0"/>
          </a:p>
        </p:txBody>
      </p:sp>
      <p:sp>
        <p:nvSpPr>
          <p:cNvPr id="15" name="Text 13"/>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B547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FA"/>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rtlCol="0" anchor="ctr"/>
          <a:lstStyle/>
          <a:p>
            <a:pPr indent="0" marL="0">
              <a:buNone/>
            </a:pPr>
            <a:r>
              <a:rPr lang="en-US" sz="1200" b="1" spc="200" kern="0" dirty="0">
                <a:solidFill>
                  <a:srgbClr val="2D1B69"/>
                </a:solidFill>
                <a:latin typeface="Calibri" pitchFamily="34" charset="0"/>
                <a:ea typeface="Calibri" pitchFamily="34" charset="-122"/>
                <a:cs typeface="Calibri" pitchFamily="34" charset="-120"/>
              </a:rPr>
              <a:t>02  ·  INTRODUCTION</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3400" b="1" dirty="0">
                <a:solidFill>
                  <a:srgbClr val="241B3A"/>
                </a:solidFill>
                <a:latin typeface="Cambria" pitchFamily="34" charset="0"/>
                <a:ea typeface="Cambria" pitchFamily="34" charset="-122"/>
                <a:cs typeface="Cambria" pitchFamily="34" charset="-120"/>
              </a:rPr>
              <a:t>Introduction</a:t>
            </a:r>
            <a:endParaRPr lang="en-US" sz="3400" dirty="0"/>
          </a:p>
        </p:txBody>
      </p:sp>
      <p:sp>
        <p:nvSpPr>
          <p:cNvPr id="4" name="Text 2"/>
          <p:cNvSpPr/>
          <p:nvPr/>
        </p:nvSpPr>
        <p:spPr>
          <a:xfrm>
            <a:off x="640080" y="1874520"/>
            <a:ext cx="6035040" cy="2743200"/>
          </a:xfrm>
          <a:prstGeom prst="rect">
            <a:avLst/>
          </a:prstGeom>
          <a:noFill/>
          <a:ln/>
        </p:spPr>
        <p:txBody>
          <a:bodyPr wrap="square" rtlCol="0" anchor="ctr"/>
          <a:lstStyle/>
          <a:p>
            <a:pPr indent="0" marL="0">
              <a:lnSpc>
                <a:spcPct val="140000"/>
              </a:lnSpc>
              <a:buNone/>
            </a:pPr>
            <a:r>
              <a:rPr lang="en-US" sz="1550" dirty="0">
                <a:solidFill>
                  <a:srgbClr val="241B3A"/>
                </a:solidFill>
                <a:latin typeface="Calibri" pitchFamily="34" charset="0"/>
                <a:ea typeface="Calibri" pitchFamily="34" charset="-122"/>
                <a:cs typeface="Calibri" pitchFamily="34" charset="-120"/>
              </a:rPr>
              <a:t>Lyric theft and unintentional overlap are common in the music industry, and manually comparing songs for similarity is slow and error-prone. This project builds an automated engine that takes a query song's lyrics, compares them against a stored catalogue, and surfaces the closest matches with a numeric similarity score — reducing manual effort in plagiarism detection.</a:t>
            </a:r>
            <a:endParaRPr lang="en-US" sz="1550" dirty="0"/>
          </a:p>
        </p:txBody>
      </p:sp>
      <p:sp>
        <p:nvSpPr>
          <p:cNvPr id="5" name="Shape 3"/>
          <p:cNvSpPr/>
          <p:nvPr/>
        </p:nvSpPr>
        <p:spPr>
          <a:xfrm>
            <a:off x="640080" y="4809744"/>
            <a:ext cx="109728" cy="109728"/>
          </a:xfrm>
          <a:prstGeom prst="ellipse">
            <a:avLst/>
          </a:prstGeom>
          <a:solidFill>
            <a:srgbClr val="D4A017"/>
          </a:solidFill>
          <a:ln/>
        </p:spPr>
      </p:sp>
      <p:sp>
        <p:nvSpPr>
          <p:cNvPr id="6" name="Text 4"/>
          <p:cNvSpPr/>
          <p:nvPr/>
        </p:nvSpPr>
        <p:spPr>
          <a:xfrm>
            <a:off x="896112" y="4681728"/>
            <a:ext cx="5760720" cy="365760"/>
          </a:xfrm>
          <a:prstGeom prst="rect">
            <a:avLst/>
          </a:prstGeom>
          <a:noFill/>
          <a:ln/>
        </p:spPr>
        <p:txBody>
          <a:bodyPr wrap="square" rtlCol="0" anchor="ctr"/>
          <a:lstStyle/>
          <a:p>
            <a:pPr indent="0" marL="0">
              <a:buNone/>
            </a:pPr>
            <a:r>
              <a:rPr lang="en-US" sz="1300" dirty="0">
                <a:solidFill>
                  <a:srgbClr val="5B5470"/>
                </a:solidFill>
                <a:latin typeface="Calibri" pitchFamily="34" charset="0"/>
                <a:ea typeface="Calibri" pitchFamily="34" charset="-122"/>
                <a:cs typeface="Calibri" pitchFamily="34" charset="-120"/>
              </a:rPr>
              <a:t>System is implemented end-to-end in Python</a:t>
            </a:r>
            <a:endParaRPr lang="en-US" sz="1300" dirty="0"/>
          </a:p>
        </p:txBody>
      </p:sp>
      <p:sp>
        <p:nvSpPr>
          <p:cNvPr id="7" name="Shape 5"/>
          <p:cNvSpPr/>
          <p:nvPr/>
        </p:nvSpPr>
        <p:spPr>
          <a:xfrm>
            <a:off x="640080" y="5248656"/>
            <a:ext cx="109728" cy="109728"/>
          </a:xfrm>
          <a:prstGeom prst="ellipse">
            <a:avLst/>
          </a:prstGeom>
          <a:solidFill>
            <a:srgbClr val="D4A017"/>
          </a:solidFill>
          <a:ln/>
        </p:spPr>
      </p:sp>
      <p:sp>
        <p:nvSpPr>
          <p:cNvPr id="8" name="Text 6"/>
          <p:cNvSpPr/>
          <p:nvPr/>
        </p:nvSpPr>
        <p:spPr>
          <a:xfrm>
            <a:off x="896112" y="5120640"/>
            <a:ext cx="5760720" cy="365760"/>
          </a:xfrm>
          <a:prstGeom prst="rect">
            <a:avLst/>
          </a:prstGeom>
          <a:noFill/>
          <a:ln/>
        </p:spPr>
        <p:txBody>
          <a:bodyPr wrap="square" rtlCol="0" anchor="ctr"/>
          <a:lstStyle/>
          <a:p>
            <a:pPr indent="0" marL="0">
              <a:buNone/>
            </a:pPr>
            <a:r>
              <a:rPr lang="en-US" sz="1300" dirty="0">
                <a:solidFill>
                  <a:srgbClr val="5B5470"/>
                </a:solidFill>
                <a:latin typeface="Calibri" pitchFamily="34" charset="0"/>
                <a:ea typeface="Calibri" pitchFamily="34" charset="-122"/>
                <a:cs typeface="Calibri" pitchFamily="34" charset="-120"/>
              </a:rPr>
              <a:t>Lyrics are cleaned via lower-casing, punctuation removal &amp; tokenisation</a:t>
            </a:r>
            <a:endParaRPr lang="en-US" sz="1300" dirty="0"/>
          </a:p>
        </p:txBody>
      </p:sp>
      <p:sp>
        <p:nvSpPr>
          <p:cNvPr id="9" name="Shape 7"/>
          <p:cNvSpPr/>
          <p:nvPr/>
        </p:nvSpPr>
        <p:spPr>
          <a:xfrm>
            <a:off x="640080" y="5687568"/>
            <a:ext cx="109728" cy="109728"/>
          </a:xfrm>
          <a:prstGeom prst="ellipse">
            <a:avLst/>
          </a:prstGeom>
          <a:solidFill>
            <a:srgbClr val="D4A017"/>
          </a:solidFill>
          <a:ln/>
        </p:spPr>
      </p:sp>
      <p:sp>
        <p:nvSpPr>
          <p:cNvPr id="10" name="Text 8"/>
          <p:cNvSpPr/>
          <p:nvPr/>
        </p:nvSpPr>
        <p:spPr>
          <a:xfrm>
            <a:off x="896112" y="5559552"/>
            <a:ext cx="5760720" cy="365760"/>
          </a:xfrm>
          <a:prstGeom prst="rect">
            <a:avLst/>
          </a:prstGeom>
          <a:noFill/>
          <a:ln/>
        </p:spPr>
        <p:txBody>
          <a:bodyPr wrap="square" rtlCol="0" anchor="ctr"/>
          <a:lstStyle/>
          <a:p>
            <a:pPr indent="0" marL="0">
              <a:buNone/>
            </a:pPr>
            <a:r>
              <a:rPr lang="en-US" sz="1300" dirty="0">
                <a:solidFill>
                  <a:srgbClr val="5B5470"/>
                </a:solidFill>
                <a:latin typeface="Calibri" pitchFamily="34" charset="0"/>
                <a:ea typeface="Calibri" pitchFamily="34" charset="-122"/>
                <a:cs typeface="Calibri" pitchFamily="34" charset="-120"/>
              </a:rPr>
              <a:t>Comparison engine returns the best-matching song(s) with a score</a:t>
            </a:r>
            <a:endParaRPr lang="en-US" sz="1300" dirty="0"/>
          </a:p>
        </p:txBody>
      </p:sp>
      <p:sp>
        <p:nvSpPr>
          <p:cNvPr id="11" name="Shape 9"/>
          <p:cNvSpPr/>
          <p:nvPr/>
        </p:nvSpPr>
        <p:spPr>
          <a:xfrm>
            <a:off x="7086600" y="1874520"/>
            <a:ext cx="4480560" cy="4572000"/>
          </a:xfrm>
          <a:prstGeom prst="roundRect">
            <a:avLst>
              <a:gd name="adj" fmla="val 2449"/>
            </a:avLst>
          </a:prstGeom>
          <a:solidFill>
            <a:srgbClr val="2D1B69"/>
          </a:solidFill>
          <a:ln/>
        </p:spPr>
      </p:sp>
      <p:sp>
        <p:nvSpPr>
          <p:cNvPr id="12" name="Shape 10"/>
          <p:cNvSpPr/>
          <p:nvPr/>
        </p:nvSpPr>
        <p:spPr>
          <a:xfrm>
            <a:off x="9363456" y="2734056"/>
            <a:ext cx="18288" cy="18288"/>
          </a:xfrm>
          <a:prstGeom prst="ellipse">
            <a:avLst/>
          </a:prstGeom>
          <a:solidFill>
            <a:srgbClr val="D4A017">
              <a:alpha val="19000"/>
            </a:srgbClr>
          </a:solidFill>
          <a:ln/>
        </p:spPr>
      </p:sp>
      <p:sp>
        <p:nvSpPr>
          <p:cNvPr id="13" name="Shape 11"/>
          <p:cNvSpPr/>
          <p:nvPr/>
        </p:nvSpPr>
        <p:spPr>
          <a:xfrm>
            <a:off x="9387977" y="2776342"/>
            <a:ext cx="20475" cy="20475"/>
          </a:xfrm>
          <a:prstGeom prst="ellipse">
            <a:avLst/>
          </a:prstGeom>
          <a:solidFill>
            <a:srgbClr val="D4A017">
              <a:alpha val="21000"/>
            </a:srgbClr>
          </a:solidFill>
          <a:ln/>
        </p:spPr>
      </p:sp>
      <p:sp>
        <p:nvSpPr>
          <p:cNvPr id="14" name="Shape 12"/>
          <p:cNvSpPr/>
          <p:nvPr/>
        </p:nvSpPr>
        <p:spPr>
          <a:xfrm>
            <a:off x="9371336" y="2839532"/>
            <a:ext cx="22661" cy="22661"/>
          </a:xfrm>
          <a:prstGeom prst="ellipse">
            <a:avLst/>
          </a:prstGeom>
          <a:solidFill>
            <a:srgbClr val="D4A017">
              <a:alpha val="22000"/>
            </a:srgbClr>
          </a:solidFill>
          <a:ln/>
        </p:spPr>
      </p:sp>
      <p:sp>
        <p:nvSpPr>
          <p:cNvPr id="15" name="Shape 13"/>
          <p:cNvSpPr/>
          <p:nvPr/>
        </p:nvSpPr>
        <p:spPr>
          <a:xfrm>
            <a:off x="9303604" y="2889431"/>
            <a:ext cx="24848" cy="24848"/>
          </a:xfrm>
          <a:prstGeom prst="ellipse">
            <a:avLst/>
          </a:prstGeom>
          <a:solidFill>
            <a:srgbClr val="D4A017">
              <a:alpha val="24000"/>
            </a:srgbClr>
          </a:solidFill>
          <a:ln/>
        </p:spPr>
      </p:sp>
      <p:sp>
        <p:nvSpPr>
          <p:cNvPr id="16" name="Shape 14"/>
          <p:cNvSpPr/>
          <p:nvPr/>
        </p:nvSpPr>
        <p:spPr>
          <a:xfrm>
            <a:off x="9199875" y="2890458"/>
            <a:ext cx="27034" cy="27034"/>
          </a:xfrm>
          <a:prstGeom prst="ellipse">
            <a:avLst/>
          </a:prstGeom>
          <a:solidFill>
            <a:srgbClr val="D4A017">
              <a:alpha val="25000"/>
            </a:srgbClr>
          </a:solidFill>
          <a:ln/>
        </p:spPr>
      </p:sp>
      <p:sp>
        <p:nvSpPr>
          <p:cNvPr id="17" name="Shape 15"/>
          <p:cNvSpPr/>
          <p:nvPr/>
        </p:nvSpPr>
        <p:spPr>
          <a:xfrm>
            <a:off x="9097125" y="2822040"/>
            <a:ext cx="29221" cy="29221"/>
          </a:xfrm>
          <a:prstGeom prst="ellipse">
            <a:avLst/>
          </a:prstGeom>
          <a:solidFill>
            <a:srgbClr val="D4A017">
              <a:alpha val="27000"/>
            </a:srgbClr>
          </a:solidFill>
          <a:ln/>
        </p:spPr>
      </p:sp>
      <p:sp>
        <p:nvSpPr>
          <p:cNvPr id="18" name="Shape 16"/>
          <p:cNvSpPr/>
          <p:nvPr/>
        </p:nvSpPr>
        <p:spPr>
          <a:xfrm>
            <a:off x="9041381" y="2690414"/>
            <a:ext cx="31408" cy="31408"/>
          </a:xfrm>
          <a:prstGeom prst="ellipse">
            <a:avLst/>
          </a:prstGeom>
          <a:solidFill>
            <a:srgbClr val="D4A017">
              <a:alpha val="29000"/>
            </a:srgbClr>
          </a:solidFill>
          <a:ln/>
        </p:spPr>
      </p:sp>
      <p:sp>
        <p:nvSpPr>
          <p:cNvPr id="19" name="Shape 17"/>
          <p:cNvSpPr/>
          <p:nvPr/>
        </p:nvSpPr>
        <p:spPr>
          <a:xfrm>
            <a:off x="9069534" y="2530702"/>
            <a:ext cx="33594" cy="33594"/>
          </a:xfrm>
          <a:prstGeom prst="ellipse">
            <a:avLst/>
          </a:prstGeom>
          <a:solidFill>
            <a:srgbClr val="D4A017">
              <a:alpha val="30000"/>
            </a:srgbClr>
          </a:solidFill>
          <a:ln/>
        </p:spPr>
      </p:sp>
      <p:sp>
        <p:nvSpPr>
          <p:cNvPr id="20" name="Shape 18"/>
          <p:cNvSpPr/>
          <p:nvPr/>
        </p:nvSpPr>
        <p:spPr>
          <a:xfrm>
            <a:off x="9192495" y="2397526"/>
            <a:ext cx="35781" cy="35781"/>
          </a:xfrm>
          <a:prstGeom prst="ellipse">
            <a:avLst/>
          </a:prstGeom>
          <a:solidFill>
            <a:srgbClr val="D4A017">
              <a:alpha val="32000"/>
            </a:srgbClr>
          </a:solidFill>
          <a:ln/>
        </p:spPr>
      </p:sp>
      <p:sp>
        <p:nvSpPr>
          <p:cNvPr id="21" name="Shape 19"/>
          <p:cNvSpPr/>
          <p:nvPr/>
        </p:nvSpPr>
        <p:spPr>
          <a:xfrm>
            <a:off x="9386357" y="2346644"/>
            <a:ext cx="37967" cy="37967"/>
          </a:xfrm>
          <a:prstGeom prst="ellipse">
            <a:avLst/>
          </a:prstGeom>
          <a:solidFill>
            <a:srgbClr val="D4A017">
              <a:alpha val="33000"/>
            </a:srgbClr>
          </a:solidFill>
          <a:ln/>
        </p:spPr>
      </p:sp>
      <p:sp>
        <p:nvSpPr>
          <p:cNvPr id="22" name="Shape 20"/>
          <p:cNvSpPr/>
          <p:nvPr/>
        </p:nvSpPr>
        <p:spPr>
          <a:xfrm>
            <a:off x="9595801" y="2413682"/>
            <a:ext cx="40154" cy="40154"/>
          </a:xfrm>
          <a:prstGeom prst="ellipse">
            <a:avLst/>
          </a:prstGeom>
          <a:solidFill>
            <a:srgbClr val="D4A017">
              <a:alpha val="35000"/>
            </a:srgbClr>
          </a:solidFill>
          <a:ln/>
        </p:spPr>
      </p:sp>
      <p:sp>
        <p:nvSpPr>
          <p:cNvPr id="23" name="Shape 21"/>
          <p:cNvSpPr/>
          <p:nvPr/>
        </p:nvSpPr>
        <p:spPr>
          <a:xfrm>
            <a:off x="9749784" y="2597606"/>
            <a:ext cx="42341" cy="42341"/>
          </a:xfrm>
          <a:prstGeom prst="ellipse">
            <a:avLst/>
          </a:prstGeom>
          <a:solidFill>
            <a:srgbClr val="D4A017">
              <a:alpha val="36000"/>
            </a:srgbClr>
          </a:solidFill>
          <a:ln/>
        </p:spPr>
      </p:sp>
      <p:sp>
        <p:nvSpPr>
          <p:cNvPr id="24" name="Shape 22"/>
          <p:cNvSpPr/>
          <p:nvPr/>
        </p:nvSpPr>
        <p:spPr>
          <a:xfrm>
            <a:off x="9785058" y="2855550"/>
            <a:ext cx="44527" cy="44527"/>
          </a:xfrm>
          <a:prstGeom prst="ellipse">
            <a:avLst/>
          </a:prstGeom>
          <a:solidFill>
            <a:srgbClr val="D4A017">
              <a:alpha val="38000"/>
            </a:srgbClr>
          </a:solidFill>
          <a:ln/>
        </p:spPr>
      </p:sp>
      <p:sp>
        <p:nvSpPr>
          <p:cNvPr id="25" name="Shape 23"/>
          <p:cNvSpPr/>
          <p:nvPr/>
        </p:nvSpPr>
        <p:spPr>
          <a:xfrm>
            <a:off x="9669858" y="3112092"/>
            <a:ext cx="46714" cy="46714"/>
          </a:xfrm>
          <a:prstGeom prst="ellipse">
            <a:avLst/>
          </a:prstGeom>
          <a:solidFill>
            <a:srgbClr val="D4A017">
              <a:alpha val="39000"/>
            </a:srgbClr>
          </a:solidFill>
          <a:ln/>
        </p:spPr>
      </p:sp>
      <p:sp>
        <p:nvSpPr>
          <p:cNvPr id="26" name="Shape 24"/>
          <p:cNvSpPr/>
          <p:nvPr/>
        </p:nvSpPr>
        <p:spPr>
          <a:xfrm>
            <a:off x="9419312" y="3281216"/>
            <a:ext cx="48901" cy="48901"/>
          </a:xfrm>
          <a:prstGeom prst="ellipse">
            <a:avLst/>
          </a:prstGeom>
          <a:solidFill>
            <a:srgbClr val="D4A017">
              <a:alpha val="41000"/>
            </a:srgbClr>
          </a:solidFill>
          <a:ln/>
        </p:spPr>
      </p:sp>
      <p:sp>
        <p:nvSpPr>
          <p:cNvPr id="27" name="Shape 25"/>
          <p:cNvSpPr/>
          <p:nvPr/>
        </p:nvSpPr>
        <p:spPr>
          <a:xfrm>
            <a:off x="9096306" y="3294556"/>
            <a:ext cx="51087" cy="51087"/>
          </a:xfrm>
          <a:prstGeom prst="ellipse">
            <a:avLst/>
          </a:prstGeom>
          <a:solidFill>
            <a:srgbClr val="D4A017">
              <a:alpha val="43000"/>
            </a:srgbClr>
          </a:solidFill>
          <a:ln/>
        </p:spPr>
      </p:sp>
      <p:sp>
        <p:nvSpPr>
          <p:cNvPr id="28" name="Shape 26"/>
          <p:cNvSpPr/>
          <p:nvPr/>
        </p:nvSpPr>
        <p:spPr>
          <a:xfrm>
            <a:off x="8796016" y="3126782"/>
            <a:ext cx="53274" cy="53274"/>
          </a:xfrm>
          <a:prstGeom prst="ellipse">
            <a:avLst/>
          </a:prstGeom>
          <a:solidFill>
            <a:srgbClr val="D4A017">
              <a:alpha val="44000"/>
            </a:srgbClr>
          </a:solidFill>
          <a:ln/>
        </p:spPr>
      </p:sp>
      <p:sp>
        <p:nvSpPr>
          <p:cNvPr id="29" name="Shape 27"/>
          <p:cNvSpPr/>
          <p:nvPr/>
        </p:nvSpPr>
        <p:spPr>
          <a:xfrm>
            <a:off x="8617768" y="2809124"/>
            <a:ext cx="55460" cy="55460"/>
          </a:xfrm>
          <a:prstGeom prst="ellipse">
            <a:avLst/>
          </a:prstGeom>
          <a:solidFill>
            <a:srgbClr val="D4A017">
              <a:alpha val="46000"/>
            </a:srgbClr>
          </a:solidFill>
          <a:ln/>
        </p:spPr>
      </p:sp>
      <p:sp>
        <p:nvSpPr>
          <p:cNvPr id="30" name="Shape 28"/>
          <p:cNvSpPr/>
          <p:nvPr/>
        </p:nvSpPr>
        <p:spPr>
          <a:xfrm>
            <a:off x="8632568" y="2425314"/>
            <a:ext cx="57647" cy="57647"/>
          </a:xfrm>
          <a:prstGeom prst="ellipse">
            <a:avLst/>
          </a:prstGeom>
          <a:solidFill>
            <a:srgbClr val="D4A017">
              <a:alpha val="47000"/>
            </a:srgbClr>
          </a:solidFill>
          <a:ln/>
        </p:spPr>
      </p:sp>
      <p:sp>
        <p:nvSpPr>
          <p:cNvPr id="31" name="Shape 29"/>
          <p:cNvSpPr/>
          <p:nvPr/>
        </p:nvSpPr>
        <p:spPr>
          <a:xfrm>
            <a:off x="8856769" y="2089669"/>
            <a:ext cx="59834" cy="59834"/>
          </a:xfrm>
          <a:prstGeom prst="ellipse">
            <a:avLst/>
          </a:prstGeom>
          <a:solidFill>
            <a:srgbClr val="D4A017">
              <a:alpha val="49000"/>
            </a:srgbClr>
          </a:solidFill>
          <a:ln/>
        </p:spPr>
      </p:sp>
      <p:sp>
        <p:nvSpPr>
          <p:cNvPr id="32" name="Shape 30"/>
          <p:cNvSpPr/>
          <p:nvPr/>
        </p:nvSpPr>
        <p:spPr>
          <a:xfrm>
            <a:off x="9241201" y="1912964"/>
            <a:ext cx="62020" cy="62020"/>
          </a:xfrm>
          <a:prstGeom prst="ellipse">
            <a:avLst/>
          </a:prstGeom>
          <a:solidFill>
            <a:srgbClr val="D4A017">
              <a:alpha val="50000"/>
            </a:srgbClr>
          </a:solidFill>
          <a:ln/>
        </p:spPr>
      </p:sp>
      <p:sp>
        <p:nvSpPr>
          <p:cNvPr id="33" name="Shape 31"/>
          <p:cNvSpPr/>
          <p:nvPr/>
        </p:nvSpPr>
        <p:spPr>
          <a:xfrm>
            <a:off x="9680708" y="1966283"/>
            <a:ext cx="64207" cy="64207"/>
          </a:xfrm>
          <a:prstGeom prst="ellipse">
            <a:avLst/>
          </a:prstGeom>
          <a:solidFill>
            <a:srgbClr val="D4A017">
              <a:alpha val="52000"/>
            </a:srgbClr>
          </a:solidFill>
          <a:ln/>
        </p:spPr>
      </p:sp>
      <p:sp>
        <p:nvSpPr>
          <p:cNvPr id="34" name="Shape 32"/>
          <p:cNvSpPr/>
          <p:nvPr/>
        </p:nvSpPr>
        <p:spPr>
          <a:xfrm>
            <a:off x="10042694" y="2254520"/>
            <a:ext cx="66393" cy="66393"/>
          </a:xfrm>
          <a:prstGeom prst="ellipse">
            <a:avLst/>
          </a:prstGeom>
          <a:solidFill>
            <a:srgbClr val="D4A017">
              <a:alpha val="53000"/>
            </a:srgbClr>
          </a:solidFill>
          <a:ln/>
        </p:spPr>
      </p:sp>
      <p:sp>
        <p:nvSpPr>
          <p:cNvPr id="35" name="Shape 33"/>
          <p:cNvSpPr/>
          <p:nvPr/>
        </p:nvSpPr>
        <p:spPr>
          <a:xfrm>
            <a:off x="10206990" y="2708910"/>
            <a:ext cx="68580" cy="68580"/>
          </a:xfrm>
          <a:prstGeom prst="ellipse">
            <a:avLst/>
          </a:prstGeom>
          <a:solidFill>
            <a:srgbClr val="D4A017">
              <a:alpha val="55000"/>
            </a:srgbClr>
          </a:solidFill>
          <a:ln/>
        </p:spPr>
      </p:sp>
      <p:sp>
        <p:nvSpPr>
          <p:cNvPr id="36" name="Text 34"/>
          <p:cNvSpPr/>
          <p:nvPr/>
        </p:nvSpPr>
        <p:spPr>
          <a:xfrm>
            <a:off x="7406640" y="4160520"/>
            <a:ext cx="3840480" cy="274320"/>
          </a:xfrm>
          <a:prstGeom prst="rect">
            <a:avLst/>
          </a:prstGeom>
          <a:noFill/>
          <a:ln/>
        </p:spPr>
        <p:txBody>
          <a:bodyPr wrap="square" rtlCol="0" anchor="ctr"/>
          <a:lstStyle/>
          <a:p>
            <a:pPr indent="0" marL="0">
              <a:buNone/>
            </a:pPr>
            <a:r>
              <a:rPr lang="en-US" sz="1100" b="1" spc="150" kern="0" dirty="0">
                <a:solidFill>
                  <a:srgbClr val="D4A017"/>
                </a:solidFill>
                <a:latin typeface="Calibri" pitchFamily="34" charset="0"/>
                <a:ea typeface="Calibri" pitchFamily="34" charset="-122"/>
                <a:cs typeface="Calibri" pitchFamily="34" charset="-120"/>
              </a:rPr>
              <a:t>WHY IT MATTERS</a:t>
            </a:r>
            <a:endParaRPr lang="en-US" sz="1100" dirty="0"/>
          </a:p>
        </p:txBody>
      </p:sp>
      <p:sp>
        <p:nvSpPr>
          <p:cNvPr id="37" name="Text 35"/>
          <p:cNvSpPr/>
          <p:nvPr/>
        </p:nvSpPr>
        <p:spPr>
          <a:xfrm>
            <a:off x="7406640" y="4480560"/>
            <a:ext cx="3840480" cy="1737360"/>
          </a:xfrm>
          <a:prstGeom prst="rect">
            <a:avLst/>
          </a:prstGeom>
          <a:noFill/>
          <a:ln/>
        </p:spPr>
        <p:txBody>
          <a:bodyPr wrap="square" rtlCol="0" anchor="ctr"/>
          <a:lstStyle/>
          <a:p>
            <a:pPr indent="0" marL="0">
              <a:lnSpc>
                <a:spcPct val="130000"/>
              </a:lnSpc>
              <a:buNone/>
            </a:pPr>
            <a:r>
              <a:rPr lang="en-US" sz="1400" dirty="0">
                <a:solidFill>
                  <a:srgbClr val="E7E1F7"/>
                </a:solidFill>
                <a:latin typeface="Calibri" pitchFamily="34" charset="0"/>
                <a:ea typeface="Calibri" pitchFamily="34" charset="-122"/>
                <a:cs typeface="Calibri" pitchFamily="34" charset="-120"/>
              </a:rPr>
              <a:t>Protects originality, speeds up copyright checks, and gives songwriters an objective similarity score instead of a subjective ear-test.</a:t>
            </a:r>
            <a:endParaRPr lang="en-US" sz="1400" dirty="0"/>
          </a:p>
        </p:txBody>
      </p:sp>
      <p:sp>
        <p:nvSpPr>
          <p:cNvPr id="38" name="Text 3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B547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FA"/>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rtlCol="0" anchor="ctr"/>
          <a:lstStyle/>
          <a:p>
            <a:pPr indent="0" marL="0">
              <a:buNone/>
            </a:pPr>
            <a:r>
              <a:rPr lang="en-US" sz="1200" b="1" spc="200" kern="0" dirty="0">
                <a:solidFill>
                  <a:srgbClr val="2D1B69"/>
                </a:solidFill>
                <a:latin typeface="Calibri" pitchFamily="34" charset="0"/>
                <a:ea typeface="Calibri" pitchFamily="34" charset="-122"/>
                <a:cs typeface="Calibri" pitchFamily="34" charset="-120"/>
              </a:rPr>
              <a:t>03  ·  LITERATURE SURVEY</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3400" b="1" dirty="0">
                <a:solidFill>
                  <a:srgbClr val="241B3A"/>
                </a:solidFill>
                <a:latin typeface="Cambria" pitchFamily="34" charset="0"/>
                <a:ea typeface="Cambria" pitchFamily="34" charset="-122"/>
                <a:cs typeface="Cambria" pitchFamily="34" charset="-120"/>
              </a:rPr>
              <a:t>Literature Survey</a:t>
            </a:r>
            <a:endParaRPr lang="en-US" sz="3400" dirty="0"/>
          </a:p>
        </p:txBody>
      </p:sp>
      <p:sp>
        <p:nvSpPr>
          <p:cNvPr id="4" name="Text 2"/>
          <p:cNvSpPr/>
          <p:nvPr/>
        </p:nvSpPr>
        <p:spPr>
          <a:xfrm>
            <a:off x="640080" y="1965960"/>
            <a:ext cx="3337560" cy="320040"/>
          </a:xfrm>
          <a:prstGeom prst="rect">
            <a:avLst/>
          </a:prstGeom>
          <a:noFill/>
          <a:ln/>
        </p:spPr>
        <p:txBody>
          <a:bodyPr wrap="square" rtlCol="0" anchor="ctr"/>
          <a:lstStyle/>
          <a:p>
            <a:pPr indent="0" marL="0">
              <a:buNone/>
            </a:pPr>
            <a:r>
              <a:rPr lang="en-US" sz="1100" b="1" spc="100" kern="0" dirty="0">
                <a:solidFill>
                  <a:srgbClr val="2D1B69"/>
                </a:solidFill>
                <a:latin typeface="Calibri" pitchFamily="34" charset="0"/>
                <a:ea typeface="Calibri" pitchFamily="34" charset="-122"/>
                <a:cs typeface="Calibri" pitchFamily="34" charset="-120"/>
              </a:rPr>
              <a:t>FOCUS AREA</a:t>
            </a:r>
            <a:endParaRPr lang="en-US" sz="1100" dirty="0"/>
          </a:p>
        </p:txBody>
      </p:sp>
      <p:sp>
        <p:nvSpPr>
          <p:cNvPr id="5" name="Text 3"/>
          <p:cNvSpPr/>
          <p:nvPr/>
        </p:nvSpPr>
        <p:spPr>
          <a:xfrm>
            <a:off x="4160520" y="1965960"/>
            <a:ext cx="2560320" cy="320040"/>
          </a:xfrm>
          <a:prstGeom prst="rect">
            <a:avLst/>
          </a:prstGeom>
          <a:noFill/>
          <a:ln/>
        </p:spPr>
        <p:txBody>
          <a:bodyPr wrap="square" rtlCol="0" anchor="ctr"/>
          <a:lstStyle/>
          <a:p>
            <a:pPr indent="0" marL="0">
              <a:buNone/>
            </a:pPr>
            <a:r>
              <a:rPr lang="en-US" sz="1100" b="1" spc="100" kern="0" dirty="0">
                <a:solidFill>
                  <a:srgbClr val="2D1B69"/>
                </a:solidFill>
                <a:latin typeface="Calibri" pitchFamily="34" charset="0"/>
                <a:ea typeface="Calibri" pitchFamily="34" charset="-122"/>
                <a:cs typeface="Calibri" pitchFamily="34" charset="-120"/>
              </a:rPr>
              <a:t>TECHNIQUE</a:t>
            </a:r>
            <a:endParaRPr lang="en-US" sz="1100" dirty="0"/>
          </a:p>
        </p:txBody>
      </p:sp>
      <p:sp>
        <p:nvSpPr>
          <p:cNvPr id="6" name="Text 4"/>
          <p:cNvSpPr/>
          <p:nvPr/>
        </p:nvSpPr>
        <p:spPr>
          <a:xfrm>
            <a:off x="6903720" y="1965960"/>
            <a:ext cx="4617720" cy="320040"/>
          </a:xfrm>
          <a:prstGeom prst="rect">
            <a:avLst/>
          </a:prstGeom>
          <a:noFill/>
          <a:ln/>
        </p:spPr>
        <p:txBody>
          <a:bodyPr wrap="square" rtlCol="0" anchor="ctr"/>
          <a:lstStyle/>
          <a:p>
            <a:pPr indent="0" marL="0">
              <a:buNone/>
            </a:pPr>
            <a:r>
              <a:rPr lang="en-US" sz="1100" b="1" spc="100" kern="0" dirty="0">
                <a:solidFill>
                  <a:srgbClr val="2D1B69"/>
                </a:solidFill>
                <a:latin typeface="Calibri" pitchFamily="34" charset="0"/>
                <a:ea typeface="Calibri" pitchFamily="34" charset="-122"/>
                <a:cs typeface="Calibri" pitchFamily="34" charset="-120"/>
              </a:rPr>
              <a:t>KEY OBSERVATION</a:t>
            </a:r>
            <a:endParaRPr lang="en-US" sz="1100" dirty="0"/>
          </a:p>
        </p:txBody>
      </p:sp>
      <p:sp>
        <p:nvSpPr>
          <p:cNvPr id="7" name="Shape 5"/>
          <p:cNvSpPr/>
          <p:nvPr/>
        </p:nvSpPr>
        <p:spPr>
          <a:xfrm>
            <a:off x="640080" y="2350008"/>
            <a:ext cx="10881360" cy="0"/>
          </a:xfrm>
          <a:prstGeom prst="line">
            <a:avLst/>
          </a:prstGeom>
          <a:noFill/>
          <a:ln w="12700">
            <a:solidFill>
              <a:srgbClr val="8F7FD1"/>
            </a:solidFill>
            <a:prstDash val="solid"/>
          </a:ln>
        </p:spPr>
      </p:sp>
      <p:sp>
        <p:nvSpPr>
          <p:cNvPr id="8" name="Shape 6"/>
          <p:cNvSpPr/>
          <p:nvPr/>
        </p:nvSpPr>
        <p:spPr>
          <a:xfrm>
            <a:off x="640080" y="2478024"/>
            <a:ext cx="10881360" cy="932688"/>
          </a:xfrm>
          <a:prstGeom prst="rect">
            <a:avLst/>
          </a:prstGeom>
          <a:solidFill>
            <a:srgbClr val="EAE5F8"/>
          </a:solidFill>
          <a:ln/>
        </p:spPr>
      </p:sp>
      <p:sp>
        <p:nvSpPr>
          <p:cNvPr id="9" name="Text 7"/>
          <p:cNvSpPr/>
          <p:nvPr/>
        </p:nvSpPr>
        <p:spPr>
          <a:xfrm>
            <a:off x="640080" y="2532888"/>
            <a:ext cx="3337560" cy="841248"/>
          </a:xfrm>
          <a:prstGeom prst="rect">
            <a:avLst/>
          </a:prstGeom>
          <a:noFill/>
          <a:ln/>
        </p:spPr>
        <p:txBody>
          <a:bodyPr wrap="square" rtlCol="0" anchor="t"/>
          <a:lstStyle/>
          <a:p>
            <a:pPr indent="0" marL="0">
              <a:buNone/>
            </a:pPr>
            <a:r>
              <a:rPr lang="en-US" sz="1250" b="1" dirty="0">
                <a:solidFill>
                  <a:srgbClr val="241B3A"/>
                </a:solidFill>
                <a:latin typeface="Calibri" pitchFamily="34" charset="0"/>
                <a:ea typeface="Calibri" pitchFamily="34" charset="-122"/>
                <a:cs typeface="Calibri" pitchFamily="34" charset="-120"/>
              </a:rPr>
              <a:t>Exact string-matching algorithms</a:t>
            </a:r>
            <a:endParaRPr lang="en-US" sz="1250" dirty="0"/>
          </a:p>
        </p:txBody>
      </p:sp>
      <p:sp>
        <p:nvSpPr>
          <p:cNvPr id="10" name="Text 8"/>
          <p:cNvSpPr/>
          <p:nvPr/>
        </p:nvSpPr>
        <p:spPr>
          <a:xfrm>
            <a:off x="4160520" y="2532888"/>
            <a:ext cx="2560320" cy="841248"/>
          </a:xfrm>
          <a:prstGeom prst="rect">
            <a:avLst/>
          </a:prstGeom>
          <a:noFill/>
          <a:ln/>
        </p:spPr>
        <p:txBody>
          <a:bodyPr wrap="square" rtlCol="0" anchor="t"/>
          <a:lstStyle/>
          <a:p>
            <a:pPr indent="0" marL="0">
              <a:buNone/>
            </a:pPr>
            <a:r>
              <a:rPr lang="en-US" sz="1250" i="1" dirty="0">
                <a:solidFill>
                  <a:srgbClr val="2D1B69"/>
                </a:solidFill>
                <a:latin typeface="Calibri" pitchFamily="34" charset="0"/>
                <a:ea typeface="Calibri" pitchFamily="34" charset="-122"/>
                <a:cs typeface="Calibri" pitchFamily="34" charset="-120"/>
              </a:rPr>
              <a:t>KMP / Boyer-Moore</a:t>
            </a:r>
            <a:endParaRPr lang="en-US" sz="1250" dirty="0"/>
          </a:p>
        </p:txBody>
      </p:sp>
      <p:sp>
        <p:nvSpPr>
          <p:cNvPr id="11" name="Text 9"/>
          <p:cNvSpPr/>
          <p:nvPr/>
        </p:nvSpPr>
        <p:spPr>
          <a:xfrm>
            <a:off x="6903720" y="2532888"/>
            <a:ext cx="4617720" cy="841248"/>
          </a:xfrm>
          <a:prstGeom prst="rect">
            <a:avLst/>
          </a:prstGeom>
          <a:noFill/>
          <a:ln/>
        </p:spPr>
        <p:txBody>
          <a:bodyPr wrap="square" rtlCol="0" anchor="t"/>
          <a:lstStyle/>
          <a:p>
            <a:pPr indent="0" marL="0">
              <a:lnSpc>
                <a:spcPct val="115000"/>
              </a:lnSpc>
              <a:buNone/>
            </a:pPr>
            <a:r>
              <a:rPr lang="en-US" sz="1200" dirty="0">
                <a:solidFill>
                  <a:srgbClr val="5B5470"/>
                </a:solidFill>
                <a:latin typeface="Calibri" pitchFamily="34" charset="0"/>
                <a:ea typeface="Calibri" pitchFamily="34" charset="-122"/>
                <a:cs typeface="Calibri" pitchFamily="34" charset="-120"/>
              </a:rPr>
              <a:t>Efficient for locating exact repeated phrases but miss paraphrased or reordered lyrics.</a:t>
            </a:r>
            <a:endParaRPr lang="en-US" sz="1200" dirty="0"/>
          </a:p>
        </p:txBody>
      </p:sp>
      <p:sp>
        <p:nvSpPr>
          <p:cNvPr id="12" name="Text 10"/>
          <p:cNvSpPr/>
          <p:nvPr/>
        </p:nvSpPr>
        <p:spPr>
          <a:xfrm>
            <a:off x="640080" y="3465576"/>
            <a:ext cx="3337560" cy="841248"/>
          </a:xfrm>
          <a:prstGeom prst="rect">
            <a:avLst/>
          </a:prstGeom>
          <a:noFill/>
          <a:ln/>
        </p:spPr>
        <p:txBody>
          <a:bodyPr wrap="square" rtlCol="0" anchor="t"/>
          <a:lstStyle/>
          <a:p>
            <a:pPr indent="0" marL="0">
              <a:buNone/>
            </a:pPr>
            <a:r>
              <a:rPr lang="en-US" sz="1250" b="1" dirty="0">
                <a:solidFill>
                  <a:srgbClr val="241B3A"/>
                </a:solidFill>
                <a:latin typeface="Calibri" pitchFamily="34" charset="0"/>
                <a:ea typeface="Calibri" pitchFamily="34" charset="-122"/>
                <a:cs typeface="Calibri" pitchFamily="34" charset="-120"/>
              </a:rPr>
              <a:t>Vector-space text similarity</a:t>
            </a:r>
            <a:endParaRPr lang="en-US" sz="1250" dirty="0"/>
          </a:p>
        </p:txBody>
      </p:sp>
      <p:sp>
        <p:nvSpPr>
          <p:cNvPr id="13" name="Text 11"/>
          <p:cNvSpPr/>
          <p:nvPr/>
        </p:nvSpPr>
        <p:spPr>
          <a:xfrm>
            <a:off x="4160520" y="3465576"/>
            <a:ext cx="2560320" cy="841248"/>
          </a:xfrm>
          <a:prstGeom prst="rect">
            <a:avLst/>
          </a:prstGeom>
          <a:noFill/>
          <a:ln/>
        </p:spPr>
        <p:txBody>
          <a:bodyPr wrap="square" rtlCol="0" anchor="t"/>
          <a:lstStyle/>
          <a:p>
            <a:pPr indent="0" marL="0">
              <a:buNone/>
            </a:pPr>
            <a:r>
              <a:rPr lang="en-US" sz="1250" i="1" dirty="0">
                <a:solidFill>
                  <a:srgbClr val="2D1B69"/>
                </a:solidFill>
                <a:latin typeface="Calibri" pitchFamily="34" charset="0"/>
                <a:ea typeface="Calibri" pitchFamily="34" charset="-122"/>
                <a:cs typeface="Calibri" pitchFamily="34" charset="-120"/>
              </a:rPr>
              <a:t>Cosine Similarity (TF-IDF)</a:t>
            </a:r>
            <a:endParaRPr lang="en-US" sz="1250" dirty="0"/>
          </a:p>
        </p:txBody>
      </p:sp>
      <p:sp>
        <p:nvSpPr>
          <p:cNvPr id="14" name="Text 12"/>
          <p:cNvSpPr/>
          <p:nvPr/>
        </p:nvSpPr>
        <p:spPr>
          <a:xfrm>
            <a:off x="6903720" y="3465576"/>
            <a:ext cx="4617720" cy="841248"/>
          </a:xfrm>
          <a:prstGeom prst="rect">
            <a:avLst/>
          </a:prstGeom>
          <a:noFill/>
          <a:ln/>
        </p:spPr>
        <p:txBody>
          <a:bodyPr wrap="square" rtlCol="0" anchor="t"/>
          <a:lstStyle/>
          <a:p>
            <a:pPr indent="0" marL="0">
              <a:lnSpc>
                <a:spcPct val="115000"/>
              </a:lnSpc>
              <a:buNone/>
            </a:pPr>
            <a:r>
              <a:rPr lang="en-US" sz="1200" dirty="0">
                <a:solidFill>
                  <a:srgbClr val="5B5470"/>
                </a:solidFill>
                <a:latin typeface="Calibri" pitchFamily="34" charset="0"/>
                <a:ea typeface="Calibri" pitchFamily="34" charset="-122"/>
                <a:cs typeface="Calibri" pitchFamily="34" charset="-120"/>
              </a:rPr>
              <a:t>Captures overall lexical overlap between two documents; sensitive to vocabulary size.</a:t>
            </a:r>
            <a:endParaRPr lang="en-US" sz="1200" dirty="0"/>
          </a:p>
        </p:txBody>
      </p:sp>
      <p:sp>
        <p:nvSpPr>
          <p:cNvPr id="15" name="Shape 13"/>
          <p:cNvSpPr/>
          <p:nvPr/>
        </p:nvSpPr>
        <p:spPr>
          <a:xfrm>
            <a:off x="640080" y="4343400"/>
            <a:ext cx="10881360" cy="932688"/>
          </a:xfrm>
          <a:prstGeom prst="rect">
            <a:avLst/>
          </a:prstGeom>
          <a:solidFill>
            <a:srgbClr val="EAE5F8"/>
          </a:solidFill>
          <a:ln/>
        </p:spPr>
      </p:sp>
      <p:sp>
        <p:nvSpPr>
          <p:cNvPr id="16" name="Text 14"/>
          <p:cNvSpPr/>
          <p:nvPr/>
        </p:nvSpPr>
        <p:spPr>
          <a:xfrm>
            <a:off x="640080" y="4398264"/>
            <a:ext cx="3337560" cy="841248"/>
          </a:xfrm>
          <a:prstGeom prst="rect">
            <a:avLst/>
          </a:prstGeom>
          <a:noFill/>
          <a:ln/>
        </p:spPr>
        <p:txBody>
          <a:bodyPr wrap="square" rtlCol="0" anchor="t"/>
          <a:lstStyle/>
          <a:p>
            <a:pPr indent="0" marL="0">
              <a:buNone/>
            </a:pPr>
            <a:r>
              <a:rPr lang="en-US" sz="1250" b="1" dirty="0">
                <a:solidFill>
                  <a:srgbClr val="241B3A"/>
                </a:solidFill>
                <a:latin typeface="Calibri" pitchFamily="34" charset="0"/>
                <a:ea typeface="Calibri" pitchFamily="34" charset="-122"/>
                <a:cs typeface="Calibri" pitchFamily="34" charset="-120"/>
              </a:rPr>
              <a:t>Set-based similarity measures</a:t>
            </a:r>
            <a:endParaRPr lang="en-US" sz="1250" dirty="0"/>
          </a:p>
        </p:txBody>
      </p:sp>
      <p:sp>
        <p:nvSpPr>
          <p:cNvPr id="17" name="Text 15"/>
          <p:cNvSpPr/>
          <p:nvPr/>
        </p:nvSpPr>
        <p:spPr>
          <a:xfrm>
            <a:off x="4160520" y="4398264"/>
            <a:ext cx="2560320" cy="841248"/>
          </a:xfrm>
          <a:prstGeom prst="rect">
            <a:avLst/>
          </a:prstGeom>
          <a:noFill/>
          <a:ln/>
        </p:spPr>
        <p:txBody>
          <a:bodyPr wrap="square" rtlCol="0" anchor="t"/>
          <a:lstStyle/>
          <a:p>
            <a:pPr indent="0" marL="0">
              <a:buNone/>
            </a:pPr>
            <a:r>
              <a:rPr lang="en-US" sz="1250" i="1" dirty="0">
                <a:solidFill>
                  <a:srgbClr val="2D1B69"/>
                </a:solidFill>
                <a:latin typeface="Calibri" pitchFamily="34" charset="0"/>
                <a:ea typeface="Calibri" pitchFamily="34" charset="-122"/>
                <a:cs typeface="Calibri" pitchFamily="34" charset="-120"/>
              </a:rPr>
              <a:t>Jaccard Similarity</a:t>
            </a:r>
            <a:endParaRPr lang="en-US" sz="1250" dirty="0"/>
          </a:p>
        </p:txBody>
      </p:sp>
      <p:sp>
        <p:nvSpPr>
          <p:cNvPr id="18" name="Text 16"/>
          <p:cNvSpPr/>
          <p:nvPr/>
        </p:nvSpPr>
        <p:spPr>
          <a:xfrm>
            <a:off x="6903720" y="4398264"/>
            <a:ext cx="4617720" cy="841248"/>
          </a:xfrm>
          <a:prstGeom prst="rect">
            <a:avLst/>
          </a:prstGeom>
          <a:noFill/>
          <a:ln/>
        </p:spPr>
        <p:txBody>
          <a:bodyPr wrap="square" rtlCol="0" anchor="t"/>
          <a:lstStyle/>
          <a:p>
            <a:pPr indent="0" marL="0">
              <a:lnSpc>
                <a:spcPct val="115000"/>
              </a:lnSpc>
              <a:buNone/>
            </a:pPr>
            <a:r>
              <a:rPr lang="en-US" sz="1200" dirty="0">
                <a:solidFill>
                  <a:srgbClr val="5B5470"/>
                </a:solidFill>
                <a:latin typeface="Calibri" pitchFamily="34" charset="0"/>
                <a:ea typeface="Calibri" pitchFamily="34" charset="-122"/>
                <a:cs typeface="Calibri" pitchFamily="34" charset="-120"/>
              </a:rPr>
              <a:t>Simple and fast for short texts like song verses; ignores word order and frequency.</a:t>
            </a:r>
            <a:endParaRPr lang="en-US" sz="1200" dirty="0"/>
          </a:p>
        </p:txBody>
      </p:sp>
      <p:sp>
        <p:nvSpPr>
          <p:cNvPr id="19" name="Text 17"/>
          <p:cNvSpPr/>
          <p:nvPr/>
        </p:nvSpPr>
        <p:spPr>
          <a:xfrm>
            <a:off x="640080" y="5330952"/>
            <a:ext cx="3337560" cy="841248"/>
          </a:xfrm>
          <a:prstGeom prst="rect">
            <a:avLst/>
          </a:prstGeom>
          <a:noFill/>
          <a:ln/>
        </p:spPr>
        <p:txBody>
          <a:bodyPr wrap="square" rtlCol="0" anchor="t"/>
          <a:lstStyle/>
          <a:p>
            <a:pPr indent="0" marL="0">
              <a:buNone/>
            </a:pPr>
            <a:r>
              <a:rPr lang="en-US" sz="1250" b="1" dirty="0">
                <a:solidFill>
                  <a:srgbClr val="241B3A"/>
                </a:solidFill>
                <a:latin typeface="Calibri" pitchFamily="34" charset="0"/>
                <a:ea typeface="Calibri" pitchFamily="34" charset="-122"/>
                <a:cs typeface="Calibri" pitchFamily="34" charset="-120"/>
              </a:rPr>
              <a:t>Plagiarism-detection systems</a:t>
            </a:r>
            <a:endParaRPr lang="en-US" sz="1250" dirty="0"/>
          </a:p>
        </p:txBody>
      </p:sp>
      <p:sp>
        <p:nvSpPr>
          <p:cNvPr id="20" name="Text 18"/>
          <p:cNvSpPr/>
          <p:nvPr/>
        </p:nvSpPr>
        <p:spPr>
          <a:xfrm>
            <a:off x="4160520" y="5330952"/>
            <a:ext cx="2560320" cy="841248"/>
          </a:xfrm>
          <a:prstGeom prst="rect">
            <a:avLst/>
          </a:prstGeom>
          <a:noFill/>
          <a:ln/>
        </p:spPr>
        <p:txBody>
          <a:bodyPr wrap="square" rtlCol="0" anchor="t"/>
          <a:lstStyle/>
          <a:p>
            <a:pPr indent="0" marL="0">
              <a:buNone/>
            </a:pPr>
            <a:r>
              <a:rPr lang="en-US" sz="1250" i="1" dirty="0">
                <a:solidFill>
                  <a:srgbClr val="2D1B69"/>
                </a:solidFill>
                <a:latin typeface="Calibri" pitchFamily="34" charset="0"/>
                <a:ea typeface="Calibri" pitchFamily="34" charset="-122"/>
                <a:cs typeface="Calibri" pitchFamily="34" charset="-120"/>
              </a:rPr>
              <a:t>Turnitin-style tools</a:t>
            </a:r>
            <a:endParaRPr lang="en-US" sz="1250" dirty="0"/>
          </a:p>
        </p:txBody>
      </p:sp>
      <p:sp>
        <p:nvSpPr>
          <p:cNvPr id="21" name="Text 19"/>
          <p:cNvSpPr/>
          <p:nvPr/>
        </p:nvSpPr>
        <p:spPr>
          <a:xfrm>
            <a:off x="6903720" y="5330952"/>
            <a:ext cx="4617720" cy="841248"/>
          </a:xfrm>
          <a:prstGeom prst="rect">
            <a:avLst/>
          </a:prstGeom>
          <a:noFill/>
          <a:ln/>
        </p:spPr>
        <p:txBody>
          <a:bodyPr wrap="square" rtlCol="0" anchor="t"/>
          <a:lstStyle/>
          <a:p>
            <a:pPr indent="0" marL="0">
              <a:lnSpc>
                <a:spcPct val="115000"/>
              </a:lnSpc>
              <a:buNone/>
            </a:pPr>
            <a:r>
              <a:rPr lang="en-US" sz="1200" dirty="0">
                <a:solidFill>
                  <a:srgbClr val="5B5470"/>
                </a:solidFill>
                <a:latin typeface="Calibri" pitchFamily="34" charset="0"/>
                <a:ea typeface="Calibri" pitchFamily="34" charset="-122"/>
                <a:cs typeface="Calibri" pitchFamily="34" charset="-120"/>
              </a:rPr>
              <a:t>Widely used for text documents; general-purpose, not tuned for lyrical structure/rhyme.</a:t>
            </a:r>
            <a:endParaRPr lang="en-US" sz="1200" dirty="0"/>
          </a:p>
        </p:txBody>
      </p:sp>
      <p:sp>
        <p:nvSpPr>
          <p:cNvPr id="22" name="Text 2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B547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247"/>
        </a:solidFill>
      </p:bgPr>
    </p:bg>
    <p:spTree>
      <p:nvGrpSpPr>
        <p:cNvPr id="1" name=""/>
        <p:cNvGrpSpPr/>
        <p:nvPr/>
      </p:nvGrpSpPr>
      <p:grpSpPr>
        <a:xfrm>
          <a:off x="0" y="0"/>
          <a:ext cx="0" cy="0"/>
          <a:chOff x="0" y="0"/>
          <a:chExt cx="0" cy="0"/>
        </a:xfrm>
      </p:grpSpPr>
      <p:sp>
        <p:nvSpPr>
          <p:cNvPr id="2" name="Shape 0"/>
          <p:cNvSpPr/>
          <p:nvPr/>
        </p:nvSpPr>
        <p:spPr>
          <a:xfrm>
            <a:off x="11311128" y="5934456"/>
            <a:ext cx="18288" cy="18288"/>
          </a:xfrm>
          <a:prstGeom prst="ellipse">
            <a:avLst/>
          </a:prstGeom>
          <a:solidFill>
            <a:srgbClr val="8F7FD1">
              <a:alpha val="19000"/>
            </a:srgbClr>
          </a:solidFill>
          <a:ln/>
        </p:spPr>
      </p:sp>
      <p:sp>
        <p:nvSpPr>
          <p:cNvPr id="3" name="Shape 1"/>
          <p:cNvSpPr/>
          <p:nvPr/>
        </p:nvSpPr>
        <p:spPr>
          <a:xfrm>
            <a:off x="11337384" y="5971202"/>
            <a:ext cx="20022" cy="20022"/>
          </a:xfrm>
          <a:prstGeom prst="ellipse">
            <a:avLst/>
          </a:prstGeom>
          <a:solidFill>
            <a:srgbClr val="8F7FD1">
              <a:alpha val="20000"/>
            </a:srgbClr>
          </a:solidFill>
          <a:ln/>
        </p:spPr>
      </p:sp>
      <p:sp>
        <p:nvSpPr>
          <p:cNvPr id="4" name="Shape 2"/>
          <p:cNvSpPr/>
          <p:nvPr/>
        </p:nvSpPr>
        <p:spPr>
          <a:xfrm>
            <a:off x="11332134" y="6029128"/>
            <a:ext cx="21756" cy="21756"/>
          </a:xfrm>
          <a:prstGeom prst="ellipse">
            <a:avLst/>
          </a:prstGeom>
          <a:solidFill>
            <a:srgbClr val="8F7FD1">
              <a:alpha val="22000"/>
            </a:srgbClr>
          </a:solidFill>
          <a:ln/>
        </p:spPr>
      </p:sp>
      <p:sp>
        <p:nvSpPr>
          <p:cNvPr id="5" name="Shape 3"/>
          <p:cNvSpPr/>
          <p:nvPr/>
        </p:nvSpPr>
        <p:spPr>
          <a:xfrm>
            <a:off x="11284493" y="6084827"/>
            <a:ext cx="23491" cy="23491"/>
          </a:xfrm>
          <a:prstGeom prst="ellipse">
            <a:avLst/>
          </a:prstGeom>
          <a:solidFill>
            <a:srgbClr val="8F7FD1">
              <a:alpha val="23000"/>
            </a:srgbClr>
          </a:solidFill>
          <a:ln/>
        </p:spPr>
      </p:sp>
      <p:sp>
        <p:nvSpPr>
          <p:cNvPr id="6" name="Shape 4"/>
          <p:cNvSpPr/>
          <p:nvPr/>
        </p:nvSpPr>
        <p:spPr>
          <a:xfrm>
            <a:off x="11199074" y="6111094"/>
            <a:ext cx="25225" cy="25225"/>
          </a:xfrm>
          <a:prstGeom prst="ellipse">
            <a:avLst/>
          </a:prstGeom>
          <a:solidFill>
            <a:srgbClr val="8F7FD1">
              <a:alpha val="24000"/>
            </a:srgbClr>
          </a:solidFill>
          <a:ln/>
        </p:spPr>
      </p:sp>
      <p:sp>
        <p:nvSpPr>
          <p:cNvPr id="7" name="Shape 5"/>
          <p:cNvSpPr/>
          <p:nvPr/>
        </p:nvSpPr>
        <p:spPr>
          <a:xfrm>
            <a:off x="11096254" y="6086244"/>
            <a:ext cx="26959" cy="26959"/>
          </a:xfrm>
          <a:prstGeom prst="ellipse">
            <a:avLst/>
          </a:prstGeom>
          <a:solidFill>
            <a:srgbClr val="8F7FD1">
              <a:alpha val="25000"/>
            </a:srgbClr>
          </a:solidFill>
          <a:ln/>
        </p:spPr>
      </p:sp>
      <p:sp>
        <p:nvSpPr>
          <p:cNvPr id="8" name="Shape 6"/>
          <p:cNvSpPr/>
          <p:nvPr/>
        </p:nvSpPr>
        <p:spPr>
          <a:xfrm>
            <a:off x="11007296" y="6002433"/>
            <a:ext cx="28693" cy="28693"/>
          </a:xfrm>
          <a:prstGeom prst="ellipse">
            <a:avLst/>
          </a:prstGeom>
          <a:solidFill>
            <a:srgbClr val="8F7FD1">
              <a:alpha val="27000"/>
            </a:srgbClr>
          </a:solidFill>
          <a:ln/>
        </p:spPr>
      </p:sp>
      <p:sp>
        <p:nvSpPr>
          <p:cNvPr id="9" name="Shape 7"/>
          <p:cNvSpPr/>
          <p:nvPr/>
        </p:nvSpPr>
        <p:spPr>
          <a:xfrm>
            <a:off x="10965470" y="5870346"/>
            <a:ext cx="30427" cy="30427"/>
          </a:xfrm>
          <a:prstGeom prst="ellipse">
            <a:avLst/>
          </a:prstGeom>
          <a:solidFill>
            <a:srgbClr val="8F7FD1">
              <a:alpha val="28000"/>
            </a:srgbClr>
          </a:solidFill>
          <a:ln/>
        </p:spPr>
      </p:sp>
      <p:sp>
        <p:nvSpPr>
          <p:cNvPr id="10" name="Shape 8"/>
          <p:cNvSpPr/>
          <p:nvPr/>
        </p:nvSpPr>
        <p:spPr>
          <a:xfrm>
            <a:off x="10995604" y="5718554"/>
            <a:ext cx="32162" cy="32162"/>
          </a:xfrm>
          <a:prstGeom prst="ellipse">
            <a:avLst/>
          </a:prstGeom>
          <a:solidFill>
            <a:srgbClr val="8F7FD1">
              <a:alpha val="29000"/>
            </a:srgbClr>
          </a:solidFill>
          <a:ln/>
        </p:spPr>
      </p:sp>
      <p:sp>
        <p:nvSpPr>
          <p:cNvPr id="11" name="Shape 9"/>
          <p:cNvSpPr/>
          <p:nvPr/>
        </p:nvSpPr>
        <p:spPr>
          <a:xfrm>
            <a:off x="11105045" y="5587301"/>
            <a:ext cx="33896" cy="33896"/>
          </a:xfrm>
          <a:prstGeom prst="ellipse">
            <a:avLst/>
          </a:prstGeom>
          <a:solidFill>
            <a:srgbClr val="8F7FD1">
              <a:alpha val="30000"/>
            </a:srgbClr>
          </a:solidFill>
          <a:ln/>
        </p:spPr>
      </p:sp>
      <p:sp>
        <p:nvSpPr>
          <p:cNvPr id="12" name="Shape 10"/>
          <p:cNvSpPr/>
          <p:nvPr/>
        </p:nvSpPr>
        <p:spPr>
          <a:xfrm>
            <a:off x="11278843" y="5518057"/>
            <a:ext cx="35630" cy="35630"/>
          </a:xfrm>
          <a:prstGeom prst="ellipse">
            <a:avLst/>
          </a:prstGeom>
          <a:solidFill>
            <a:srgbClr val="8F7FD1">
              <a:alpha val="32000"/>
            </a:srgbClr>
          </a:solidFill>
          <a:ln/>
        </p:spPr>
      </p:sp>
      <p:sp>
        <p:nvSpPr>
          <p:cNvPr id="13" name="Shape 11"/>
          <p:cNvSpPr/>
          <p:nvPr/>
        </p:nvSpPr>
        <p:spPr>
          <a:xfrm>
            <a:off x="11480938" y="5541509"/>
            <a:ext cx="37364" cy="37364"/>
          </a:xfrm>
          <a:prstGeom prst="ellipse">
            <a:avLst/>
          </a:prstGeom>
          <a:solidFill>
            <a:srgbClr val="8F7FD1">
              <a:alpha val="33000"/>
            </a:srgbClr>
          </a:solidFill>
          <a:ln/>
        </p:spPr>
      </p:sp>
      <p:sp>
        <p:nvSpPr>
          <p:cNvPr id="14" name="Shape 12"/>
          <p:cNvSpPr/>
          <p:nvPr/>
        </p:nvSpPr>
        <p:spPr>
          <a:xfrm>
            <a:off x="11661554" y="5667280"/>
            <a:ext cx="39098" cy="39098"/>
          </a:xfrm>
          <a:prstGeom prst="ellipse">
            <a:avLst/>
          </a:prstGeom>
          <a:solidFill>
            <a:srgbClr val="8F7FD1">
              <a:alpha val="34000"/>
            </a:srgbClr>
          </a:solidFill>
          <a:ln/>
        </p:spPr>
      </p:sp>
      <p:sp>
        <p:nvSpPr>
          <p:cNvPr id="15" name="Shape 13"/>
          <p:cNvSpPr/>
          <p:nvPr/>
        </p:nvSpPr>
        <p:spPr>
          <a:xfrm>
            <a:off x="11769304" y="5878425"/>
            <a:ext cx="40833" cy="40833"/>
          </a:xfrm>
          <a:prstGeom prst="ellipse">
            <a:avLst/>
          </a:prstGeom>
          <a:solidFill>
            <a:srgbClr val="8F7FD1">
              <a:alpha val="35000"/>
            </a:srgbClr>
          </a:solidFill>
          <a:ln/>
        </p:spPr>
      </p:sp>
      <p:sp>
        <p:nvSpPr>
          <p:cNvPr id="16" name="Shape 14"/>
          <p:cNvSpPr/>
          <p:nvPr/>
        </p:nvSpPr>
        <p:spPr>
          <a:xfrm>
            <a:off x="11765087" y="6132697"/>
            <a:ext cx="42567" cy="42567"/>
          </a:xfrm>
          <a:prstGeom prst="ellipse">
            <a:avLst/>
          </a:prstGeom>
          <a:solidFill>
            <a:srgbClr val="8F7FD1">
              <a:alpha val="37000"/>
            </a:srgbClr>
          </a:solidFill>
          <a:ln/>
        </p:spPr>
      </p:sp>
      <p:sp>
        <p:nvSpPr>
          <p:cNvPr id="17" name="Shape 15"/>
          <p:cNvSpPr/>
          <p:nvPr/>
        </p:nvSpPr>
        <p:spPr>
          <a:xfrm>
            <a:off x="11634120" y="6370843"/>
            <a:ext cx="44301" cy="44301"/>
          </a:xfrm>
          <a:prstGeom prst="ellipse">
            <a:avLst/>
          </a:prstGeom>
          <a:solidFill>
            <a:srgbClr val="8F7FD1">
              <a:alpha val="38000"/>
            </a:srgbClr>
          </a:solidFill>
          <a:ln/>
        </p:spPr>
      </p:sp>
      <p:sp>
        <p:nvSpPr>
          <p:cNvPr id="18" name="Shape 16"/>
          <p:cNvSpPr/>
          <p:nvPr/>
        </p:nvSpPr>
        <p:spPr>
          <a:xfrm>
            <a:off x="11392696" y="6530347"/>
            <a:ext cx="46035" cy="46035"/>
          </a:xfrm>
          <a:prstGeom prst="ellipse">
            <a:avLst/>
          </a:prstGeom>
          <a:solidFill>
            <a:srgbClr val="8F7FD1">
              <a:alpha val="39000"/>
            </a:srgbClr>
          </a:solidFill>
          <a:ln/>
        </p:spPr>
      </p:sp>
      <p:sp>
        <p:nvSpPr>
          <p:cNvPr id="19" name="Shape 17"/>
          <p:cNvSpPr/>
          <p:nvPr/>
        </p:nvSpPr>
        <p:spPr>
          <a:xfrm>
            <a:off x="11087387" y="6561420"/>
            <a:ext cx="47770" cy="47770"/>
          </a:xfrm>
          <a:prstGeom prst="ellipse">
            <a:avLst/>
          </a:prstGeom>
          <a:solidFill>
            <a:srgbClr val="8F7FD1">
              <a:alpha val="40000"/>
            </a:srgbClr>
          </a:solidFill>
          <a:ln/>
        </p:spPr>
      </p:sp>
      <p:sp>
        <p:nvSpPr>
          <p:cNvPr id="20" name="Shape 18"/>
          <p:cNvSpPr/>
          <p:nvPr/>
        </p:nvSpPr>
        <p:spPr>
          <a:xfrm>
            <a:off x="10786232" y="6441231"/>
            <a:ext cx="49504" cy="49504"/>
          </a:xfrm>
          <a:prstGeom prst="ellipse">
            <a:avLst/>
          </a:prstGeom>
          <a:solidFill>
            <a:srgbClr val="8F7FD1">
              <a:alpha val="41000"/>
            </a:srgbClr>
          </a:solidFill>
          <a:ln/>
        </p:spPr>
      </p:sp>
      <p:sp>
        <p:nvSpPr>
          <p:cNvPr id="21" name="Shape 19"/>
          <p:cNvSpPr/>
          <p:nvPr/>
        </p:nvSpPr>
        <p:spPr>
          <a:xfrm>
            <a:off x="10563533" y="6182502"/>
            <a:ext cx="51238" cy="51238"/>
          </a:xfrm>
          <a:prstGeom prst="ellipse">
            <a:avLst/>
          </a:prstGeom>
          <a:solidFill>
            <a:srgbClr val="8F7FD1">
              <a:alpha val="43000"/>
            </a:srgbClr>
          </a:solidFill>
          <a:ln/>
        </p:spPr>
      </p:sp>
      <p:sp>
        <p:nvSpPr>
          <p:cNvPr id="22" name="Shape 20"/>
          <p:cNvSpPr/>
          <p:nvPr/>
        </p:nvSpPr>
        <p:spPr>
          <a:xfrm>
            <a:off x="10481651" y="5833761"/>
            <a:ext cx="52972" cy="52972"/>
          </a:xfrm>
          <a:prstGeom prst="ellipse">
            <a:avLst/>
          </a:prstGeom>
          <a:solidFill>
            <a:srgbClr val="8F7FD1">
              <a:alpha val="44000"/>
            </a:srgbClr>
          </a:solidFill>
          <a:ln/>
        </p:spPr>
      </p:sp>
      <p:sp>
        <p:nvSpPr>
          <p:cNvPr id="23" name="Shape 21"/>
          <p:cNvSpPr/>
          <p:nvPr/>
        </p:nvSpPr>
        <p:spPr>
          <a:xfrm>
            <a:off x="10574225" y="5470524"/>
            <a:ext cx="54706" cy="54706"/>
          </a:xfrm>
          <a:prstGeom prst="ellipse">
            <a:avLst/>
          </a:prstGeom>
          <a:solidFill>
            <a:srgbClr val="8F7FD1">
              <a:alpha val="45000"/>
            </a:srgbClr>
          </a:solidFill>
          <a:ln/>
        </p:spPr>
      </p:sp>
      <p:sp>
        <p:nvSpPr>
          <p:cNvPr id="24" name="Shape 22"/>
          <p:cNvSpPr/>
          <p:nvPr/>
        </p:nvSpPr>
        <p:spPr>
          <a:xfrm>
            <a:off x="10835199" y="5178911"/>
            <a:ext cx="56441" cy="56441"/>
          </a:xfrm>
          <a:prstGeom prst="ellipse">
            <a:avLst/>
          </a:prstGeom>
          <a:solidFill>
            <a:srgbClr val="8F7FD1">
              <a:alpha val="46000"/>
            </a:srgbClr>
          </a:solidFill>
          <a:ln/>
        </p:spPr>
      </p:sp>
      <p:sp>
        <p:nvSpPr>
          <p:cNvPr id="25" name="Shape 23"/>
          <p:cNvSpPr/>
          <p:nvPr/>
        </p:nvSpPr>
        <p:spPr>
          <a:xfrm>
            <a:off x="11216880" y="5035261"/>
            <a:ext cx="58175" cy="58175"/>
          </a:xfrm>
          <a:prstGeom prst="ellipse">
            <a:avLst/>
          </a:prstGeom>
          <a:solidFill>
            <a:srgbClr val="8F7FD1">
              <a:alpha val="48000"/>
            </a:srgbClr>
          </a:solidFill>
          <a:ln/>
        </p:spPr>
      </p:sp>
      <p:sp>
        <p:nvSpPr>
          <p:cNvPr id="26" name="Shape 24"/>
          <p:cNvSpPr/>
          <p:nvPr/>
        </p:nvSpPr>
        <p:spPr>
          <a:xfrm>
            <a:off x="11638189" y="5086543"/>
            <a:ext cx="59909" cy="59909"/>
          </a:xfrm>
          <a:prstGeom prst="ellipse">
            <a:avLst/>
          </a:prstGeom>
          <a:solidFill>
            <a:srgbClr val="8F7FD1">
              <a:alpha val="49000"/>
            </a:srgbClr>
          </a:solidFill>
          <a:ln/>
        </p:spPr>
      </p:sp>
      <p:sp>
        <p:nvSpPr>
          <p:cNvPr id="27" name="Shape 25"/>
          <p:cNvSpPr/>
          <p:nvPr/>
        </p:nvSpPr>
        <p:spPr>
          <a:xfrm>
            <a:off x="12001800" y="5336509"/>
            <a:ext cx="61643" cy="61643"/>
          </a:xfrm>
          <a:prstGeom prst="ellipse">
            <a:avLst/>
          </a:prstGeom>
          <a:solidFill>
            <a:srgbClr val="8F7FD1">
              <a:alpha val="50000"/>
            </a:srgbClr>
          </a:solidFill>
          <a:ln/>
        </p:spPr>
      </p:sp>
      <p:sp>
        <p:nvSpPr>
          <p:cNvPr id="28" name="Shape 26"/>
          <p:cNvSpPr/>
          <p:nvPr/>
        </p:nvSpPr>
        <p:spPr>
          <a:xfrm>
            <a:off x="12216550" y="5741432"/>
            <a:ext cx="63377" cy="63377"/>
          </a:xfrm>
          <a:prstGeom prst="ellipse">
            <a:avLst/>
          </a:prstGeom>
          <a:solidFill>
            <a:srgbClr val="8F7FD1">
              <a:alpha val="51000"/>
            </a:srgbClr>
          </a:solidFill>
          <a:ln/>
        </p:spPr>
      </p:sp>
      <p:sp>
        <p:nvSpPr>
          <p:cNvPr id="29" name="Shape 27"/>
          <p:cNvSpPr/>
          <p:nvPr/>
        </p:nvSpPr>
        <p:spPr>
          <a:xfrm>
            <a:off x="12219973" y="6217136"/>
            <a:ext cx="65112" cy="65112"/>
          </a:xfrm>
          <a:prstGeom prst="ellipse">
            <a:avLst/>
          </a:prstGeom>
          <a:solidFill>
            <a:srgbClr val="8F7FD1">
              <a:alpha val="53000"/>
            </a:srgbClr>
          </a:solidFill>
          <a:ln/>
        </p:spPr>
      </p:sp>
      <p:sp>
        <p:nvSpPr>
          <p:cNvPr id="30" name="Shape 28"/>
          <p:cNvSpPr/>
          <p:nvPr/>
        </p:nvSpPr>
        <p:spPr>
          <a:xfrm>
            <a:off x="11995436" y="6656356"/>
            <a:ext cx="66846" cy="66846"/>
          </a:xfrm>
          <a:prstGeom prst="ellipse">
            <a:avLst/>
          </a:prstGeom>
          <a:solidFill>
            <a:srgbClr val="8F7FD1">
              <a:alpha val="54000"/>
            </a:srgbClr>
          </a:solidFill>
          <a:ln/>
        </p:spPr>
      </p:sp>
      <p:sp>
        <p:nvSpPr>
          <p:cNvPr id="31" name="Shape 29"/>
          <p:cNvSpPr/>
          <p:nvPr/>
        </p:nvSpPr>
        <p:spPr>
          <a:xfrm>
            <a:off x="11579340" y="6952885"/>
            <a:ext cx="68580" cy="68580"/>
          </a:xfrm>
          <a:prstGeom prst="ellipse">
            <a:avLst/>
          </a:prstGeom>
          <a:solidFill>
            <a:srgbClr val="8F7FD1">
              <a:alpha val="55000"/>
            </a:srgbClr>
          </a:solidFill>
          <a:ln/>
        </p:spPr>
      </p:sp>
      <p:sp>
        <p:nvSpPr>
          <p:cNvPr id="32" name="Text 30"/>
          <p:cNvSpPr/>
          <p:nvPr/>
        </p:nvSpPr>
        <p:spPr>
          <a:xfrm>
            <a:off x="640080" y="457200"/>
            <a:ext cx="5486400" cy="365760"/>
          </a:xfrm>
          <a:prstGeom prst="rect">
            <a:avLst/>
          </a:prstGeom>
          <a:noFill/>
          <a:ln/>
        </p:spPr>
        <p:txBody>
          <a:bodyPr wrap="square"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04  ·  PROBLEM STATEMENT &amp; OBJECTIVES</a:t>
            </a:r>
            <a:endParaRPr lang="en-US" sz="1200" dirty="0"/>
          </a:p>
        </p:txBody>
      </p:sp>
      <p:sp>
        <p:nvSpPr>
          <p:cNvPr id="33" name="Text 31"/>
          <p:cNvSpPr/>
          <p:nvPr/>
        </p:nvSpPr>
        <p:spPr>
          <a:xfrm>
            <a:off x="640080" y="777240"/>
            <a:ext cx="1088136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Problem Statement &amp; Objectives</a:t>
            </a:r>
            <a:endParaRPr lang="en-US" sz="3400" dirty="0"/>
          </a:p>
        </p:txBody>
      </p:sp>
      <p:sp>
        <p:nvSpPr>
          <p:cNvPr id="34" name="Shape 32"/>
          <p:cNvSpPr/>
          <p:nvPr/>
        </p:nvSpPr>
        <p:spPr>
          <a:xfrm>
            <a:off x="640080" y="1874520"/>
            <a:ext cx="10881360" cy="1143000"/>
          </a:xfrm>
          <a:prstGeom prst="roundRect">
            <a:avLst>
              <a:gd name="adj" fmla="val 8000"/>
            </a:avLst>
          </a:prstGeom>
          <a:solidFill>
            <a:srgbClr val="281A55"/>
          </a:solidFill>
          <a:ln/>
        </p:spPr>
      </p:sp>
      <p:sp>
        <p:nvSpPr>
          <p:cNvPr id="35" name="Text 33"/>
          <p:cNvSpPr/>
          <p:nvPr/>
        </p:nvSpPr>
        <p:spPr>
          <a:xfrm>
            <a:off x="914400" y="1993392"/>
            <a:ext cx="3657600" cy="274320"/>
          </a:xfrm>
          <a:prstGeom prst="rect">
            <a:avLst/>
          </a:prstGeom>
          <a:noFill/>
          <a:ln/>
        </p:spPr>
        <p:txBody>
          <a:bodyPr wrap="square" rtlCol="0" anchor="ctr"/>
          <a:lstStyle/>
          <a:p>
            <a:pPr indent="0" marL="0">
              <a:buNone/>
            </a:pPr>
            <a:r>
              <a:rPr lang="en-US" sz="1100" b="1" spc="100" kern="0" dirty="0">
                <a:solidFill>
                  <a:srgbClr val="D4A017"/>
                </a:solidFill>
                <a:latin typeface="Calibri" pitchFamily="34" charset="0"/>
                <a:ea typeface="Calibri" pitchFamily="34" charset="-122"/>
                <a:cs typeface="Calibri" pitchFamily="34" charset="-120"/>
              </a:rPr>
              <a:t>Problem Statement</a:t>
            </a:r>
            <a:endParaRPr lang="en-US" sz="1100" dirty="0"/>
          </a:p>
        </p:txBody>
      </p:sp>
      <p:sp>
        <p:nvSpPr>
          <p:cNvPr id="36" name="Text 34"/>
          <p:cNvSpPr/>
          <p:nvPr/>
        </p:nvSpPr>
        <p:spPr>
          <a:xfrm>
            <a:off x="914400" y="2286000"/>
            <a:ext cx="10332720" cy="685800"/>
          </a:xfrm>
          <a:prstGeom prst="rect">
            <a:avLst/>
          </a:prstGeom>
          <a:noFill/>
          <a:ln/>
        </p:spPr>
        <p:txBody>
          <a:bodyPr wrap="square" rtlCol="0" anchor="ctr"/>
          <a:lstStyle/>
          <a:p>
            <a:pPr indent="0" marL="0">
              <a:lnSpc>
                <a:spcPct val="125000"/>
              </a:lnSpc>
              <a:buNone/>
            </a:pPr>
            <a:r>
              <a:rPr lang="en-US" sz="1400" dirty="0">
                <a:solidFill>
                  <a:srgbClr val="E7E1F7"/>
                </a:solidFill>
                <a:latin typeface="Calibri" pitchFamily="34" charset="0"/>
                <a:ea typeface="Calibri" pitchFamily="34" charset="-122"/>
                <a:cs typeface="Calibri" pitchFamily="34" charset="-120"/>
              </a:rPr>
              <a:t>There is no lightweight, automated way to check whether a new song's lyrics closely resemble an existing one — making plagiarism checks slow, manual, and inconsistent.</a:t>
            </a:r>
            <a:endParaRPr lang="en-US" sz="1400" dirty="0"/>
          </a:p>
        </p:txBody>
      </p:sp>
      <p:sp>
        <p:nvSpPr>
          <p:cNvPr id="37" name="Shape 35"/>
          <p:cNvSpPr/>
          <p:nvPr/>
        </p:nvSpPr>
        <p:spPr>
          <a:xfrm>
            <a:off x="640080" y="3337560"/>
            <a:ext cx="5280660" cy="1417320"/>
          </a:xfrm>
          <a:prstGeom prst="roundRect">
            <a:avLst>
              <a:gd name="adj" fmla="val 6452"/>
            </a:avLst>
          </a:prstGeom>
          <a:solidFill>
            <a:srgbClr val="281A55"/>
          </a:solidFill>
          <a:ln/>
        </p:spPr>
      </p:sp>
      <p:sp>
        <p:nvSpPr>
          <p:cNvPr id="38" name="Shape 36"/>
          <p:cNvSpPr/>
          <p:nvPr/>
        </p:nvSpPr>
        <p:spPr>
          <a:xfrm>
            <a:off x="868680" y="3611880"/>
            <a:ext cx="502920" cy="502920"/>
          </a:xfrm>
          <a:prstGeom prst="ellipse">
            <a:avLst/>
          </a:prstGeom>
          <a:solidFill>
            <a:srgbClr val="D4A017"/>
          </a:solidFill>
          <a:ln/>
        </p:spPr>
      </p:sp>
      <p:sp>
        <p:nvSpPr>
          <p:cNvPr id="39" name="Text 37"/>
          <p:cNvSpPr/>
          <p:nvPr/>
        </p:nvSpPr>
        <p:spPr>
          <a:xfrm>
            <a:off x="868680" y="3611880"/>
            <a:ext cx="502920" cy="50292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1</a:t>
            </a:r>
            <a:endParaRPr lang="en-US" sz="1600" dirty="0"/>
          </a:p>
        </p:txBody>
      </p:sp>
      <p:sp>
        <p:nvSpPr>
          <p:cNvPr id="40" name="Text 38"/>
          <p:cNvSpPr/>
          <p:nvPr/>
        </p:nvSpPr>
        <p:spPr>
          <a:xfrm>
            <a:off x="1554480" y="3502152"/>
            <a:ext cx="4137660" cy="1097280"/>
          </a:xfrm>
          <a:prstGeom prst="rect">
            <a:avLst/>
          </a:prstGeom>
          <a:noFill/>
          <a:ln/>
        </p:spPr>
        <p:txBody>
          <a:bodyPr wrap="square" rtlCol="0" anchor="ctr"/>
          <a:lstStyle/>
          <a:p>
            <a:pPr indent="0" marL="0">
              <a:lnSpc>
                <a:spcPct val="120000"/>
              </a:lnSpc>
              <a:buNone/>
            </a:pPr>
            <a:r>
              <a:rPr lang="en-US" sz="1350" dirty="0">
                <a:solidFill>
                  <a:srgbClr val="FFFFFF"/>
                </a:solidFill>
                <a:latin typeface="Calibri" pitchFamily="34" charset="0"/>
                <a:ea typeface="Calibri" pitchFamily="34" charset="-122"/>
                <a:cs typeface="Calibri" pitchFamily="34" charset="-120"/>
              </a:rPr>
              <a:t>Preprocess and normalise raw song lyrics for reliable comparison</a:t>
            </a:r>
            <a:endParaRPr lang="en-US" sz="1350" dirty="0"/>
          </a:p>
        </p:txBody>
      </p:sp>
      <p:sp>
        <p:nvSpPr>
          <p:cNvPr id="41" name="Shape 39"/>
          <p:cNvSpPr/>
          <p:nvPr/>
        </p:nvSpPr>
        <p:spPr>
          <a:xfrm>
            <a:off x="6240780" y="3337560"/>
            <a:ext cx="5280660" cy="1417320"/>
          </a:xfrm>
          <a:prstGeom prst="roundRect">
            <a:avLst>
              <a:gd name="adj" fmla="val 6452"/>
            </a:avLst>
          </a:prstGeom>
          <a:solidFill>
            <a:srgbClr val="281A55"/>
          </a:solidFill>
          <a:ln/>
        </p:spPr>
      </p:sp>
      <p:sp>
        <p:nvSpPr>
          <p:cNvPr id="42" name="Shape 40"/>
          <p:cNvSpPr/>
          <p:nvPr/>
        </p:nvSpPr>
        <p:spPr>
          <a:xfrm>
            <a:off x="6469380" y="3611880"/>
            <a:ext cx="502920" cy="502920"/>
          </a:xfrm>
          <a:prstGeom prst="ellipse">
            <a:avLst/>
          </a:prstGeom>
          <a:solidFill>
            <a:srgbClr val="D4A017"/>
          </a:solidFill>
          <a:ln/>
        </p:spPr>
      </p:sp>
      <p:sp>
        <p:nvSpPr>
          <p:cNvPr id="43" name="Text 41"/>
          <p:cNvSpPr/>
          <p:nvPr/>
        </p:nvSpPr>
        <p:spPr>
          <a:xfrm>
            <a:off x="6469380" y="3611880"/>
            <a:ext cx="502920" cy="50292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2</a:t>
            </a:r>
            <a:endParaRPr lang="en-US" sz="1600" dirty="0"/>
          </a:p>
        </p:txBody>
      </p:sp>
      <p:sp>
        <p:nvSpPr>
          <p:cNvPr id="44" name="Text 42"/>
          <p:cNvSpPr/>
          <p:nvPr/>
        </p:nvSpPr>
        <p:spPr>
          <a:xfrm>
            <a:off x="7155180" y="3502152"/>
            <a:ext cx="4137660" cy="1097280"/>
          </a:xfrm>
          <a:prstGeom prst="rect">
            <a:avLst/>
          </a:prstGeom>
          <a:noFill/>
          <a:ln/>
        </p:spPr>
        <p:txBody>
          <a:bodyPr wrap="square" rtlCol="0" anchor="ctr"/>
          <a:lstStyle/>
          <a:p>
            <a:pPr indent="0" marL="0">
              <a:lnSpc>
                <a:spcPct val="120000"/>
              </a:lnSpc>
              <a:buNone/>
            </a:pPr>
            <a:r>
              <a:rPr lang="en-US" sz="1350" dirty="0">
                <a:solidFill>
                  <a:srgbClr val="FFFFFF"/>
                </a:solidFill>
                <a:latin typeface="Calibri" pitchFamily="34" charset="0"/>
                <a:ea typeface="Calibri" pitchFamily="34" charset="-122"/>
                <a:cs typeface="Calibri" pitchFamily="34" charset="-120"/>
              </a:rPr>
              <a:t>Implement KMP-based string matching for exact substring detection</a:t>
            </a:r>
            <a:endParaRPr lang="en-US" sz="1350" dirty="0"/>
          </a:p>
        </p:txBody>
      </p:sp>
      <p:sp>
        <p:nvSpPr>
          <p:cNvPr id="45" name="Shape 43"/>
          <p:cNvSpPr/>
          <p:nvPr/>
        </p:nvSpPr>
        <p:spPr>
          <a:xfrm>
            <a:off x="640080" y="5029200"/>
            <a:ext cx="5280660" cy="1417320"/>
          </a:xfrm>
          <a:prstGeom prst="roundRect">
            <a:avLst>
              <a:gd name="adj" fmla="val 6452"/>
            </a:avLst>
          </a:prstGeom>
          <a:solidFill>
            <a:srgbClr val="281A55"/>
          </a:solidFill>
          <a:ln/>
        </p:spPr>
      </p:sp>
      <p:sp>
        <p:nvSpPr>
          <p:cNvPr id="46" name="Shape 44"/>
          <p:cNvSpPr/>
          <p:nvPr/>
        </p:nvSpPr>
        <p:spPr>
          <a:xfrm>
            <a:off x="868680" y="5303520"/>
            <a:ext cx="502920" cy="502920"/>
          </a:xfrm>
          <a:prstGeom prst="ellipse">
            <a:avLst/>
          </a:prstGeom>
          <a:solidFill>
            <a:srgbClr val="D4A017"/>
          </a:solidFill>
          <a:ln/>
        </p:spPr>
      </p:sp>
      <p:sp>
        <p:nvSpPr>
          <p:cNvPr id="47" name="Text 45"/>
          <p:cNvSpPr/>
          <p:nvPr/>
        </p:nvSpPr>
        <p:spPr>
          <a:xfrm>
            <a:off x="868680" y="5303520"/>
            <a:ext cx="502920" cy="50292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3</a:t>
            </a:r>
            <a:endParaRPr lang="en-US" sz="1600" dirty="0"/>
          </a:p>
        </p:txBody>
      </p:sp>
      <p:sp>
        <p:nvSpPr>
          <p:cNvPr id="48" name="Text 46"/>
          <p:cNvSpPr/>
          <p:nvPr/>
        </p:nvSpPr>
        <p:spPr>
          <a:xfrm>
            <a:off x="1554480" y="5193792"/>
            <a:ext cx="4137660" cy="1097280"/>
          </a:xfrm>
          <a:prstGeom prst="rect">
            <a:avLst/>
          </a:prstGeom>
          <a:noFill/>
          <a:ln/>
        </p:spPr>
        <p:txBody>
          <a:bodyPr wrap="square" rtlCol="0" anchor="ctr"/>
          <a:lstStyle/>
          <a:p>
            <a:pPr indent="0" marL="0">
              <a:lnSpc>
                <a:spcPct val="120000"/>
              </a:lnSpc>
              <a:buNone/>
            </a:pPr>
            <a:r>
              <a:rPr lang="en-US" sz="1350" dirty="0">
                <a:solidFill>
                  <a:srgbClr val="FFFFFF"/>
                </a:solidFill>
                <a:latin typeface="Calibri" pitchFamily="34" charset="0"/>
                <a:ea typeface="Calibri" pitchFamily="34" charset="-122"/>
                <a:cs typeface="Calibri" pitchFamily="34" charset="-120"/>
              </a:rPr>
              <a:t>Compute similarity scores using Cosine &amp; Jaccard similarity</a:t>
            </a:r>
            <a:endParaRPr lang="en-US" sz="1350" dirty="0"/>
          </a:p>
        </p:txBody>
      </p:sp>
      <p:sp>
        <p:nvSpPr>
          <p:cNvPr id="49" name="Shape 47"/>
          <p:cNvSpPr/>
          <p:nvPr/>
        </p:nvSpPr>
        <p:spPr>
          <a:xfrm>
            <a:off x="6240780" y="5029200"/>
            <a:ext cx="5280660" cy="1417320"/>
          </a:xfrm>
          <a:prstGeom prst="roundRect">
            <a:avLst>
              <a:gd name="adj" fmla="val 6452"/>
            </a:avLst>
          </a:prstGeom>
          <a:solidFill>
            <a:srgbClr val="281A55"/>
          </a:solidFill>
          <a:ln/>
        </p:spPr>
      </p:sp>
      <p:sp>
        <p:nvSpPr>
          <p:cNvPr id="50" name="Shape 48"/>
          <p:cNvSpPr/>
          <p:nvPr/>
        </p:nvSpPr>
        <p:spPr>
          <a:xfrm>
            <a:off x="6469380" y="5303520"/>
            <a:ext cx="502920" cy="502920"/>
          </a:xfrm>
          <a:prstGeom prst="ellipse">
            <a:avLst/>
          </a:prstGeom>
          <a:solidFill>
            <a:srgbClr val="D4A017"/>
          </a:solidFill>
          <a:ln/>
        </p:spPr>
      </p:sp>
      <p:sp>
        <p:nvSpPr>
          <p:cNvPr id="51" name="Text 49"/>
          <p:cNvSpPr/>
          <p:nvPr/>
        </p:nvSpPr>
        <p:spPr>
          <a:xfrm>
            <a:off x="6469380" y="5303520"/>
            <a:ext cx="502920" cy="502920"/>
          </a:xfrm>
          <a:prstGeom prst="rect">
            <a:avLst/>
          </a:prstGeom>
          <a:noFill/>
          <a:ln/>
        </p:spPr>
        <p:txBody>
          <a:bodyPr wrap="square" rtlCol="0" anchor="ctr"/>
          <a:lstStyle/>
          <a:p>
            <a:pPr algn="ctr" indent="0" marL="0">
              <a:buNone/>
            </a:pPr>
            <a:r>
              <a:rPr lang="en-US" sz="1600" b="1" dirty="0">
                <a:solidFill>
                  <a:srgbClr val="1E1247"/>
                </a:solidFill>
                <a:latin typeface="Calibri" pitchFamily="34" charset="0"/>
                <a:ea typeface="Calibri" pitchFamily="34" charset="-122"/>
                <a:cs typeface="Calibri" pitchFamily="34" charset="-120"/>
              </a:rPr>
              <a:t>4</a:t>
            </a:r>
            <a:endParaRPr lang="en-US" sz="1600" dirty="0"/>
          </a:p>
        </p:txBody>
      </p:sp>
      <p:sp>
        <p:nvSpPr>
          <p:cNvPr id="52" name="Text 50"/>
          <p:cNvSpPr/>
          <p:nvPr/>
        </p:nvSpPr>
        <p:spPr>
          <a:xfrm>
            <a:off x="7155180" y="5193792"/>
            <a:ext cx="4137660" cy="1097280"/>
          </a:xfrm>
          <a:prstGeom prst="rect">
            <a:avLst/>
          </a:prstGeom>
          <a:noFill/>
          <a:ln/>
        </p:spPr>
        <p:txBody>
          <a:bodyPr wrap="square" rtlCol="0" anchor="ctr"/>
          <a:lstStyle/>
          <a:p>
            <a:pPr indent="0" marL="0">
              <a:lnSpc>
                <a:spcPct val="120000"/>
              </a:lnSpc>
              <a:buNone/>
            </a:pPr>
            <a:r>
              <a:rPr lang="en-US" sz="1350" dirty="0">
                <a:solidFill>
                  <a:srgbClr val="FFFFFF"/>
                </a:solidFill>
                <a:latin typeface="Calibri" pitchFamily="34" charset="0"/>
                <a:ea typeface="Calibri" pitchFamily="34" charset="-122"/>
                <a:cs typeface="Calibri" pitchFamily="34" charset="-120"/>
              </a:rPr>
              <a:t>Rank and report the closest matching song(s) from the catalogue</a:t>
            </a:r>
            <a:endParaRPr lang="en-US" sz="1350" dirty="0"/>
          </a:p>
        </p:txBody>
      </p:sp>
      <p:sp>
        <p:nvSpPr>
          <p:cNvPr id="53" name="Text 51"/>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9C2E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FA"/>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rtlCol="0" anchor="ctr"/>
          <a:lstStyle/>
          <a:p>
            <a:pPr indent="0" marL="0">
              <a:buNone/>
            </a:pPr>
            <a:r>
              <a:rPr lang="en-US" sz="1200" b="1" spc="200" kern="0" dirty="0">
                <a:solidFill>
                  <a:srgbClr val="2D1B69"/>
                </a:solidFill>
                <a:latin typeface="Calibri" pitchFamily="34" charset="0"/>
                <a:ea typeface="Calibri" pitchFamily="34" charset="-122"/>
                <a:cs typeface="Calibri" pitchFamily="34" charset="-120"/>
              </a:rPr>
              <a:t>05  ·  PROPOSED METHODOLOGY</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3400" b="1" dirty="0">
                <a:solidFill>
                  <a:srgbClr val="241B3A"/>
                </a:solidFill>
                <a:latin typeface="Cambria" pitchFamily="34" charset="0"/>
                <a:ea typeface="Cambria" pitchFamily="34" charset="-122"/>
                <a:cs typeface="Cambria" pitchFamily="34" charset="-120"/>
              </a:rPr>
              <a:t>Proposed Methodology</a:t>
            </a:r>
            <a:endParaRPr lang="en-US" sz="3400" dirty="0"/>
          </a:p>
        </p:txBody>
      </p:sp>
      <p:sp>
        <p:nvSpPr>
          <p:cNvPr id="4" name="Shape 2"/>
          <p:cNvSpPr/>
          <p:nvPr/>
        </p:nvSpPr>
        <p:spPr>
          <a:xfrm>
            <a:off x="1600200" y="3246120"/>
            <a:ext cx="8961120" cy="0"/>
          </a:xfrm>
          <a:prstGeom prst="line">
            <a:avLst/>
          </a:prstGeom>
          <a:noFill/>
          <a:ln w="25400">
            <a:solidFill>
              <a:srgbClr val="C9BEE9"/>
            </a:solidFill>
            <a:prstDash val="dash"/>
          </a:ln>
        </p:spPr>
      </p:sp>
      <p:sp>
        <p:nvSpPr>
          <p:cNvPr id="5" name="Shape 3"/>
          <p:cNvSpPr/>
          <p:nvPr/>
        </p:nvSpPr>
        <p:spPr>
          <a:xfrm>
            <a:off x="1307592" y="2743200"/>
            <a:ext cx="585216" cy="585216"/>
          </a:xfrm>
          <a:prstGeom prst="ellipse">
            <a:avLst/>
          </a:prstGeom>
          <a:solidFill>
            <a:srgbClr val="2D1B69"/>
          </a:solidFill>
          <a:ln/>
        </p:spPr>
      </p:sp>
      <p:sp>
        <p:nvSpPr>
          <p:cNvPr id="6" name="Text 4"/>
          <p:cNvSpPr/>
          <p:nvPr/>
        </p:nvSpPr>
        <p:spPr>
          <a:xfrm>
            <a:off x="1307592" y="2743200"/>
            <a:ext cx="585216" cy="585216"/>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Shape 5"/>
          <p:cNvSpPr/>
          <p:nvPr/>
        </p:nvSpPr>
        <p:spPr>
          <a:xfrm>
            <a:off x="640080" y="3611880"/>
            <a:ext cx="1920240" cy="1508760"/>
          </a:xfrm>
          <a:prstGeom prst="roundRect">
            <a:avLst>
              <a:gd name="adj" fmla="val 4848"/>
            </a:avLst>
          </a:prstGeom>
          <a:solidFill>
            <a:srgbClr val="FFFFFF"/>
          </a:solidFill>
          <a:ln/>
          <a:effectLst>
            <a:outerShdw sx="100000" sy="100000" kx="0" ky="0" algn="bl" rotWithShape="0" blurRad="101600" dist="25400" dir="5400000">
              <a:srgbClr val="3B2E6B">
                <a:alpha val="14000"/>
              </a:srgbClr>
            </a:outerShdw>
          </a:effectLst>
        </p:spPr>
      </p:sp>
      <p:sp>
        <p:nvSpPr>
          <p:cNvPr id="8" name="Text 6"/>
          <p:cNvSpPr/>
          <p:nvPr/>
        </p:nvSpPr>
        <p:spPr>
          <a:xfrm>
            <a:off x="749808" y="3730752"/>
            <a:ext cx="1700784" cy="320040"/>
          </a:xfrm>
          <a:prstGeom prst="rect">
            <a:avLst/>
          </a:prstGeom>
          <a:noFill/>
          <a:ln/>
        </p:spPr>
        <p:txBody>
          <a:bodyPr wrap="square" rtlCol="0" anchor="ctr"/>
          <a:lstStyle/>
          <a:p>
            <a:pPr algn="ctr" indent="0" marL="0">
              <a:buNone/>
            </a:pPr>
            <a:r>
              <a:rPr lang="en-US" sz="1400" b="1" dirty="0">
                <a:solidFill>
                  <a:srgbClr val="2D1B69"/>
                </a:solidFill>
                <a:latin typeface="Cambria" pitchFamily="34" charset="0"/>
                <a:ea typeface="Cambria" pitchFamily="34" charset="-122"/>
                <a:cs typeface="Cambria" pitchFamily="34" charset="-120"/>
              </a:rPr>
              <a:t>Input</a:t>
            </a:r>
            <a:endParaRPr lang="en-US" sz="1400" dirty="0"/>
          </a:p>
        </p:txBody>
      </p:sp>
      <p:sp>
        <p:nvSpPr>
          <p:cNvPr id="9" name="Text 7"/>
          <p:cNvSpPr/>
          <p:nvPr/>
        </p:nvSpPr>
        <p:spPr>
          <a:xfrm>
            <a:off x="777240" y="4041648"/>
            <a:ext cx="1645920" cy="1005840"/>
          </a:xfrm>
          <a:prstGeom prst="rect">
            <a:avLst/>
          </a:prstGeom>
          <a:noFill/>
          <a:ln/>
        </p:spPr>
        <p:txBody>
          <a:bodyPr wrap="square" rtlCol="0" anchor="ctr"/>
          <a:lstStyle/>
          <a:p>
            <a:pPr algn="ctr" indent="0" marL="0">
              <a:lnSpc>
                <a:spcPct val="120000"/>
              </a:lnSpc>
              <a:buNone/>
            </a:pPr>
            <a:r>
              <a:rPr lang="en-US" sz="1050" dirty="0">
                <a:solidFill>
                  <a:srgbClr val="5B5470"/>
                </a:solidFill>
                <a:latin typeface="Calibri" pitchFamily="34" charset="0"/>
                <a:ea typeface="Calibri" pitchFamily="34" charset="-122"/>
                <a:cs typeface="Calibri" pitchFamily="34" charset="-120"/>
              </a:rPr>
              <a:t>Collect query song lyrics and the reference catalogue</a:t>
            </a:r>
            <a:endParaRPr lang="en-US" sz="1050" dirty="0"/>
          </a:p>
        </p:txBody>
      </p:sp>
      <p:sp>
        <p:nvSpPr>
          <p:cNvPr id="10" name="Shape 8"/>
          <p:cNvSpPr/>
          <p:nvPr/>
        </p:nvSpPr>
        <p:spPr>
          <a:xfrm>
            <a:off x="3547872" y="2743200"/>
            <a:ext cx="585216" cy="585216"/>
          </a:xfrm>
          <a:prstGeom prst="ellipse">
            <a:avLst/>
          </a:prstGeom>
          <a:solidFill>
            <a:srgbClr val="2D1B69"/>
          </a:solidFill>
          <a:ln/>
        </p:spPr>
      </p:sp>
      <p:sp>
        <p:nvSpPr>
          <p:cNvPr id="11" name="Text 9"/>
          <p:cNvSpPr/>
          <p:nvPr/>
        </p:nvSpPr>
        <p:spPr>
          <a:xfrm>
            <a:off x="3547872" y="2743200"/>
            <a:ext cx="585216" cy="585216"/>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Shape 10"/>
          <p:cNvSpPr/>
          <p:nvPr/>
        </p:nvSpPr>
        <p:spPr>
          <a:xfrm>
            <a:off x="2880360" y="3611880"/>
            <a:ext cx="1920240" cy="1508760"/>
          </a:xfrm>
          <a:prstGeom prst="roundRect">
            <a:avLst>
              <a:gd name="adj" fmla="val 4848"/>
            </a:avLst>
          </a:prstGeom>
          <a:solidFill>
            <a:srgbClr val="FFFFFF"/>
          </a:solidFill>
          <a:ln/>
          <a:effectLst>
            <a:outerShdw sx="100000" sy="100000" kx="0" ky="0" algn="bl" rotWithShape="0" blurRad="101600" dist="25400" dir="5400000">
              <a:srgbClr val="3B2E6B">
                <a:alpha val="14000"/>
              </a:srgbClr>
            </a:outerShdw>
          </a:effectLst>
        </p:spPr>
      </p:sp>
      <p:sp>
        <p:nvSpPr>
          <p:cNvPr id="13" name="Text 11"/>
          <p:cNvSpPr/>
          <p:nvPr/>
        </p:nvSpPr>
        <p:spPr>
          <a:xfrm>
            <a:off x="2990088" y="3730752"/>
            <a:ext cx="1700784" cy="320040"/>
          </a:xfrm>
          <a:prstGeom prst="rect">
            <a:avLst/>
          </a:prstGeom>
          <a:noFill/>
          <a:ln/>
        </p:spPr>
        <p:txBody>
          <a:bodyPr wrap="square" rtlCol="0" anchor="ctr"/>
          <a:lstStyle/>
          <a:p>
            <a:pPr algn="ctr" indent="0" marL="0">
              <a:buNone/>
            </a:pPr>
            <a:r>
              <a:rPr lang="en-US" sz="1400" b="1" dirty="0">
                <a:solidFill>
                  <a:srgbClr val="2D1B69"/>
                </a:solidFill>
                <a:latin typeface="Cambria" pitchFamily="34" charset="0"/>
                <a:ea typeface="Cambria" pitchFamily="34" charset="-122"/>
                <a:cs typeface="Cambria" pitchFamily="34" charset="-120"/>
              </a:rPr>
              <a:t>Preprocess</a:t>
            </a:r>
            <a:endParaRPr lang="en-US" sz="1400" dirty="0"/>
          </a:p>
        </p:txBody>
      </p:sp>
      <p:sp>
        <p:nvSpPr>
          <p:cNvPr id="14" name="Text 12"/>
          <p:cNvSpPr/>
          <p:nvPr/>
        </p:nvSpPr>
        <p:spPr>
          <a:xfrm>
            <a:off x="3017520" y="4041648"/>
            <a:ext cx="1645920" cy="1005840"/>
          </a:xfrm>
          <a:prstGeom prst="rect">
            <a:avLst/>
          </a:prstGeom>
          <a:noFill/>
          <a:ln/>
        </p:spPr>
        <p:txBody>
          <a:bodyPr wrap="square" rtlCol="0" anchor="ctr"/>
          <a:lstStyle/>
          <a:p>
            <a:pPr algn="ctr" indent="0" marL="0">
              <a:lnSpc>
                <a:spcPct val="120000"/>
              </a:lnSpc>
              <a:buNone/>
            </a:pPr>
            <a:r>
              <a:rPr lang="en-US" sz="1050" dirty="0">
                <a:solidFill>
                  <a:srgbClr val="5B5470"/>
                </a:solidFill>
                <a:latin typeface="Calibri" pitchFamily="34" charset="0"/>
                <a:ea typeface="Calibri" pitchFamily="34" charset="-122"/>
                <a:cs typeface="Calibri" pitchFamily="34" charset="-120"/>
              </a:rPr>
              <a:t>Lower-case, strip punctuation, tokenise the text</a:t>
            </a:r>
            <a:endParaRPr lang="en-US" sz="1050" dirty="0"/>
          </a:p>
        </p:txBody>
      </p:sp>
      <p:sp>
        <p:nvSpPr>
          <p:cNvPr id="15" name="Shape 13"/>
          <p:cNvSpPr/>
          <p:nvPr/>
        </p:nvSpPr>
        <p:spPr>
          <a:xfrm>
            <a:off x="5788152" y="2743200"/>
            <a:ext cx="585216" cy="585216"/>
          </a:xfrm>
          <a:prstGeom prst="ellipse">
            <a:avLst/>
          </a:prstGeom>
          <a:solidFill>
            <a:srgbClr val="2D1B69"/>
          </a:solidFill>
          <a:ln/>
        </p:spPr>
      </p:sp>
      <p:sp>
        <p:nvSpPr>
          <p:cNvPr id="16" name="Text 14"/>
          <p:cNvSpPr/>
          <p:nvPr/>
        </p:nvSpPr>
        <p:spPr>
          <a:xfrm>
            <a:off x="5788152" y="2743200"/>
            <a:ext cx="585216" cy="585216"/>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Shape 15"/>
          <p:cNvSpPr/>
          <p:nvPr/>
        </p:nvSpPr>
        <p:spPr>
          <a:xfrm>
            <a:off x="5120640" y="3611880"/>
            <a:ext cx="1920240" cy="1508760"/>
          </a:xfrm>
          <a:prstGeom prst="roundRect">
            <a:avLst>
              <a:gd name="adj" fmla="val 4848"/>
            </a:avLst>
          </a:prstGeom>
          <a:solidFill>
            <a:srgbClr val="FFFFFF"/>
          </a:solidFill>
          <a:ln/>
          <a:effectLst>
            <a:outerShdw sx="100000" sy="100000" kx="0" ky="0" algn="bl" rotWithShape="0" blurRad="101600" dist="25400" dir="5400000">
              <a:srgbClr val="3B2E6B">
                <a:alpha val="14000"/>
              </a:srgbClr>
            </a:outerShdw>
          </a:effectLst>
        </p:spPr>
      </p:sp>
      <p:sp>
        <p:nvSpPr>
          <p:cNvPr id="18" name="Text 16"/>
          <p:cNvSpPr/>
          <p:nvPr/>
        </p:nvSpPr>
        <p:spPr>
          <a:xfrm>
            <a:off x="5230368" y="3730752"/>
            <a:ext cx="1700784" cy="320040"/>
          </a:xfrm>
          <a:prstGeom prst="rect">
            <a:avLst/>
          </a:prstGeom>
          <a:noFill/>
          <a:ln/>
        </p:spPr>
        <p:txBody>
          <a:bodyPr wrap="square" rtlCol="0" anchor="ctr"/>
          <a:lstStyle/>
          <a:p>
            <a:pPr algn="ctr" indent="0" marL="0">
              <a:buNone/>
            </a:pPr>
            <a:r>
              <a:rPr lang="en-US" sz="1400" b="1" dirty="0">
                <a:solidFill>
                  <a:srgbClr val="2D1B69"/>
                </a:solidFill>
                <a:latin typeface="Cambria" pitchFamily="34" charset="0"/>
                <a:ea typeface="Cambria" pitchFamily="34" charset="-122"/>
                <a:cs typeface="Cambria" pitchFamily="34" charset="-120"/>
              </a:rPr>
              <a:t>Match (KMP)</a:t>
            </a:r>
            <a:endParaRPr lang="en-US" sz="1400" dirty="0"/>
          </a:p>
        </p:txBody>
      </p:sp>
      <p:sp>
        <p:nvSpPr>
          <p:cNvPr id="19" name="Text 17"/>
          <p:cNvSpPr/>
          <p:nvPr/>
        </p:nvSpPr>
        <p:spPr>
          <a:xfrm>
            <a:off x="5257800" y="4041648"/>
            <a:ext cx="1645920" cy="1005840"/>
          </a:xfrm>
          <a:prstGeom prst="rect">
            <a:avLst/>
          </a:prstGeom>
          <a:noFill/>
          <a:ln/>
        </p:spPr>
        <p:txBody>
          <a:bodyPr wrap="square" rtlCol="0" anchor="ctr"/>
          <a:lstStyle/>
          <a:p>
            <a:pPr algn="ctr" indent="0" marL="0">
              <a:lnSpc>
                <a:spcPct val="120000"/>
              </a:lnSpc>
              <a:buNone/>
            </a:pPr>
            <a:r>
              <a:rPr lang="en-US" sz="1050" dirty="0">
                <a:solidFill>
                  <a:srgbClr val="5B5470"/>
                </a:solidFill>
                <a:latin typeface="Calibri" pitchFamily="34" charset="0"/>
                <a:ea typeface="Calibri" pitchFamily="34" charset="-122"/>
                <a:cs typeface="Calibri" pitchFamily="34" charset="-120"/>
              </a:rPr>
              <a:t>Locate exact/near-exact substrings efficiently</a:t>
            </a:r>
            <a:endParaRPr lang="en-US" sz="1050" dirty="0"/>
          </a:p>
        </p:txBody>
      </p:sp>
      <p:sp>
        <p:nvSpPr>
          <p:cNvPr id="20" name="Shape 18"/>
          <p:cNvSpPr/>
          <p:nvPr/>
        </p:nvSpPr>
        <p:spPr>
          <a:xfrm>
            <a:off x="8028432" y="2743200"/>
            <a:ext cx="585216" cy="585216"/>
          </a:xfrm>
          <a:prstGeom prst="ellipse">
            <a:avLst/>
          </a:prstGeom>
          <a:solidFill>
            <a:srgbClr val="2D1B69"/>
          </a:solidFill>
          <a:ln/>
        </p:spPr>
      </p:sp>
      <p:sp>
        <p:nvSpPr>
          <p:cNvPr id="21" name="Text 19"/>
          <p:cNvSpPr/>
          <p:nvPr/>
        </p:nvSpPr>
        <p:spPr>
          <a:xfrm>
            <a:off x="8028432" y="2743200"/>
            <a:ext cx="585216" cy="585216"/>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Shape 20"/>
          <p:cNvSpPr/>
          <p:nvPr/>
        </p:nvSpPr>
        <p:spPr>
          <a:xfrm>
            <a:off x="7360920" y="3611880"/>
            <a:ext cx="1920240" cy="1508760"/>
          </a:xfrm>
          <a:prstGeom prst="roundRect">
            <a:avLst>
              <a:gd name="adj" fmla="val 4848"/>
            </a:avLst>
          </a:prstGeom>
          <a:solidFill>
            <a:srgbClr val="FFFFFF"/>
          </a:solidFill>
          <a:ln/>
          <a:effectLst>
            <a:outerShdw sx="100000" sy="100000" kx="0" ky="0" algn="bl" rotWithShape="0" blurRad="101600" dist="25400" dir="5400000">
              <a:srgbClr val="3B2E6B">
                <a:alpha val="14000"/>
              </a:srgbClr>
            </a:outerShdw>
          </a:effectLst>
        </p:spPr>
      </p:sp>
      <p:sp>
        <p:nvSpPr>
          <p:cNvPr id="23" name="Text 21"/>
          <p:cNvSpPr/>
          <p:nvPr/>
        </p:nvSpPr>
        <p:spPr>
          <a:xfrm>
            <a:off x="7470648" y="3730752"/>
            <a:ext cx="1700784" cy="320040"/>
          </a:xfrm>
          <a:prstGeom prst="rect">
            <a:avLst/>
          </a:prstGeom>
          <a:noFill/>
          <a:ln/>
        </p:spPr>
        <p:txBody>
          <a:bodyPr wrap="square" rtlCol="0" anchor="ctr"/>
          <a:lstStyle/>
          <a:p>
            <a:pPr algn="ctr" indent="0" marL="0">
              <a:buNone/>
            </a:pPr>
            <a:r>
              <a:rPr lang="en-US" sz="1400" b="1" dirty="0">
                <a:solidFill>
                  <a:srgbClr val="2D1B69"/>
                </a:solidFill>
                <a:latin typeface="Cambria" pitchFamily="34" charset="0"/>
                <a:ea typeface="Cambria" pitchFamily="34" charset="-122"/>
                <a:cs typeface="Cambria" pitchFamily="34" charset="-120"/>
              </a:rPr>
              <a:t>Score</a:t>
            </a:r>
            <a:endParaRPr lang="en-US" sz="1400" dirty="0"/>
          </a:p>
        </p:txBody>
      </p:sp>
      <p:sp>
        <p:nvSpPr>
          <p:cNvPr id="24" name="Text 22"/>
          <p:cNvSpPr/>
          <p:nvPr/>
        </p:nvSpPr>
        <p:spPr>
          <a:xfrm>
            <a:off x="7498080" y="4041648"/>
            <a:ext cx="1645920" cy="1005840"/>
          </a:xfrm>
          <a:prstGeom prst="rect">
            <a:avLst/>
          </a:prstGeom>
          <a:noFill/>
          <a:ln/>
        </p:spPr>
        <p:txBody>
          <a:bodyPr wrap="square" rtlCol="0" anchor="ctr"/>
          <a:lstStyle/>
          <a:p>
            <a:pPr algn="ctr" indent="0" marL="0">
              <a:lnSpc>
                <a:spcPct val="120000"/>
              </a:lnSpc>
              <a:buNone/>
            </a:pPr>
            <a:r>
              <a:rPr lang="en-US" sz="1050" dirty="0">
                <a:solidFill>
                  <a:srgbClr val="5B5470"/>
                </a:solidFill>
                <a:latin typeface="Calibri" pitchFamily="34" charset="0"/>
                <a:ea typeface="Calibri" pitchFamily="34" charset="-122"/>
                <a:cs typeface="Calibri" pitchFamily="34" charset="-120"/>
              </a:rPr>
              <a:t>Apply Cosine &amp; Jaccard similarity for overall closeness</a:t>
            </a:r>
            <a:endParaRPr lang="en-US" sz="1050" dirty="0"/>
          </a:p>
        </p:txBody>
      </p:sp>
      <p:sp>
        <p:nvSpPr>
          <p:cNvPr id="25" name="Shape 23"/>
          <p:cNvSpPr/>
          <p:nvPr/>
        </p:nvSpPr>
        <p:spPr>
          <a:xfrm>
            <a:off x="10268712" y="2743200"/>
            <a:ext cx="585216" cy="585216"/>
          </a:xfrm>
          <a:prstGeom prst="ellipse">
            <a:avLst/>
          </a:prstGeom>
          <a:solidFill>
            <a:srgbClr val="D4A017"/>
          </a:solidFill>
          <a:ln/>
        </p:spPr>
      </p:sp>
      <p:sp>
        <p:nvSpPr>
          <p:cNvPr id="26" name="Text 24"/>
          <p:cNvSpPr/>
          <p:nvPr/>
        </p:nvSpPr>
        <p:spPr>
          <a:xfrm>
            <a:off x="10268712" y="2743200"/>
            <a:ext cx="585216" cy="585216"/>
          </a:xfrm>
          <a:prstGeom prst="rect">
            <a:avLst/>
          </a:prstGeom>
          <a:noFill/>
          <a:ln/>
        </p:spPr>
        <p:txBody>
          <a:bodyPr wrap="square" rtlCol="0" anchor="ctr"/>
          <a:lstStyle/>
          <a:p>
            <a:pPr algn="ctr" indent="0" marL="0">
              <a:buNone/>
            </a:pPr>
            <a:r>
              <a:rPr lang="en-US" sz="1800" b="1" dirty="0">
                <a:solidFill>
                  <a:srgbClr val="1E1247"/>
                </a:solidFill>
                <a:latin typeface="Calibri" pitchFamily="34" charset="0"/>
                <a:ea typeface="Calibri" pitchFamily="34" charset="-122"/>
                <a:cs typeface="Calibri" pitchFamily="34" charset="-120"/>
              </a:rPr>
              <a:t>5</a:t>
            </a:r>
            <a:endParaRPr lang="en-US" sz="1800" dirty="0"/>
          </a:p>
        </p:txBody>
      </p:sp>
      <p:sp>
        <p:nvSpPr>
          <p:cNvPr id="27" name="Shape 25"/>
          <p:cNvSpPr/>
          <p:nvPr/>
        </p:nvSpPr>
        <p:spPr>
          <a:xfrm>
            <a:off x="9601200" y="3611880"/>
            <a:ext cx="1920240" cy="1508760"/>
          </a:xfrm>
          <a:prstGeom prst="roundRect">
            <a:avLst>
              <a:gd name="adj" fmla="val 4848"/>
            </a:avLst>
          </a:prstGeom>
          <a:solidFill>
            <a:srgbClr val="FFFFFF"/>
          </a:solidFill>
          <a:ln/>
          <a:effectLst>
            <a:outerShdw sx="100000" sy="100000" kx="0" ky="0" algn="bl" rotWithShape="0" blurRad="101600" dist="25400" dir="5400000">
              <a:srgbClr val="3B2E6B">
                <a:alpha val="14000"/>
              </a:srgbClr>
            </a:outerShdw>
          </a:effectLst>
        </p:spPr>
      </p:sp>
      <p:sp>
        <p:nvSpPr>
          <p:cNvPr id="28" name="Text 26"/>
          <p:cNvSpPr/>
          <p:nvPr/>
        </p:nvSpPr>
        <p:spPr>
          <a:xfrm>
            <a:off x="9710928" y="3730752"/>
            <a:ext cx="1700784" cy="320040"/>
          </a:xfrm>
          <a:prstGeom prst="rect">
            <a:avLst/>
          </a:prstGeom>
          <a:noFill/>
          <a:ln/>
        </p:spPr>
        <p:txBody>
          <a:bodyPr wrap="square" rtlCol="0" anchor="ctr"/>
          <a:lstStyle/>
          <a:p>
            <a:pPr algn="ctr" indent="0" marL="0">
              <a:buNone/>
            </a:pPr>
            <a:r>
              <a:rPr lang="en-US" sz="1400" b="1" dirty="0">
                <a:solidFill>
                  <a:srgbClr val="2D1B69"/>
                </a:solidFill>
                <a:latin typeface="Cambria" pitchFamily="34" charset="0"/>
                <a:ea typeface="Cambria" pitchFamily="34" charset="-122"/>
                <a:cs typeface="Cambria" pitchFamily="34" charset="-120"/>
              </a:rPr>
              <a:t>Report</a:t>
            </a:r>
            <a:endParaRPr lang="en-US" sz="1400" dirty="0"/>
          </a:p>
        </p:txBody>
      </p:sp>
      <p:sp>
        <p:nvSpPr>
          <p:cNvPr id="29" name="Text 27"/>
          <p:cNvSpPr/>
          <p:nvPr/>
        </p:nvSpPr>
        <p:spPr>
          <a:xfrm>
            <a:off x="9738360" y="4041648"/>
            <a:ext cx="1645920" cy="1005840"/>
          </a:xfrm>
          <a:prstGeom prst="rect">
            <a:avLst/>
          </a:prstGeom>
          <a:noFill/>
          <a:ln/>
        </p:spPr>
        <p:txBody>
          <a:bodyPr wrap="square" rtlCol="0" anchor="ctr"/>
          <a:lstStyle/>
          <a:p>
            <a:pPr algn="ctr" indent="0" marL="0">
              <a:lnSpc>
                <a:spcPct val="120000"/>
              </a:lnSpc>
              <a:buNone/>
            </a:pPr>
            <a:r>
              <a:rPr lang="en-US" sz="1050" dirty="0">
                <a:solidFill>
                  <a:srgbClr val="5B5470"/>
                </a:solidFill>
                <a:latin typeface="Calibri" pitchFamily="34" charset="0"/>
                <a:ea typeface="Calibri" pitchFamily="34" charset="-122"/>
                <a:cs typeface="Calibri" pitchFamily="34" charset="-120"/>
              </a:rPr>
              <a:t>Rank songs and output the best match with its score</a:t>
            </a:r>
            <a:endParaRPr lang="en-US" sz="1050" dirty="0"/>
          </a:p>
        </p:txBody>
      </p:sp>
      <p:sp>
        <p:nvSpPr>
          <p:cNvPr id="30" name="Text 28"/>
          <p:cNvSpPr/>
          <p:nvPr/>
        </p:nvSpPr>
        <p:spPr>
          <a:xfrm>
            <a:off x="640080" y="5623560"/>
            <a:ext cx="10881360" cy="457200"/>
          </a:xfrm>
          <a:prstGeom prst="rect">
            <a:avLst/>
          </a:prstGeom>
          <a:noFill/>
          <a:ln/>
        </p:spPr>
        <p:txBody>
          <a:bodyPr wrap="square" rtlCol="0" anchor="ctr"/>
          <a:lstStyle/>
          <a:p>
            <a:pPr algn="ctr" indent="0" marL="0">
              <a:buNone/>
            </a:pPr>
            <a:r>
              <a:rPr lang="en-US" sz="1250" i="1" dirty="0">
                <a:solidFill>
                  <a:srgbClr val="5B5470"/>
                </a:solidFill>
                <a:latin typeface="Calibri" pitchFamily="34" charset="0"/>
                <a:ea typeface="Calibri" pitchFamily="34" charset="-122"/>
                <a:cs typeface="Calibri" pitchFamily="34" charset="-120"/>
              </a:rPr>
              <a:t>The pipeline combines exact string matching (KMP) with statistical similarity measures for a balance of precision and recall.</a:t>
            </a:r>
            <a:endParaRPr lang="en-US" sz="1250" dirty="0"/>
          </a:p>
        </p:txBody>
      </p:sp>
      <p:sp>
        <p:nvSpPr>
          <p:cNvPr id="31" name="Text 29"/>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B547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FA"/>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rtlCol="0" anchor="ctr"/>
          <a:lstStyle/>
          <a:p>
            <a:pPr indent="0" marL="0">
              <a:buNone/>
            </a:pPr>
            <a:r>
              <a:rPr lang="en-US" sz="1200" b="1" spc="200" kern="0" dirty="0">
                <a:solidFill>
                  <a:srgbClr val="2D1B69"/>
                </a:solidFill>
                <a:latin typeface="Calibri" pitchFamily="34" charset="0"/>
                <a:ea typeface="Calibri" pitchFamily="34" charset="-122"/>
                <a:cs typeface="Calibri" pitchFamily="34" charset="-120"/>
              </a:rPr>
              <a:t>06  ·  REQUIREMENTS</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3400" b="1" dirty="0">
                <a:solidFill>
                  <a:srgbClr val="241B3A"/>
                </a:solidFill>
                <a:latin typeface="Cambria" pitchFamily="34" charset="0"/>
                <a:ea typeface="Cambria" pitchFamily="34" charset="-122"/>
                <a:cs typeface="Cambria" pitchFamily="34" charset="-120"/>
              </a:rPr>
              <a:t>Hardware &amp; Software Requirements</a:t>
            </a:r>
            <a:endParaRPr lang="en-US" sz="3400" dirty="0"/>
          </a:p>
        </p:txBody>
      </p:sp>
      <p:sp>
        <p:nvSpPr>
          <p:cNvPr id="4" name="Shape 2"/>
          <p:cNvSpPr/>
          <p:nvPr/>
        </p:nvSpPr>
        <p:spPr>
          <a:xfrm>
            <a:off x="640080" y="1965960"/>
            <a:ext cx="5212080" cy="4297680"/>
          </a:xfrm>
          <a:prstGeom prst="roundRect">
            <a:avLst>
              <a:gd name="adj" fmla="val 2128"/>
            </a:avLst>
          </a:prstGeom>
          <a:solidFill>
            <a:srgbClr val="FFFFFF"/>
          </a:solidFill>
          <a:ln/>
          <a:effectLst>
            <a:outerShdw sx="100000" sy="100000" kx="0" ky="0" algn="bl" rotWithShape="0" blurRad="101600" dist="25400" dir="5400000">
              <a:srgbClr val="3B2E6B">
                <a:alpha val="14000"/>
              </a:srgbClr>
            </a:outerShdw>
          </a:effectLst>
        </p:spPr>
      </p:sp>
      <p:sp>
        <p:nvSpPr>
          <p:cNvPr id="5" name="Shape 3"/>
          <p:cNvSpPr/>
          <p:nvPr/>
        </p:nvSpPr>
        <p:spPr>
          <a:xfrm>
            <a:off x="960120" y="2286000"/>
            <a:ext cx="548640" cy="548640"/>
          </a:xfrm>
          <a:prstGeom prst="ellipse">
            <a:avLst/>
          </a:prstGeom>
          <a:solidFill>
            <a:srgbClr val="2D1B69"/>
          </a:solidFill>
          <a:ln/>
        </p:spPr>
      </p:sp>
      <p:sp>
        <p:nvSpPr>
          <p:cNvPr id="6" name="Text 4"/>
          <p:cNvSpPr/>
          <p:nvPr/>
        </p:nvSpPr>
        <p:spPr>
          <a:xfrm>
            <a:off x="960120" y="2286000"/>
            <a:ext cx="54864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HW</a:t>
            </a:r>
            <a:endParaRPr lang="en-US" sz="1500" dirty="0"/>
          </a:p>
        </p:txBody>
      </p:sp>
      <p:sp>
        <p:nvSpPr>
          <p:cNvPr id="7" name="Text 5"/>
          <p:cNvSpPr/>
          <p:nvPr/>
        </p:nvSpPr>
        <p:spPr>
          <a:xfrm>
            <a:off x="1691640" y="2350008"/>
            <a:ext cx="3931920" cy="457200"/>
          </a:xfrm>
          <a:prstGeom prst="rect">
            <a:avLst/>
          </a:prstGeom>
          <a:noFill/>
          <a:ln/>
        </p:spPr>
        <p:txBody>
          <a:bodyPr wrap="square" rtlCol="0" anchor="ctr"/>
          <a:lstStyle/>
          <a:p>
            <a:pPr indent="0" marL="0">
              <a:buNone/>
            </a:pPr>
            <a:r>
              <a:rPr lang="en-US" sz="1700" b="1" dirty="0">
                <a:solidFill>
                  <a:srgbClr val="241B3A"/>
                </a:solidFill>
                <a:latin typeface="Cambria" pitchFamily="34" charset="0"/>
                <a:ea typeface="Cambria" pitchFamily="34" charset="-122"/>
                <a:cs typeface="Cambria" pitchFamily="34" charset="-120"/>
              </a:rPr>
              <a:t>Hardware Requirements</a:t>
            </a:r>
            <a:endParaRPr lang="en-US" sz="1700" dirty="0"/>
          </a:p>
        </p:txBody>
      </p:sp>
      <p:sp>
        <p:nvSpPr>
          <p:cNvPr id="8" name="Shape 6"/>
          <p:cNvSpPr/>
          <p:nvPr/>
        </p:nvSpPr>
        <p:spPr>
          <a:xfrm>
            <a:off x="1005840" y="3191256"/>
            <a:ext cx="91440" cy="91440"/>
          </a:xfrm>
          <a:prstGeom prst="ellipse">
            <a:avLst/>
          </a:prstGeom>
          <a:solidFill>
            <a:srgbClr val="D4A017"/>
          </a:solidFill>
          <a:ln/>
        </p:spPr>
      </p:sp>
      <p:sp>
        <p:nvSpPr>
          <p:cNvPr id="9" name="Text 7"/>
          <p:cNvSpPr/>
          <p:nvPr/>
        </p:nvSpPr>
        <p:spPr>
          <a:xfrm>
            <a:off x="1234440" y="3054096"/>
            <a:ext cx="4251960" cy="457200"/>
          </a:xfrm>
          <a:prstGeom prst="rect">
            <a:avLst/>
          </a:prstGeom>
          <a:noFill/>
          <a:ln/>
        </p:spPr>
        <p:txBody>
          <a:bodyPr wrap="square" rtlCol="0" anchor="ctr"/>
          <a:lstStyle/>
          <a:p>
            <a:pPr indent="0" marL="0">
              <a:buNone/>
            </a:pPr>
            <a:r>
              <a:rPr lang="en-US" sz="1350" dirty="0">
                <a:solidFill>
                  <a:srgbClr val="5B5470"/>
                </a:solidFill>
                <a:latin typeface="Calibri" pitchFamily="34" charset="0"/>
                <a:ea typeface="Calibri" pitchFamily="34" charset="-122"/>
                <a:cs typeface="Calibri" pitchFamily="34" charset="-120"/>
              </a:rPr>
              <a:t>Processor: Intel i3 / equivalent or higher</a:t>
            </a:r>
            <a:endParaRPr lang="en-US" sz="1350" dirty="0"/>
          </a:p>
        </p:txBody>
      </p:sp>
      <p:sp>
        <p:nvSpPr>
          <p:cNvPr id="10" name="Shape 8"/>
          <p:cNvSpPr/>
          <p:nvPr/>
        </p:nvSpPr>
        <p:spPr>
          <a:xfrm>
            <a:off x="1005840" y="3813048"/>
            <a:ext cx="91440" cy="91440"/>
          </a:xfrm>
          <a:prstGeom prst="ellipse">
            <a:avLst/>
          </a:prstGeom>
          <a:solidFill>
            <a:srgbClr val="D4A017"/>
          </a:solidFill>
          <a:ln/>
        </p:spPr>
      </p:sp>
      <p:sp>
        <p:nvSpPr>
          <p:cNvPr id="11" name="Text 9"/>
          <p:cNvSpPr/>
          <p:nvPr/>
        </p:nvSpPr>
        <p:spPr>
          <a:xfrm>
            <a:off x="1234440" y="3675888"/>
            <a:ext cx="4251960" cy="457200"/>
          </a:xfrm>
          <a:prstGeom prst="rect">
            <a:avLst/>
          </a:prstGeom>
          <a:noFill/>
          <a:ln/>
        </p:spPr>
        <p:txBody>
          <a:bodyPr wrap="square" rtlCol="0" anchor="ctr"/>
          <a:lstStyle/>
          <a:p>
            <a:pPr indent="0" marL="0">
              <a:buNone/>
            </a:pPr>
            <a:r>
              <a:rPr lang="en-US" sz="1350" dirty="0">
                <a:solidFill>
                  <a:srgbClr val="5B5470"/>
                </a:solidFill>
                <a:latin typeface="Calibri" pitchFamily="34" charset="0"/>
                <a:ea typeface="Calibri" pitchFamily="34" charset="-122"/>
                <a:cs typeface="Calibri" pitchFamily="34" charset="-120"/>
              </a:rPr>
              <a:t>RAM: 4 GB minimum (8 GB recommended)</a:t>
            </a:r>
            <a:endParaRPr lang="en-US" sz="1350" dirty="0"/>
          </a:p>
        </p:txBody>
      </p:sp>
      <p:sp>
        <p:nvSpPr>
          <p:cNvPr id="12" name="Shape 10"/>
          <p:cNvSpPr/>
          <p:nvPr/>
        </p:nvSpPr>
        <p:spPr>
          <a:xfrm>
            <a:off x="1005840" y="4434840"/>
            <a:ext cx="91440" cy="91440"/>
          </a:xfrm>
          <a:prstGeom prst="ellipse">
            <a:avLst/>
          </a:prstGeom>
          <a:solidFill>
            <a:srgbClr val="D4A017"/>
          </a:solidFill>
          <a:ln/>
        </p:spPr>
      </p:sp>
      <p:sp>
        <p:nvSpPr>
          <p:cNvPr id="13" name="Text 11"/>
          <p:cNvSpPr/>
          <p:nvPr/>
        </p:nvSpPr>
        <p:spPr>
          <a:xfrm>
            <a:off x="1234440" y="4297680"/>
            <a:ext cx="4251960" cy="457200"/>
          </a:xfrm>
          <a:prstGeom prst="rect">
            <a:avLst/>
          </a:prstGeom>
          <a:noFill/>
          <a:ln/>
        </p:spPr>
        <p:txBody>
          <a:bodyPr wrap="square" rtlCol="0" anchor="ctr"/>
          <a:lstStyle/>
          <a:p>
            <a:pPr indent="0" marL="0">
              <a:buNone/>
            </a:pPr>
            <a:r>
              <a:rPr lang="en-US" sz="1350" dirty="0">
                <a:solidFill>
                  <a:srgbClr val="5B5470"/>
                </a:solidFill>
                <a:latin typeface="Calibri" pitchFamily="34" charset="0"/>
                <a:ea typeface="Calibri" pitchFamily="34" charset="-122"/>
                <a:cs typeface="Calibri" pitchFamily="34" charset="-120"/>
              </a:rPr>
              <a:t>Storage: 500 MB free disk space</a:t>
            </a:r>
            <a:endParaRPr lang="en-US" sz="1350" dirty="0"/>
          </a:p>
        </p:txBody>
      </p:sp>
      <p:sp>
        <p:nvSpPr>
          <p:cNvPr id="14" name="Shape 12"/>
          <p:cNvSpPr/>
          <p:nvPr/>
        </p:nvSpPr>
        <p:spPr>
          <a:xfrm>
            <a:off x="1005840" y="5056632"/>
            <a:ext cx="91440" cy="91440"/>
          </a:xfrm>
          <a:prstGeom prst="ellipse">
            <a:avLst/>
          </a:prstGeom>
          <a:solidFill>
            <a:srgbClr val="D4A017"/>
          </a:solidFill>
          <a:ln/>
        </p:spPr>
      </p:sp>
      <p:sp>
        <p:nvSpPr>
          <p:cNvPr id="15" name="Text 13"/>
          <p:cNvSpPr/>
          <p:nvPr/>
        </p:nvSpPr>
        <p:spPr>
          <a:xfrm>
            <a:off x="1234440" y="4919472"/>
            <a:ext cx="4251960" cy="457200"/>
          </a:xfrm>
          <a:prstGeom prst="rect">
            <a:avLst/>
          </a:prstGeom>
          <a:noFill/>
          <a:ln/>
        </p:spPr>
        <p:txBody>
          <a:bodyPr wrap="square" rtlCol="0" anchor="ctr"/>
          <a:lstStyle/>
          <a:p>
            <a:pPr indent="0" marL="0">
              <a:buNone/>
            </a:pPr>
            <a:r>
              <a:rPr lang="en-US" sz="1350" dirty="0">
                <a:solidFill>
                  <a:srgbClr val="5B5470"/>
                </a:solidFill>
                <a:latin typeface="Calibri" pitchFamily="34" charset="0"/>
                <a:ea typeface="Calibri" pitchFamily="34" charset="-122"/>
                <a:cs typeface="Calibri" pitchFamily="34" charset="-120"/>
              </a:rPr>
              <a:t>Standard keyboard, mouse &amp; display</a:t>
            </a:r>
            <a:endParaRPr lang="en-US" sz="1350" dirty="0"/>
          </a:p>
        </p:txBody>
      </p:sp>
      <p:sp>
        <p:nvSpPr>
          <p:cNvPr id="16" name="Shape 14"/>
          <p:cNvSpPr/>
          <p:nvPr/>
        </p:nvSpPr>
        <p:spPr>
          <a:xfrm>
            <a:off x="6309360" y="1965960"/>
            <a:ext cx="5212080" cy="4297680"/>
          </a:xfrm>
          <a:prstGeom prst="roundRect">
            <a:avLst>
              <a:gd name="adj" fmla="val 2128"/>
            </a:avLst>
          </a:prstGeom>
          <a:solidFill>
            <a:srgbClr val="2D1B69"/>
          </a:solidFill>
          <a:ln/>
        </p:spPr>
      </p:sp>
      <p:sp>
        <p:nvSpPr>
          <p:cNvPr id="17" name="Shape 15"/>
          <p:cNvSpPr/>
          <p:nvPr/>
        </p:nvSpPr>
        <p:spPr>
          <a:xfrm>
            <a:off x="6629400" y="2286000"/>
            <a:ext cx="548640" cy="548640"/>
          </a:xfrm>
          <a:prstGeom prst="ellipse">
            <a:avLst/>
          </a:prstGeom>
          <a:solidFill>
            <a:srgbClr val="D4A017"/>
          </a:solidFill>
          <a:ln/>
        </p:spPr>
      </p:sp>
      <p:sp>
        <p:nvSpPr>
          <p:cNvPr id="18" name="Text 16"/>
          <p:cNvSpPr/>
          <p:nvPr/>
        </p:nvSpPr>
        <p:spPr>
          <a:xfrm>
            <a:off x="6629400" y="2286000"/>
            <a:ext cx="548640" cy="548640"/>
          </a:xfrm>
          <a:prstGeom prst="rect">
            <a:avLst/>
          </a:prstGeom>
          <a:noFill/>
          <a:ln/>
        </p:spPr>
        <p:txBody>
          <a:bodyPr wrap="square" rtlCol="0" anchor="ctr"/>
          <a:lstStyle/>
          <a:p>
            <a:pPr algn="ctr" indent="0" marL="0">
              <a:buNone/>
            </a:pPr>
            <a:r>
              <a:rPr lang="en-US" sz="1500" b="1" dirty="0">
                <a:solidFill>
                  <a:srgbClr val="1E1247"/>
                </a:solidFill>
                <a:latin typeface="Calibri" pitchFamily="34" charset="0"/>
                <a:ea typeface="Calibri" pitchFamily="34" charset="-122"/>
                <a:cs typeface="Calibri" pitchFamily="34" charset="-120"/>
              </a:rPr>
              <a:t>SW</a:t>
            </a:r>
            <a:endParaRPr lang="en-US" sz="1500" dirty="0"/>
          </a:p>
        </p:txBody>
      </p:sp>
      <p:sp>
        <p:nvSpPr>
          <p:cNvPr id="19" name="Text 17"/>
          <p:cNvSpPr/>
          <p:nvPr/>
        </p:nvSpPr>
        <p:spPr>
          <a:xfrm>
            <a:off x="7360920" y="2350008"/>
            <a:ext cx="393192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Software Requirements</a:t>
            </a:r>
            <a:endParaRPr lang="en-US" sz="1700" dirty="0"/>
          </a:p>
        </p:txBody>
      </p:sp>
      <p:sp>
        <p:nvSpPr>
          <p:cNvPr id="20" name="Shape 18"/>
          <p:cNvSpPr/>
          <p:nvPr/>
        </p:nvSpPr>
        <p:spPr>
          <a:xfrm>
            <a:off x="6675120" y="3191256"/>
            <a:ext cx="91440" cy="91440"/>
          </a:xfrm>
          <a:prstGeom prst="ellipse">
            <a:avLst/>
          </a:prstGeom>
          <a:solidFill>
            <a:srgbClr val="D4A017"/>
          </a:solidFill>
          <a:ln/>
        </p:spPr>
      </p:sp>
      <p:sp>
        <p:nvSpPr>
          <p:cNvPr id="21" name="Text 19"/>
          <p:cNvSpPr/>
          <p:nvPr/>
        </p:nvSpPr>
        <p:spPr>
          <a:xfrm>
            <a:off x="6903720" y="3054096"/>
            <a:ext cx="4251960" cy="457200"/>
          </a:xfrm>
          <a:prstGeom prst="rect">
            <a:avLst/>
          </a:prstGeom>
          <a:noFill/>
          <a:ln/>
        </p:spPr>
        <p:txBody>
          <a:bodyPr wrap="square" rtlCol="0" anchor="ctr"/>
          <a:lstStyle/>
          <a:p>
            <a:pPr indent="0" marL="0">
              <a:buNone/>
            </a:pPr>
            <a:r>
              <a:rPr lang="en-US" sz="1350" dirty="0">
                <a:solidFill>
                  <a:srgbClr val="EDE8FA"/>
                </a:solidFill>
                <a:latin typeface="Calibri" pitchFamily="34" charset="0"/>
                <a:ea typeface="Calibri" pitchFamily="34" charset="-122"/>
                <a:cs typeface="Calibri" pitchFamily="34" charset="-120"/>
              </a:rPr>
              <a:t>Operating System: Windows / Linux / macOS</a:t>
            </a:r>
            <a:endParaRPr lang="en-US" sz="1350" dirty="0"/>
          </a:p>
        </p:txBody>
      </p:sp>
      <p:sp>
        <p:nvSpPr>
          <p:cNvPr id="22" name="Shape 20"/>
          <p:cNvSpPr/>
          <p:nvPr/>
        </p:nvSpPr>
        <p:spPr>
          <a:xfrm>
            <a:off x="6675120" y="3813048"/>
            <a:ext cx="91440" cy="91440"/>
          </a:xfrm>
          <a:prstGeom prst="ellipse">
            <a:avLst/>
          </a:prstGeom>
          <a:solidFill>
            <a:srgbClr val="D4A017"/>
          </a:solidFill>
          <a:ln/>
        </p:spPr>
      </p:sp>
      <p:sp>
        <p:nvSpPr>
          <p:cNvPr id="23" name="Text 21"/>
          <p:cNvSpPr/>
          <p:nvPr/>
        </p:nvSpPr>
        <p:spPr>
          <a:xfrm>
            <a:off x="6903720" y="3675888"/>
            <a:ext cx="4251960" cy="457200"/>
          </a:xfrm>
          <a:prstGeom prst="rect">
            <a:avLst/>
          </a:prstGeom>
          <a:noFill/>
          <a:ln/>
        </p:spPr>
        <p:txBody>
          <a:bodyPr wrap="square" rtlCol="0" anchor="ctr"/>
          <a:lstStyle/>
          <a:p>
            <a:pPr indent="0" marL="0">
              <a:buNone/>
            </a:pPr>
            <a:r>
              <a:rPr lang="en-US" sz="1350" dirty="0">
                <a:solidFill>
                  <a:srgbClr val="EDE8FA"/>
                </a:solidFill>
                <a:latin typeface="Calibri" pitchFamily="34" charset="0"/>
                <a:ea typeface="Calibri" pitchFamily="34" charset="-122"/>
                <a:cs typeface="Calibri" pitchFamily="34" charset="-120"/>
              </a:rPr>
              <a:t>Language: Python 3.x</a:t>
            </a:r>
            <a:endParaRPr lang="en-US" sz="1350" dirty="0"/>
          </a:p>
        </p:txBody>
      </p:sp>
      <p:sp>
        <p:nvSpPr>
          <p:cNvPr id="24" name="Shape 22"/>
          <p:cNvSpPr/>
          <p:nvPr/>
        </p:nvSpPr>
        <p:spPr>
          <a:xfrm>
            <a:off x="6675120" y="4434840"/>
            <a:ext cx="91440" cy="91440"/>
          </a:xfrm>
          <a:prstGeom prst="ellipse">
            <a:avLst/>
          </a:prstGeom>
          <a:solidFill>
            <a:srgbClr val="D4A017"/>
          </a:solidFill>
          <a:ln/>
        </p:spPr>
      </p:sp>
      <p:sp>
        <p:nvSpPr>
          <p:cNvPr id="25" name="Text 23"/>
          <p:cNvSpPr/>
          <p:nvPr/>
        </p:nvSpPr>
        <p:spPr>
          <a:xfrm>
            <a:off x="6903720" y="4297680"/>
            <a:ext cx="4251960" cy="457200"/>
          </a:xfrm>
          <a:prstGeom prst="rect">
            <a:avLst/>
          </a:prstGeom>
          <a:noFill/>
          <a:ln/>
        </p:spPr>
        <p:txBody>
          <a:bodyPr wrap="square" rtlCol="0" anchor="ctr"/>
          <a:lstStyle/>
          <a:p>
            <a:pPr indent="0" marL="0">
              <a:buNone/>
            </a:pPr>
            <a:r>
              <a:rPr lang="en-US" sz="1350" dirty="0">
                <a:solidFill>
                  <a:srgbClr val="EDE8FA"/>
                </a:solidFill>
                <a:latin typeface="Calibri" pitchFamily="34" charset="0"/>
                <a:ea typeface="Calibri" pitchFamily="34" charset="-122"/>
                <a:cs typeface="Calibri" pitchFamily="34" charset="-120"/>
              </a:rPr>
              <a:t>Libraries: NLTK / re, NumPy, scikit-learn</a:t>
            </a:r>
            <a:endParaRPr lang="en-US" sz="1350" dirty="0"/>
          </a:p>
        </p:txBody>
      </p:sp>
      <p:sp>
        <p:nvSpPr>
          <p:cNvPr id="26" name="Shape 24"/>
          <p:cNvSpPr/>
          <p:nvPr/>
        </p:nvSpPr>
        <p:spPr>
          <a:xfrm>
            <a:off x="6675120" y="5056632"/>
            <a:ext cx="91440" cy="91440"/>
          </a:xfrm>
          <a:prstGeom prst="ellipse">
            <a:avLst/>
          </a:prstGeom>
          <a:solidFill>
            <a:srgbClr val="D4A017"/>
          </a:solidFill>
          <a:ln/>
        </p:spPr>
      </p:sp>
      <p:sp>
        <p:nvSpPr>
          <p:cNvPr id="27" name="Text 25"/>
          <p:cNvSpPr/>
          <p:nvPr/>
        </p:nvSpPr>
        <p:spPr>
          <a:xfrm>
            <a:off x="6903720" y="4919472"/>
            <a:ext cx="4251960" cy="457200"/>
          </a:xfrm>
          <a:prstGeom prst="rect">
            <a:avLst/>
          </a:prstGeom>
          <a:noFill/>
          <a:ln/>
        </p:spPr>
        <p:txBody>
          <a:bodyPr wrap="square" rtlCol="0" anchor="ctr"/>
          <a:lstStyle/>
          <a:p>
            <a:pPr indent="0" marL="0">
              <a:buNone/>
            </a:pPr>
            <a:r>
              <a:rPr lang="en-US" sz="1350" dirty="0">
                <a:solidFill>
                  <a:srgbClr val="EDE8FA"/>
                </a:solidFill>
                <a:latin typeface="Calibri" pitchFamily="34" charset="0"/>
                <a:ea typeface="Calibri" pitchFamily="34" charset="-122"/>
                <a:cs typeface="Calibri" pitchFamily="34" charset="-120"/>
              </a:rPr>
              <a:t>IDE: VS Code / PyCharm / Jupyter Notebook</a:t>
            </a:r>
            <a:endParaRPr lang="en-US" sz="1350" dirty="0"/>
          </a:p>
        </p:txBody>
      </p:sp>
      <p:sp>
        <p:nvSpPr>
          <p:cNvPr id="28" name="Text 2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B547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FA"/>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rtlCol="0" anchor="ctr"/>
          <a:lstStyle/>
          <a:p>
            <a:pPr indent="0" marL="0">
              <a:buNone/>
            </a:pPr>
            <a:r>
              <a:rPr lang="en-US" sz="1200" b="1" spc="200" kern="0" dirty="0">
                <a:solidFill>
                  <a:srgbClr val="2D1B69"/>
                </a:solidFill>
                <a:latin typeface="Calibri" pitchFamily="34" charset="0"/>
                <a:ea typeface="Calibri" pitchFamily="34" charset="-122"/>
                <a:cs typeface="Calibri" pitchFamily="34" charset="-120"/>
              </a:rPr>
              <a:t>07  ·  RESULTS</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3400" b="1" dirty="0">
                <a:solidFill>
                  <a:srgbClr val="241B3A"/>
                </a:solidFill>
                <a:latin typeface="Cambria" pitchFamily="34" charset="0"/>
                <a:ea typeface="Cambria" pitchFamily="34" charset="-122"/>
                <a:cs typeface="Cambria" pitchFamily="34" charset="-120"/>
              </a:rPr>
              <a:t>Results</a:t>
            </a:r>
            <a:endParaRPr lang="en-US" sz="3400" dirty="0"/>
          </a:p>
        </p:txBody>
      </p:sp>
      <p:sp>
        <p:nvSpPr>
          <p:cNvPr id="4" name="Text 2"/>
          <p:cNvSpPr/>
          <p:nvPr/>
        </p:nvSpPr>
        <p:spPr>
          <a:xfrm>
            <a:off x="640080" y="1920240"/>
            <a:ext cx="10881360" cy="868680"/>
          </a:xfrm>
          <a:prstGeom prst="rect">
            <a:avLst/>
          </a:prstGeom>
          <a:noFill/>
          <a:ln/>
        </p:spPr>
        <p:txBody>
          <a:bodyPr wrap="square" rtlCol="0" anchor="ctr"/>
          <a:lstStyle/>
          <a:p>
            <a:pPr indent="0" marL="0">
              <a:lnSpc>
                <a:spcPct val="130000"/>
              </a:lnSpc>
              <a:buNone/>
            </a:pPr>
            <a:r>
              <a:rPr lang="en-US" sz="1450" dirty="0">
                <a:solidFill>
                  <a:srgbClr val="241B3A"/>
                </a:solidFill>
                <a:latin typeface="Calibri" pitchFamily="34" charset="0"/>
                <a:ea typeface="Calibri" pitchFamily="34" charset="-122"/>
                <a:cs typeface="Calibri" pitchFamily="34" charset="-120"/>
              </a:rPr>
              <a:t>The engine was tested by comparing sample query lyrics against a small catalogue. It correctly located exact overlapping phrases via KMP, and the similarity scores from the Cosine and Jaccard measures consistently ranked the true matching song at the top of the results.</a:t>
            </a:r>
            <a:endParaRPr lang="en-US" sz="1450" dirty="0"/>
          </a:p>
        </p:txBody>
      </p:sp>
      <p:sp>
        <p:nvSpPr>
          <p:cNvPr id="5" name="Shape 3"/>
          <p:cNvSpPr/>
          <p:nvPr/>
        </p:nvSpPr>
        <p:spPr>
          <a:xfrm>
            <a:off x="640080" y="3063240"/>
            <a:ext cx="3352800" cy="1828800"/>
          </a:xfrm>
          <a:prstGeom prst="roundRect">
            <a:avLst>
              <a:gd name="adj" fmla="val 5000"/>
            </a:avLst>
          </a:prstGeom>
          <a:solidFill>
            <a:srgbClr val="FFFFFF"/>
          </a:solidFill>
          <a:ln/>
          <a:effectLst>
            <a:outerShdw sx="100000" sy="100000" kx="0" ky="0" algn="bl" rotWithShape="0" blurRad="101600" dist="25400" dir="5400000">
              <a:srgbClr val="3B2E6B">
                <a:alpha val="14000"/>
              </a:srgbClr>
            </a:outerShdw>
          </a:effectLst>
        </p:spPr>
      </p:sp>
      <p:sp>
        <p:nvSpPr>
          <p:cNvPr id="6" name="Text 4"/>
          <p:cNvSpPr/>
          <p:nvPr/>
        </p:nvSpPr>
        <p:spPr>
          <a:xfrm>
            <a:off x="640080" y="3227832"/>
            <a:ext cx="3352800" cy="548640"/>
          </a:xfrm>
          <a:prstGeom prst="rect">
            <a:avLst/>
          </a:prstGeom>
          <a:noFill/>
          <a:ln/>
        </p:spPr>
        <p:txBody>
          <a:bodyPr wrap="square"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Fast</a:t>
            </a:r>
            <a:endParaRPr lang="en-US" sz="2600" dirty="0"/>
          </a:p>
        </p:txBody>
      </p:sp>
      <p:sp>
        <p:nvSpPr>
          <p:cNvPr id="7" name="Text 5"/>
          <p:cNvSpPr/>
          <p:nvPr/>
        </p:nvSpPr>
        <p:spPr>
          <a:xfrm>
            <a:off x="640080" y="3776472"/>
            <a:ext cx="3352800" cy="274320"/>
          </a:xfrm>
          <a:prstGeom prst="rect">
            <a:avLst/>
          </a:prstGeom>
          <a:noFill/>
          <a:ln/>
        </p:spPr>
        <p:txBody>
          <a:bodyPr wrap="square" rtlCol="0" anchor="ctr"/>
          <a:lstStyle/>
          <a:p>
            <a:pPr algn="ctr" indent="0" marL="0">
              <a:buNone/>
            </a:pPr>
            <a:r>
              <a:rPr lang="en-US" sz="1100" b="1" spc="150" kern="0" dirty="0">
                <a:solidFill>
                  <a:srgbClr val="2D1B69"/>
                </a:solidFill>
                <a:latin typeface="Calibri" pitchFamily="34" charset="0"/>
                <a:ea typeface="Calibri" pitchFamily="34" charset="-122"/>
                <a:cs typeface="Calibri" pitchFamily="34" charset="-120"/>
              </a:rPr>
              <a:t>MATCHING</a:t>
            </a:r>
            <a:endParaRPr lang="en-US" sz="1100" dirty="0"/>
          </a:p>
        </p:txBody>
      </p:sp>
      <p:sp>
        <p:nvSpPr>
          <p:cNvPr id="8" name="Text 6"/>
          <p:cNvSpPr/>
          <p:nvPr/>
        </p:nvSpPr>
        <p:spPr>
          <a:xfrm>
            <a:off x="868680" y="4114800"/>
            <a:ext cx="2895600" cy="685800"/>
          </a:xfrm>
          <a:prstGeom prst="rect">
            <a:avLst/>
          </a:prstGeom>
          <a:noFill/>
          <a:ln/>
        </p:spPr>
        <p:txBody>
          <a:bodyPr wrap="square" rtlCol="0" anchor="ctr"/>
          <a:lstStyle/>
          <a:p>
            <a:pPr algn="ctr" indent="0" marL="0">
              <a:lnSpc>
                <a:spcPct val="120000"/>
              </a:lnSpc>
              <a:buNone/>
            </a:pPr>
            <a:r>
              <a:rPr lang="en-US" sz="1100" dirty="0">
                <a:solidFill>
                  <a:srgbClr val="5B5470"/>
                </a:solidFill>
                <a:latin typeface="Calibri" pitchFamily="34" charset="0"/>
                <a:ea typeface="Calibri" pitchFamily="34" charset="-122"/>
                <a:cs typeface="Calibri" pitchFamily="34" charset="-120"/>
              </a:rPr>
              <a:t>KMP avoids re-scanning already-matched text</a:t>
            </a:r>
            <a:endParaRPr lang="en-US" sz="1100" dirty="0"/>
          </a:p>
        </p:txBody>
      </p:sp>
      <p:sp>
        <p:nvSpPr>
          <p:cNvPr id="9" name="Shape 7"/>
          <p:cNvSpPr/>
          <p:nvPr/>
        </p:nvSpPr>
        <p:spPr>
          <a:xfrm>
            <a:off x="4404360" y="3063240"/>
            <a:ext cx="3352800" cy="1828800"/>
          </a:xfrm>
          <a:prstGeom prst="roundRect">
            <a:avLst>
              <a:gd name="adj" fmla="val 5000"/>
            </a:avLst>
          </a:prstGeom>
          <a:solidFill>
            <a:srgbClr val="FFFFFF"/>
          </a:solidFill>
          <a:ln/>
          <a:effectLst>
            <a:outerShdw sx="100000" sy="100000" kx="0" ky="0" algn="bl" rotWithShape="0" blurRad="101600" dist="25400" dir="5400000">
              <a:srgbClr val="3B2E6B">
                <a:alpha val="14000"/>
              </a:srgbClr>
            </a:outerShdw>
          </a:effectLst>
        </p:spPr>
      </p:sp>
      <p:sp>
        <p:nvSpPr>
          <p:cNvPr id="10" name="Text 8"/>
          <p:cNvSpPr/>
          <p:nvPr/>
        </p:nvSpPr>
        <p:spPr>
          <a:xfrm>
            <a:off x="4404360" y="3227832"/>
            <a:ext cx="3352800" cy="548640"/>
          </a:xfrm>
          <a:prstGeom prst="rect">
            <a:avLst/>
          </a:prstGeom>
          <a:noFill/>
          <a:ln/>
        </p:spPr>
        <p:txBody>
          <a:bodyPr wrap="square"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Accurate</a:t>
            </a:r>
            <a:endParaRPr lang="en-US" sz="2600" dirty="0"/>
          </a:p>
        </p:txBody>
      </p:sp>
      <p:sp>
        <p:nvSpPr>
          <p:cNvPr id="11" name="Text 9"/>
          <p:cNvSpPr/>
          <p:nvPr/>
        </p:nvSpPr>
        <p:spPr>
          <a:xfrm>
            <a:off x="4404360" y="3776472"/>
            <a:ext cx="3352800" cy="274320"/>
          </a:xfrm>
          <a:prstGeom prst="rect">
            <a:avLst/>
          </a:prstGeom>
          <a:noFill/>
          <a:ln/>
        </p:spPr>
        <p:txBody>
          <a:bodyPr wrap="square" rtlCol="0" anchor="ctr"/>
          <a:lstStyle/>
          <a:p>
            <a:pPr algn="ctr" indent="0" marL="0">
              <a:buNone/>
            </a:pPr>
            <a:r>
              <a:rPr lang="en-US" sz="1100" b="1" spc="150" kern="0" dirty="0">
                <a:solidFill>
                  <a:srgbClr val="2D1B69"/>
                </a:solidFill>
                <a:latin typeface="Calibri" pitchFamily="34" charset="0"/>
                <a:ea typeface="Calibri" pitchFamily="34" charset="-122"/>
                <a:cs typeface="Calibri" pitchFamily="34" charset="-120"/>
              </a:rPr>
              <a:t>RANKING</a:t>
            </a:r>
            <a:endParaRPr lang="en-US" sz="1100" dirty="0"/>
          </a:p>
        </p:txBody>
      </p:sp>
      <p:sp>
        <p:nvSpPr>
          <p:cNvPr id="12" name="Text 10"/>
          <p:cNvSpPr/>
          <p:nvPr/>
        </p:nvSpPr>
        <p:spPr>
          <a:xfrm>
            <a:off x="4632960" y="4114800"/>
            <a:ext cx="2895600" cy="685800"/>
          </a:xfrm>
          <a:prstGeom prst="rect">
            <a:avLst/>
          </a:prstGeom>
          <a:noFill/>
          <a:ln/>
        </p:spPr>
        <p:txBody>
          <a:bodyPr wrap="square" rtlCol="0" anchor="ctr"/>
          <a:lstStyle/>
          <a:p>
            <a:pPr algn="ctr" indent="0" marL="0">
              <a:lnSpc>
                <a:spcPct val="120000"/>
              </a:lnSpc>
              <a:buNone/>
            </a:pPr>
            <a:r>
              <a:rPr lang="en-US" sz="1100" dirty="0">
                <a:solidFill>
                  <a:srgbClr val="5B5470"/>
                </a:solidFill>
                <a:latin typeface="Calibri" pitchFamily="34" charset="0"/>
                <a:ea typeface="Calibri" pitchFamily="34" charset="-122"/>
                <a:cs typeface="Calibri" pitchFamily="34" charset="-120"/>
              </a:rPr>
              <a:t>Top match consistently identified in tests</a:t>
            </a:r>
            <a:endParaRPr lang="en-US" sz="1100" dirty="0"/>
          </a:p>
        </p:txBody>
      </p:sp>
      <p:sp>
        <p:nvSpPr>
          <p:cNvPr id="13" name="Shape 11"/>
          <p:cNvSpPr/>
          <p:nvPr/>
        </p:nvSpPr>
        <p:spPr>
          <a:xfrm>
            <a:off x="8168640" y="3063240"/>
            <a:ext cx="3352800" cy="1828800"/>
          </a:xfrm>
          <a:prstGeom prst="roundRect">
            <a:avLst>
              <a:gd name="adj" fmla="val 5000"/>
            </a:avLst>
          </a:prstGeom>
          <a:solidFill>
            <a:srgbClr val="FFFFFF"/>
          </a:solidFill>
          <a:ln/>
          <a:effectLst>
            <a:outerShdw sx="100000" sy="100000" kx="0" ky="0" algn="bl" rotWithShape="0" blurRad="101600" dist="25400" dir="5400000">
              <a:srgbClr val="3B2E6B">
                <a:alpha val="14000"/>
              </a:srgbClr>
            </a:outerShdw>
          </a:effectLst>
        </p:spPr>
      </p:sp>
      <p:sp>
        <p:nvSpPr>
          <p:cNvPr id="14" name="Text 12"/>
          <p:cNvSpPr/>
          <p:nvPr/>
        </p:nvSpPr>
        <p:spPr>
          <a:xfrm>
            <a:off x="8168640" y="3227832"/>
            <a:ext cx="3352800" cy="548640"/>
          </a:xfrm>
          <a:prstGeom prst="rect">
            <a:avLst/>
          </a:prstGeom>
          <a:noFill/>
          <a:ln/>
        </p:spPr>
        <p:txBody>
          <a:bodyPr wrap="square"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Dual</a:t>
            </a:r>
            <a:endParaRPr lang="en-US" sz="2600" dirty="0"/>
          </a:p>
        </p:txBody>
      </p:sp>
      <p:sp>
        <p:nvSpPr>
          <p:cNvPr id="15" name="Text 13"/>
          <p:cNvSpPr/>
          <p:nvPr/>
        </p:nvSpPr>
        <p:spPr>
          <a:xfrm>
            <a:off x="8168640" y="3776472"/>
            <a:ext cx="3352800" cy="274320"/>
          </a:xfrm>
          <a:prstGeom prst="rect">
            <a:avLst/>
          </a:prstGeom>
          <a:noFill/>
          <a:ln/>
        </p:spPr>
        <p:txBody>
          <a:bodyPr wrap="square" rtlCol="0" anchor="ctr"/>
          <a:lstStyle/>
          <a:p>
            <a:pPr algn="ctr" indent="0" marL="0">
              <a:buNone/>
            </a:pPr>
            <a:r>
              <a:rPr lang="en-US" sz="1100" b="1" spc="150" kern="0" dirty="0">
                <a:solidFill>
                  <a:srgbClr val="2D1B69"/>
                </a:solidFill>
                <a:latin typeface="Calibri" pitchFamily="34" charset="0"/>
                <a:ea typeface="Calibri" pitchFamily="34" charset="-122"/>
                <a:cs typeface="Calibri" pitchFamily="34" charset="-120"/>
              </a:rPr>
              <a:t>METRICS</a:t>
            </a:r>
            <a:endParaRPr lang="en-US" sz="1100" dirty="0"/>
          </a:p>
        </p:txBody>
      </p:sp>
      <p:sp>
        <p:nvSpPr>
          <p:cNvPr id="16" name="Text 14"/>
          <p:cNvSpPr/>
          <p:nvPr/>
        </p:nvSpPr>
        <p:spPr>
          <a:xfrm>
            <a:off x="8397240" y="4114800"/>
            <a:ext cx="2895600" cy="685800"/>
          </a:xfrm>
          <a:prstGeom prst="rect">
            <a:avLst/>
          </a:prstGeom>
          <a:noFill/>
          <a:ln/>
        </p:spPr>
        <p:txBody>
          <a:bodyPr wrap="square" rtlCol="0" anchor="ctr"/>
          <a:lstStyle/>
          <a:p>
            <a:pPr algn="ctr" indent="0" marL="0">
              <a:lnSpc>
                <a:spcPct val="120000"/>
              </a:lnSpc>
              <a:buNone/>
            </a:pPr>
            <a:r>
              <a:rPr lang="en-US" sz="1100" dirty="0">
                <a:solidFill>
                  <a:srgbClr val="5B5470"/>
                </a:solidFill>
                <a:latin typeface="Calibri" pitchFamily="34" charset="0"/>
                <a:ea typeface="Calibri" pitchFamily="34" charset="-122"/>
                <a:cs typeface="Calibri" pitchFamily="34" charset="-120"/>
              </a:rPr>
              <a:t>Cosine + Jaccard cross-check each result</a:t>
            </a:r>
            <a:endParaRPr lang="en-US" sz="1100" dirty="0"/>
          </a:p>
        </p:txBody>
      </p:sp>
      <p:sp>
        <p:nvSpPr>
          <p:cNvPr id="17" name="Shape 15"/>
          <p:cNvSpPr/>
          <p:nvPr/>
        </p:nvSpPr>
        <p:spPr>
          <a:xfrm>
            <a:off x="640080" y="5166360"/>
            <a:ext cx="10881360" cy="1051560"/>
          </a:xfrm>
          <a:prstGeom prst="roundRect">
            <a:avLst>
              <a:gd name="adj" fmla="val 8696"/>
            </a:avLst>
          </a:prstGeom>
          <a:solidFill>
            <a:srgbClr val="2D1B69"/>
          </a:solidFill>
          <a:ln/>
        </p:spPr>
      </p:sp>
      <p:sp>
        <p:nvSpPr>
          <p:cNvPr id="18" name="Text 16"/>
          <p:cNvSpPr/>
          <p:nvPr/>
        </p:nvSpPr>
        <p:spPr>
          <a:xfrm>
            <a:off x="914400" y="5285232"/>
            <a:ext cx="3200400" cy="274320"/>
          </a:xfrm>
          <a:prstGeom prst="rect">
            <a:avLst/>
          </a:prstGeom>
          <a:noFill/>
          <a:ln/>
        </p:spPr>
        <p:txBody>
          <a:bodyPr wrap="square" rtlCol="0" anchor="ctr"/>
          <a:lstStyle/>
          <a:p>
            <a:pPr indent="0" marL="0">
              <a:buNone/>
            </a:pPr>
            <a:r>
              <a:rPr lang="en-US" sz="1100" b="1" spc="100" kern="0" dirty="0">
                <a:solidFill>
                  <a:srgbClr val="D4A017"/>
                </a:solidFill>
                <a:latin typeface="Calibri" pitchFamily="34" charset="0"/>
                <a:ea typeface="Calibri" pitchFamily="34" charset="-122"/>
                <a:cs typeface="Calibri" pitchFamily="34" charset="-120"/>
              </a:rPr>
              <a:t>Sample Output Format</a:t>
            </a:r>
            <a:endParaRPr lang="en-US" sz="1100" dirty="0"/>
          </a:p>
        </p:txBody>
      </p:sp>
      <p:sp>
        <p:nvSpPr>
          <p:cNvPr id="19" name="Text 17"/>
          <p:cNvSpPr/>
          <p:nvPr/>
        </p:nvSpPr>
        <p:spPr>
          <a:xfrm>
            <a:off x="914400" y="5559552"/>
            <a:ext cx="10332720" cy="502920"/>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Query Song  →  Best Match: “Song Title”  |  Similarity Score: 0.87  |  Matched Segments: 3</a:t>
            </a:r>
            <a:endParaRPr lang="en-US" sz="1300" dirty="0"/>
          </a:p>
        </p:txBody>
      </p:sp>
      <p:sp>
        <p:nvSpPr>
          <p:cNvPr id="20" name="Text 18"/>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B54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247"/>
        </a:solidFill>
      </p:bgPr>
    </p:bg>
    <p:spTree>
      <p:nvGrpSpPr>
        <p:cNvPr id="1" name=""/>
        <p:cNvGrpSpPr/>
        <p:nvPr/>
      </p:nvGrpSpPr>
      <p:grpSpPr>
        <a:xfrm>
          <a:off x="0" y="0"/>
          <a:ext cx="0" cy="0"/>
          <a:chOff x="0" y="0"/>
          <a:chExt cx="0" cy="0"/>
        </a:xfrm>
      </p:grpSpPr>
      <p:sp>
        <p:nvSpPr>
          <p:cNvPr id="2" name="Shape 0"/>
          <p:cNvSpPr/>
          <p:nvPr/>
        </p:nvSpPr>
        <p:spPr>
          <a:xfrm>
            <a:off x="1042416" y="5843016"/>
            <a:ext cx="18288" cy="18288"/>
          </a:xfrm>
          <a:prstGeom prst="ellipse">
            <a:avLst/>
          </a:prstGeom>
          <a:solidFill>
            <a:srgbClr val="8F7FD1">
              <a:alpha val="18000"/>
            </a:srgbClr>
          </a:solidFill>
          <a:ln/>
        </p:spPr>
      </p:sp>
      <p:sp>
        <p:nvSpPr>
          <p:cNvPr id="3" name="Shape 1"/>
          <p:cNvSpPr/>
          <p:nvPr/>
        </p:nvSpPr>
        <p:spPr>
          <a:xfrm>
            <a:off x="1068672" y="5879762"/>
            <a:ext cx="20022" cy="20022"/>
          </a:xfrm>
          <a:prstGeom prst="ellipse">
            <a:avLst/>
          </a:prstGeom>
          <a:solidFill>
            <a:srgbClr val="8F7FD1">
              <a:alpha val="19000"/>
            </a:srgbClr>
          </a:solidFill>
          <a:ln/>
        </p:spPr>
      </p:sp>
      <p:sp>
        <p:nvSpPr>
          <p:cNvPr id="4" name="Shape 2"/>
          <p:cNvSpPr/>
          <p:nvPr/>
        </p:nvSpPr>
        <p:spPr>
          <a:xfrm>
            <a:off x="1063422" y="5937688"/>
            <a:ext cx="21756" cy="21756"/>
          </a:xfrm>
          <a:prstGeom prst="ellipse">
            <a:avLst/>
          </a:prstGeom>
          <a:solidFill>
            <a:srgbClr val="8F7FD1">
              <a:alpha val="20000"/>
            </a:srgbClr>
          </a:solidFill>
          <a:ln/>
        </p:spPr>
      </p:sp>
      <p:sp>
        <p:nvSpPr>
          <p:cNvPr id="5" name="Shape 3"/>
          <p:cNvSpPr/>
          <p:nvPr/>
        </p:nvSpPr>
        <p:spPr>
          <a:xfrm>
            <a:off x="1015781" y="5993387"/>
            <a:ext cx="23491" cy="23491"/>
          </a:xfrm>
          <a:prstGeom prst="ellipse">
            <a:avLst/>
          </a:prstGeom>
          <a:solidFill>
            <a:srgbClr val="8F7FD1">
              <a:alpha val="21000"/>
            </a:srgbClr>
          </a:solidFill>
          <a:ln/>
        </p:spPr>
      </p:sp>
      <p:sp>
        <p:nvSpPr>
          <p:cNvPr id="6" name="Shape 4"/>
          <p:cNvSpPr/>
          <p:nvPr/>
        </p:nvSpPr>
        <p:spPr>
          <a:xfrm>
            <a:off x="930362" y="6019654"/>
            <a:ext cx="25225" cy="25225"/>
          </a:xfrm>
          <a:prstGeom prst="ellipse">
            <a:avLst/>
          </a:prstGeom>
          <a:solidFill>
            <a:srgbClr val="8F7FD1">
              <a:alpha val="22000"/>
            </a:srgbClr>
          </a:solidFill>
          <a:ln/>
        </p:spPr>
      </p:sp>
      <p:sp>
        <p:nvSpPr>
          <p:cNvPr id="7" name="Shape 5"/>
          <p:cNvSpPr/>
          <p:nvPr/>
        </p:nvSpPr>
        <p:spPr>
          <a:xfrm>
            <a:off x="827542" y="5994804"/>
            <a:ext cx="26959" cy="26959"/>
          </a:xfrm>
          <a:prstGeom prst="ellipse">
            <a:avLst/>
          </a:prstGeom>
          <a:solidFill>
            <a:srgbClr val="8F7FD1">
              <a:alpha val="23000"/>
            </a:srgbClr>
          </a:solidFill>
          <a:ln/>
        </p:spPr>
      </p:sp>
      <p:sp>
        <p:nvSpPr>
          <p:cNvPr id="8" name="Shape 6"/>
          <p:cNvSpPr/>
          <p:nvPr/>
        </p:nvSpPr>
        <p:spPr>
          <a:xfrm>
            <a:off x="738584" y="5910993"/>
            <a:ext cx="28693" cy="28693"/>
          </a:xfrm>
          <a:prstGeom prst="ellipse">
            <a:avLst/>
          </a:prstGeom>
          <a:solidFill>
            <a:srgbClr val="8F7FD1">
              <a:alpha val="24000"/>
            </a:srgbClr>
          </a:solidFill>
          <a:ln/>
        </p:spPr>
      </p:sp>
      <p:sp>
        <p:nvSpPr>
          <p:cNvPr id="9" name="Shape 7"/>
          <p:cNvSpPr/>
          <p:nvPr/>
        </p:nvSpPr>
        <p:spPr>
          <a:xfrm>
            <a:off x="696758" y="5778906"/>
            <a:ext cx="30427" cy="30427"/>
          </a:xfrm>
          <a:prstGeom prst="ellipse">
            <a:avLst/>
          </a:prstGeom>
          <a:solidFill>
            <a:srgbClr val="8F7FD1">
              <a:alpha val="25000"/>
            </a:srgbClr>
          </a:solidFill>
          <a:ln/>
        </p:spPr>
      </p:sp>
      <p:sp>
        <p:nvSpPr>
          <p:cNvPr id="10" name="Shape 8"/>
          <p:cNvSpPr/>
          <p:nvPr/>
        </p:nvSpPr>
        <p:spPr>
          <a:xfrm>
            <a:off x="726892" y="5627114"/>
            <a:ext cx="32162" cy="32162"/>
          </a:xfrm>
          <a:prstGeom prst="ellipse">
            <a:avLst/>
          </a:prstGeom>
          <a:solidFill>
            <a:srgbClr val="8F7FD1">
              <a:alpha val="26000"/>
            </a:srgbClr>
          </a:solidFill>
          <a:ln/>
        </p:spPr>
      </p:sp>
      <p:sp>
        <p:nvSpPr>
          <p:cNvPr id="11" name="Shape 9"/>
          <p:cNvSpPr/>
          <p:nvPr/>
        </p:nvSpPr>
        <p:spPr>
          <a:xfrm>
            <a:off x="836333" y="5495861"/>
            <a:ext cx="33896" cy="33896"/>
          </a:xfrm>
          <a:prstGeom prst="ellipse">
            <a:avLst/>
          </a:prstGeom>
          <a:solidFill>
            <a:srgbClr val="8F7FD1">
              <a:alpha val="28000"/>
            </a:srgbClr>
          </a:solidFill>
          <a:ln/>
        </p:spPr>
      </p:sp>
      <p:sp>
        <p:nvSpPr>
          <p:cNvPr id="12" name="Shape 10"/>
          <p:cNvSpPr/>
          <p:nvPr/>
        </p:nvSpPr>
        <p:spPr>
          <a:xfrm>
            <a:off x="1010131" y="5426617"/>
            <a:ext cx="35630" cy="35630"/>
          </a:xfrm>
          <a:prstGeom prst="ellipse">
            <a:avLst/>
          </a:prstGeom>
          <a:solidFill>
            <a:srgbClr val="8F7FD1">
              <a:alpha val="29000"/>
            </a:srgbClr>
          </a:solidFill>
          <a:ln/>
        </p:spPr>
      </p:sp>
      <p:sp>
        <p:nvSpPr>
          <p:cNvPr id="13" name="Shape 11"/>
          <p:cNvSpPr/>
          <p:nvPr/>
        </p:nvSpPr>
        <p:spPr>
          <a:xfrm>
            <a:off x="1212226" y="5450069"/>
            <a:ext cx="37364" cy="37364"/>
          </a:xfrm>
          <a:prstGeom prst="ellipse">
            <a:avLst/>
          </a:prstGeom>
          <a:solidFill>
            <a:srgbClr val="8F7FD1">
              <a:alpha val="30000"/>
            </a:srgbClr>
          </a:solidFill>
          <a:ln/>
        </p:spPr>
      </p:sp>
      <p:sp>
        <p:nvSpPr>
          <p:cNvPr id="14" name="Shape 12"/>
          <p:cNvSpPr/>
          <p:nvPr/>
        </p:nvSpPr>
        <p:spPr>
          <a:xfrm>
            <a:off x="1392842" y="5575840"/>
            <a:ext cx="39098" cy="39098"/>
          </a:xfrm>
          <a:prstGeom prst="ellipse">
            <a:avLst/>
          </a:prstGeom>
          <a:solidFill>
            <a:srgbClr val="8F7FD1">
              <a:alpha val="31000"/>
            </a:srgbClr>
          </a:solidFill>
          <a:ln/>
        </p:spPr>
      </p:sp>
      <p:sp>
        <p:nvSpPr>
          <p:cNvPr id="15" name="Shape 13"/>
          <p:cNvSpPr/>
          <p:nvPr/>
        </p:nvSpPr>
        <p:spPr>
          <a:xfrm>
            <a:off x="1500592" y="5786985"/>
            <a:ext cx="40833" cy="40833"/>
          </a:xfrm>
          <a:prstGeom prst="ellipse">
            <a:avLst/>
          </a:prstGeom>
          <a:solidFill>
            <a:srgbClr val="8F7FD1">
              <a:alpha val="32000"/>
            </a:srgbClr>
          </a:solidFill>
          <a:ln/>
        </p:spPr>
      </p:sp>
      <p:sp>
        <p:nvSpPr>
          <p:cNvPr id="16" name="Shape 14"/>
          <p:cNvSpPr/>
          <p:nvPr/>
        </p:nvSpPr>
        <p:spPr>
          <a:xfrm>
            <a:off x="1496375" y="6041257"/>
            <a:ext cx="42567" cy="42567"/>
          </a:xfrm>
          <a:prstGeom prst="ellipse">
            <a:avLst/>
          </a:prstGeom>
          <a:solidFill>
            <a:srgbClr val="8F7FD1">
              <a:alpha val="33000"/>
            </a:srgbClr>
          </a:solidFill>
          <a:ln/>
        </p:spPr>
      </p:sp>
      <p:sp>
        <p:nvSpPr>
          <p:cNvPr id="17" name="Shape 15"/>
          <p:cNvSpPr/>
          <p:nvPr/>
        </p:nvSpPr>
        <p:spPr>
          <a:xfrm>
            <a:off x="1365408" y="6279403"/>
            <a:ext cx="44301" cy="44301"/>
          </a:xfrm>
          <a:prstGeom prst="ellipse">
            <a:avLst/>
          </a:prstGeom>
          <a:solidFill>
            <a:srgbClr val="8F7FD1">
              <a:alpha val="34000"/>
            </a:srgbClr>
          </a:solidFill>
          <a:ln/>
        </p:spPr>
      </p:sp>
      <p:sp>
        <p:nvSpPr>
          <p:cNvPr id="18" name="Shape 16"/>
          <p:cNvSpPr/>
          <p:nvPr/>
        </p:nvSpPr>
        <p:spPr>
          <a:xfrm>
            <a:off x="1123984" y="6438907"/>
            <a:ext cx="46035" cy="46035"/>
          </a:xfrm>
          <a:prstGeom prst="ellipse">
            <a:avLst/>
          </a:prstGeom>
          <a:solidFill>
            <a:srgbClr val="8F7FD1">
              <a:alpha val="35000"/>
            </a:srgbClr>
          </a:solidFill>
          <a:ln/>
        </p:spPr>
      </p:sp>
      <p:sp>
        <p:nvSpPr>
          <p:cNvPr id="19" name="Shape 17"/>
          <p:cNvSpPr/>
          <p:nvPr/>
        </p:nvSpPr>
        <p:spPr>
          <a:xfrm>
            <a:off x="818675" y="6469980"/>
            <a:ext cx="47770" cy="47770"/>
          </a:xfrm>
          <a:prstGeom prst="ellipse">
            <a:avLst/>
          </a:prstGeom>
          <a:solidFill>
            <a:srgbClr val="8F7FD1">
              <a:alpha val="37000"/>
            </a:srgbClr>
          </a:solidFill>
          <a:ln/>
        </p:spPr>
      </p:sp>
      <p:sp>
        <p:nvSpPr>
          <p:cNvPr id="20" name="Shape 18"/>
          <p:cNvSpPr/>
          <p:nvPr/>
        </p:nvSpPr>
        <p:spPr>
          <a:xfrm>
            <a:off x="517520" y="6349791"/>
            <a:ext cx="49504" cy="49504"/>
          </a:xfrm>
          <a:prstGeom prst="ellipse">
            <a:avLst/>
          </a:prstGeom>
          <a:solidFill>
            <a:srgbClr val="8F7FD1">
              <a:alpha val="38000"/>
            </a:srgbClr>
          </a:solidFill>
          <a:ln/>
        </p:spPr>
      </p:sp>
      <p:sp>
        <p:nvSpPr>
          <p:cNvPr id="21" name="Shape 19"/>
          <p:cNvSpPr/>
          <p:nvPr/>
        </p:nvSpPr>
        <p:spPr>
          <a:xfrm>
            <a:off x="294821" y="6091062"/>
            <a:ext cx="51238" cy="51238"/>
          </a:xfrm>
          <a:prstGeom prst="ellipse">
            <a:avLst/>
          </a:prstGeom>
          <a:solidFill>
            <a:srgbClr val="8F7FD1">
              <a:alpha val="39000"/>
            </a:srgbClr>
          </a:solidFill>
          <a:ln/>
        </p:spPr>
      </p:sp>
      <p:sp>
        <p:nvSpPr>
          <p:cNvPr id="22" name="Shape 20"/>
          <p:cNvSpPr/>
          <p:nvPr/>
        </p:nvSpPr>
        <p:spPr>
          <a:xfrm>
            <a:off x="212939" y="5742321"/>
            <a:ext cx="52972" cy="52972"/>
          </a:xfrm>
          <a:prstGeom prst="ellipse">
            <a:avLst/>
          </a:prstGeom>
          <a:solidFill>
            <a:srgbClr val="8F7FD1">
              <a:alpha val="40000"/>
            </a:srgbClr>
          </a:solidFill>
          <a:ln/>
        </p:spPr>
      </p:sp>
      <p:sp>
        <p:nvSpPr>
          <p:cNvPr id="23" name="Shape 21"/>
          <p:cNvSpPr/>
          <p:nvPr/>
        </p:nvSpPr>
        <p:spPr>
          <a:xfrm>
            <a:off x="305513" y="5379084"/>
            <a:ext cx="54706" cy="54706"/>
          </a:xfrm>
          <a:prstGeom prst="ellipse">
            <a:avLst/>
          </a:prstGeom>
          <a:solidFill>
            <a:srgbClr val="8F7FD1">
              <a:alpha val="41000"/>
            </a:srgbClr>
          </a:solidFill>
          <a:ln/>
        </p:spPr>
      </p:sp>
      <p:sp>
        <p:nvSpPr>
          <p:cNvPr id="24" name="Shape 22"/>
          <p:cNvSpPr/>
          <p:nvPr/>
        </p:nvSpPr>
        <p:spPr>
          <a:xfrm>
            <a:off x="566487" y="5087471"/>
            <a:ext cx="56441" cy="56441"/>
          </a:xfrm>
          <a:prstGeom prst="ellipse">
            <a:avLst/>
          </a:prstGeom>
          <a:solidFill>
            <a:srgbClr val="8F7FD1">
              <a:alpha val="42000"/>
            </a:srgbClr>
          </a:solidFill>
          <a:ln/>
        </p:spPr>
      </p:sp>
      <p:sp>
        <p:nvSpPr>
          <p:cNvPr id="25" name="Shape 23"/>
          <p:cNvSpPr/>
          <p:nvPr/>
        </p:nvSpPr>
        <p:spPr>
          <a:xfrm>
            <a:off x="948168" y="4943821"/>
            <a:ext cx="58175" cy="58175"/>
          </a:xfrm>
          <a:prstGeom prst="ellipse">
            <a:avLst/>
          </a:prstGeom>
          <a:solidFill>
            <a:srgbClr val="8F7FD1">
              <a:alpha val="43000"/>
            </a:srgbClr>
          </a:solidFill>
          <a:ln/>
        </p:spPr>
      </p:sp>
      <p:sp>
        <p:nvSpPr>
          <p:cNvPr id="26" name="Shape 24"/>
          <p:cNvSpPr/>
          <p:nvPr/>
        </p:nvSpPr>
        <p:spPr>
          <a:xfrm>
            <a:off x="1369477" y="4995103"/>
            <a:ext cx="59909" cy="59909"/>
          </a:xfrm>
          <a:prstGeom prst="ellipse">
            <a:avLst/>
          </a:prstGeom>
          <a:solidFill>
            <a:srgbClr val="8F7FD1">
              <a:alpha val="44000"/>
            </a:srgbClr>
          </a:solidFill>
          <a:ln/>
        </p:spPr>
      </p:sp>
      <p:sp>
        <p:nvSpPr>
          <p:cNvPr id="27" name="Shape 25"/>
          <p:cNvSpPr/>
          <p:nvPr/>
        </p:nvSpPr>
        <p:spPr>
          <a:xfrm>
            <a:off x="1733088" y="5245069"/>
            <a:ext cx="61643" cy="61643"/>
          </a:xfrm>
          <a:prstGeom prst="ellipse">
            <a:avLst/>
          </a:prstGeom>
          <a:solidFill>
            <a:srgbClr val="8F7FD1">
              <a:alpha val="46000"/>
            </a:srgbClr>
          </a:solidFill>
          <a:ln/>
        </p:spPr>
      </p:sp>
      <p:sp>
        <p:nvSpPr>
          <p:cNvPr id="28" name="Shape 26"/>
          <p:cNvSpPr/>
          <p:nvPr/>
        </p:nvSpPr>
        <p:spPr>
          <a:xfrm>
            <a:off x="1947838" y="5649992"/>
            <a:ext cx="63377" cy="63377"/>
          </a:xfrm>
          <a:prstGeom prst="ellipse">
            <a:avLst/>
          </a:prstGeom>
          <a:solidFill>
            <a:srgbClr val="8F7FD1">
              <a:alpha val="47000"/>
            </a:srgbClr>
          </a:solidFill>
          <a:ln/>
        </p:spPr>
      </p:sp>
      <p:sp>
        <p:nvSpPr>
          <p:cNvPr id="29" name="Shape 27"/>
          <p:cNvSpPr/>
          <p:nvPr/>
        </p:nvSpPr>
        <p:spPr>
          <a:xfrm>
            <a:off x="1951261" y="6125696"/>
            <a:ext cx="65112" cy="65112"/>
          </a:xfrm>
          <a:prstGeom prst="ellipse">
            <a:avLst/>
          </a:prstGeom>
          <a:solidFill>
            <a:srgbClr val="8F7FD1">
              <a:alpha val="48000"/>
            </a:srgbClr>
          </a:solidFill>
          <a:ln/>
        </p:spPr>
      </p:sp>
      <p:sp>
        <p:nvSpPr>
          <p:cNvPr id="30" name="Shape 28"/>
          <p:cNvSpPr/>
          <p:nvPr/>
        </p:nvSpPr>
        <p:spPr>
          <a:xfrm>
            <a:off x="1726724" y="6564916"/>
            <a:ext cx="66846" cy="66846"/>
          </a:xfrm>
          <a:prstGeom prst="ellipse">
            <a:avLst/>
          </a:prstGeom>
          <a:solidFill>
            <a:srgbClr val="8F7FD1">
              <a:alpha val="49000"/>
            </a:srgbClr>
          </a:solidFill>
          <a:ln/>
        </p:spPr>
      </p:sp>
      <p:sp>
        <p:nvSpPr>
          <p:cNvPr id="31" name="Shape 29"/>
          <p:cNvSpPr/>
          <p:nvPr/>
        </p:nvSpPr>
        <p:spPr>
          <a:xfrm>
            <a:off x="1310628" y="6861445"/>
            <a:ext cx="68580" cy="68580"/>
          </a:xfrm>
          <a:prstGeom prst="ellipse">
            <a:avLst/>
          </a:prstGeom>
          <a:solidFill>
            <a:srgbClr val="8F7FD1">
              <a:alpha val="50000"/>
            </a:srgbClr>
          </a:solidFill>
          <a:ln/>
        </p:spPr>
      </p:sp>
      <p:sp>
        <p:nvSpPr>
          <p:cNvPr id="32" name="Text 30"/>
          <p:cNvSpPr/>
          <p:nvPr/>
        </p:nvSpPr>
        <p:spPr>
          <a:xfrm>
            <a:off x="640080" y="457200"/>
            <a:ext cx="5486400" cy="365760"/>
          </a:xfrm>
          <a:prstGeom prst="rect">
            <a:avLst/>
          </a:prstGeom>
          <a:noFill/>
          <a:ln/>
        </p:spPr>
        <p:txBody>
          <a:bodyPr wrap="square"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08  ·  CONCLUSION</a:t>
            </a:r>
            <a:endParaRPr lang="en-US" sz="1200" dirty="0"/>
          </a:p>
        </p:txBody>
      </p:sp>
      <p:sp>
        <p:nvSpPr>
          <p:cNvPr id="33" name="Text 31"/>
          <p:cNvSpPr/>
          <p:nvPr/>
        </p:nvSpPr>
        <p:spPr>
          <a:xfrm>
            <a:off x="640080" y="777240"/>
            <a:ext cx="1088136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4" name="Shape 32"/>
          <p:cNvSpPr/>
          <p:nvPr/>
        </p:nvSpPr>
        <p:spPr>
          <a:xfrm>
            <a:off x="640080" y="1965960"/>
            <a:ext cx="10881360" cy="3017520"/>
          </a:xfrm>
          <a:prstGeom prst="roundRect">
            <a:avLst>
              <a:gd name="adj" fmla="val 3030"/>
            </a:avLst>
          </a:prstGeom>
          <a:solidFill>
            <a:srgbClr val="281A55"/>
          </a:solidFill>
          <a:ln/>
        </p:spPr>
      </p:sp>
      <p:sp>
        <p:nvSpPr>
          <p:cNvPr id="35" name="Shape 33"/>
          <p:cNvSpPr/>
          <p:nvPr/>
        </p:nvSpPr>
        <p:spPr>
          <a:xfrm>
            <a:off x="640080" y="1965960"/>
            <a:ext cx="82296" cy="3017520"/>
          </a:xfrm>
          <a:prstGeom prst="rect">
            <a:avLst/>
          </a:prstGeom>
          <a:solidFill>
            <a:srgbClr val="D4A017"/>
          </a:solidFill>
          <a:ln/>
        </p:spPr>
      </p:sp>
      <p:sp>
        <p:nvSpPr>
          <p:cNvPr id="36" name="Text 34"/>
          <p:cNvSpPr/>
          <p:nvPr/>
        </p:nvSpPr>
        <p:spPr>
          <a:xfrm>
            <a:off x="1051560" y="2286000"/>
            <a:ext cx="10149840" cy="2468880"/>
          </a:xfrm>
          <a:prstGeom prst="rect">
            <a:avLst/>
          </a:prstGeom>
          <a:noFill/>
          <a:ln/>
        </p:spPr>
        <p:txBody>
          <a:bodyPr wrap="square" rtlCol="0" anchor="ctr"/>
          <a:lstStyle/>
          <a:p>
            <a:pPr indent="0" marL="0">
              <a:lnSpc>
                <a:spcPct val="140000"/>
              </a:lnSpc>
              <a:buNone/>
            </a:pPr>
            <a:r>
              <a:rPr lang="en-US" sz="1700" dirty="0">
                <a:solidFill>
                  <a:srgbClr val="E7E1F7"/>
                </a:solidFill>
                <a:latin typeface="Calibri" pitchFamily="34" charset="0"/>
                <a:ea typeface="Calibri" pitchFamily="34" charset="-122"/>
                <a:cs typeface="Calibri" pitchFamily="34" charset="-120"/>
              </a:rPr>
              <a:t>The project provides a fast and effective solution for detecting lyric similarities by combining string matching with text similarity techniques. It helps identify similar songs accurately while reducing the manual effort involved in plagiarism detection — giving songwriters, publishers, and platforms a practical first line of defence for originality checks.</a:t>
            </a:r>
            <a:endParaRPr lang="en-US" sz="1700" dirty="0"/>
          </a:p>
        </p:txBody>
      </p:sp>
      <p:sp>
        <p:nvSpPr>
          <p:cNvPr id="37" name="Text 35"/>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C9C2E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FA"/>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rtlCol="0" anchor="ctr"/>
          <a:lstStyle/>
          <a:p>
            <a:pPr indent="0" marL="0">
              <a:buNone/>
            </a:pPr>
            <a:r>
              <a:rPr lang="en-US" sz="1200" b="1" spc="200" kern="0" dirty="0">
                <a:solidFill>
                  <a:srgbClr val="2D1B69"/>
                </a:solidFill>
                <a:latin typeface="Calibri" pitchFamily="34" charset="0"/>
                <a:ea typeface="Calibri" pitchFamily="34" charset="-122"/>
                <a:cs typeface="Calibri" pitchFamily="34" charset="-120"/>
              </a:rPr>
              <a:t>09  ·  FUTURE SCOPE</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3400" b="1" dirty="0">
                <a:solidFill>
                  <a:srgbClr val="241B3A"/>
                </a:solidFill>
                <a:latin typeface="Cambria" pitchFamily="34" charset="0"/>
                <a:ea typeface="Cambria" pitchFamily="34" charset="-122"/>
                <a:cs typeface="Cambria" pitchFamily="34" charset="-120"/>
              </a:rPr>
              <a:t>Future Scope</a:t>
            </a:r>
            <a:endParaRPr lang="en-US" sz="3400" dirty="0"/>
          </a:p>
        </p:txBody>
      </p:sp>
      <p:sp>
        <p:nvSpPr>
          <p:cNvPr id="4" name="Shape 2"/>
          <p:cNvSpPr/>
          <p:nvPr/>
        </p:nvSpPr>
        <p:spPr>
          <a:xfrm>
            <a:off x="640080" y="1965960"/>
            <a:ext cx="5257800" cy="1737360"/>
          </a:xfrm>
          <a:prstGeom prst="roundRect">
            <a:avLst>
              <a:gd name="adj" fmla="val 5263"/>
            </a:avLst>
          </a:prstGeom>
          <a:solidFill>
            <a:srgbClr val="FFFFFF"/>
          </a:solidFill>
          <a:ln/>
          <a:effectLst>
            <a:outerShdw sx="100000" sy="100000" kx="0" ky="0" algn="bl" rotWithShape="0" blurRad="101600" dist="25400" dir="5400000">
              <a:srgbClr val="3B2E6B">
                <a:alpha val="14000"/>
              </a:srgbClr>
            </a:outerShdw>
          </a:effectLst>
        </p:spPr>
      </p:sp>
      <p:sp>
        <p:nvSpPr>
          <p:cNvPr id="5" name="Shape 3"/>
          <p:cNvSpPr/>
          <p:nvPr/>
        </p:nvSpPr>
        <p:spPr>
          <a:xfrm>
            <a:off x="896112" y="2221992"/>
            <a:ext cx="457200" cy="457200"/>
          </a:xfrm>
          <a:prstGeom prst="ellipse">
            <a:avLst/>
          </a:prstGeom>
          <a:solidFill>
            <a:srgbClr val="D4A017"/>
          </a:solidFill>
          <a:ln/>
        </p:spPr>
      </p:sp>
      <p:sp>
        <p:nvSpPr>
          <p:cNvPr id="6" name="Text 4"/>
          <p:cNvSpPr/>
          <p:nvPr/>
        </p:nvSpPr>
        <p:spPr>
          <a:xfrm>
            <a:off x="896112" y="2221992"/>
            <a:ext cx="457200" cy="457200"/>
          </a:xfrm>
          <a:prstGeom prst="rect">
            <a:avLst/>
          </a:prstGeom>
          <a:noFill/>
          <a:ln/>
        </p:spPr>
        <p:txBody>
          <a:bodyPr wrap="square" rtlCol="0" anchor="ctr"/>
          <a:lstStyle/>
          <a:p>
            <a:pPr algn="ctr" indent="0" marL="0">
              <a:buNone/>
            </a:pPr>
            <a:r>
              <a:rPr lang="en-US" sz="1500" b="1" dirty="0">
                <a:solidFill>
                  <a:srgbClr val="1E1247"/>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08760" y="2167128"/>
            <a:ext cx="4160520" cy="365760"/>
          </a:xfrm>
          <a:prstGeom prst="rect">
            <a:avLst/>
          </a:prstGeom>
          <a:noFill/>
          <a:ln/>
        </p:spPr>
        <p:txBody>
          <a:bodyPr wrap="square" rtlCol="0" anchor="ctr"/>
          <a:lstStyle/>
          <a:p>
            <a:pPr indent="0" marL="0">
              <a:buNone/>
            </a:pPr>
            <a:r>
              <a:rPr lang="en-US" sz="1450" b="1" dirty="0">
                <a:solidFill>
                  <a:srgbClr val="2D1B69"/>
                </a:solidFill>
                <a:latin typeface="Cambria" pitchFamily="34" charset="0"/>
                <a:ea typeface="Cambria" pitchFamily="34" charset="-122"/>
                <a:cs typeface="Cambria" pitchFamily="34" charset="-120"/>
              </a:rPr>
              <a:t>Deep Learning Embeddings</a:t>
            </a:r>
            <a:endParaRPr lang="en-US" sz="1450" dirty="0"/>
          </a:p>
        </p:txBody>
      </p:sp>
      <p:sp>
        <p:nvSpPr>
          <p:cNvPr id="8" name="Text 6"/>
          <p:cNvSpPr/>
          <p:nvPr/>
        </p:nvSpPr>
        <p:spPr>
          <a:xfrm>
            <a:off x="1508760" y="2560320"/>
            <a:ext cx="4160520" cy="1005840"/>
          </a:xfrm>
          <a:prstGeom prst="rect">
            <a:avLst/>
          </a:prstGeom>
          <a:noFill/>
          <a:ln/>
        </p:spPr>
        <p:txBody>
          <a:bodyPr wrap="square" rtlCol="0" anchor="ctr"/>
          <a:lstStyle/>
          <a:p>
            <a:pPr indent="0" marL="0">
              <a:lnSpc>
                <a:spcPct val="125000"/>
              </a:lnSpc>
              <a:buNone/>
            </a:pPr>
            <a:r>
              <a:rPr lang="en-US" sz="1150" dirty="0">
                <a:solidFill>
                  <a:srgbClr val="5B5470"/>
                </a:solidFill>
                <a:latin typeface="Calibri" pitchFamily="34" charset="0"/>
                <a:ea typeface="Calibri" pitchFamily="34" charset="-122"/>
                <a:cs typeface="Calibri" pitchFamily="34" charset="-120"/>
              </a:rPr>
              <a:t>Use semantic embeddings (e.g. word2vec/transformers) to catch paraphrased, not just literal, similarity.</a:t>
            </a:r>
            <a:endParaRPr lang="en-US" sz="1150" dirty="0"/>
          </a:p>
        </p:txBody>
      </p:sp>
      <p:sp>
        <p:nvSpPr>
          <p:cNvPr id="9" name="Shape 7"/>
          <p:cNvSpPr/>
          <p:nvPr/>
        </p:nvSpPr>
        <p:spPr>
          <a:xfrm>
            <a:off x="6263640" y="1965960"/>
            <a:ext cx="5257800" cy="1737360"/>
          </a:xfrm>
          <a:prstGeom prst="roundRect">
            <a:avLst>
              <a:gd name="adj" fmla="val 5263"/>
            </a:avLst>
          </a:prstGeom>
          <a:solidFill>
            <a:srgbClr val="FFFFFF"/>
          </a:solidFill>
          <a:ln/>
          <a:effectLst>
            <a:outerShdw sx="100000" sy="100000" kx="0" ky="0" algn="bl" rotWithShape="0" blurRad="101600" dist="25400" dir="5400000">
              <a:srgbClr val="3B2E6B">
                <a:alpha val="14000"/>
              </a:srgbClr>
            </a:outerShdw>
          </a:effectLst>
        </p:spPr>
      </p:sp>
      <p:sp>
        <p:nvSpPr>
          <p:cNvPr id="10" name="Shape 8"/>
          <p:cNvSpPr/>
          <p:nvPr/>
        </p:nvSpPr>
        <p:spPr>
          <a:xfrm>
            <a:off x="6519672" y="2221992"/>
            <a:ext cx="457200" cy="457200"/>
          </a:xfrm>
          <a:prstGeom prst="ellipse">
            <a:avLst/>
          </a:prstGeom>
          <a:solidFill>
            <a:srgbClr val="D4A017"/>
          </a:solidFill>
          <a:ln/>
        </p:spPr>
      </p:sp>
      <p:sp>
        <p:nvSpPr>
          <p:cNvPr id="11" name="Text 9"/>
          <p:cNvSpPr/>
          <p:nvPr/>
        </p:nvSpPr>
        <p:spPr>
          <a:xfrm>
            <a:off x="6519672" y="2221992"/>
            <a:ext cx="457200" cy="457200"/>
          </a:xfrm>
          <a:prstGeom prst="rect">
            <a:avLst/>
          </a:prstGeom>
          <a:noFill/>
          <a:ln/>
        </p:spPr>
        <p:txBody>
          <a:bodyPr wrap="square" rtlCol="0" anchor="ctr"/>
          <a:lstStyle/>
          <a:p>
            <a:pPr algn="ctr" indent="0" marL="0">
              <a:buNone/>
            </a:pPr>
            <a:r>
              <a:rPr lang="en-US" sz="1500" b="1" dirty="0">
                <a:solidFill>
                  <a:srgbClr val="1E1247"/>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132320" y="2167128"/>
            <a:ext cx="4160520" cy="365760"/>
          </a:xfrm>
          <a:prstGeom prst="rect">
            <a:avLst/>
          </a:prstGeom>
          <a:noFill/>
          <a:ln/>
        </p:spPr>
        <p:txBody>
          <a:bodyPr wrap="square" rtlCol="0" anchor="ctr"/>
          <a:lstStyle/>
          <a:p>
            <a:pPr indent="0" marL="0">
              <a:buNone/>
            </a:pPr>
            <a:r>
              <a:rPr lang="en-US" sz="1450" b="1" dirty="0">
                <a:solidFill>
                  <a:srgbClr val="2D1B69"/>
                </a:solidFill>
                <a:latin typeface="Cambria" pitchFamily="34" charset="0"/>
                <a:ea typeface="Cambria" pitchFamily="34" charset="-122"/>
                <a:cs typeface="Cambria" pitchFamily="34" charset="-120"/>
              </a:rPr>
              <a:t>Audio-Based Matching</a:t>
            </a:r>
            <a:endParaRPr lang="en-US" sz="1450" dirty="0"/>
          </a:p>
        </p:txBody>
      </p:sp>
      <p:sp>
        <p:nvSpPr>
          <p:cNvPr id="13" name="Text 11"/>
          <p:cNvSpPr/>
          <p:nvPr/>
        </p:nvSpPr>
        <p:spPr>
          <a:xfrm>
            <a:off x="7132320" y="2560320"/>
            <a:ext cx="4160520" cy="1005840"/>
          </a:xfrm>
          <a:prstGeom prst="rect">
            <a:avLst/>
          </a:prstGeom>
          <a:noFill/>
          <a:ln/>
        </p:spPr>
        <p:txBody>
          <a:bodyPr wrap="square" rtlCol="0" anchor="ctr"/>
          <a:lstStyle/>
          <a:p>
            <a:pPr indent="0" marL="0">
              <a:lnSpc>
                <a:spcPct val="125000"/>
              </a:lnSpc>
              <a:buNone/>
            </a:pPr>
            <a:r>
              <a:rPr lang="en-US" sz="1150" dirty="0">
                <a:solidFill>
                  <a:srgbClr val="5B5470"/>
                </a:solidFill>
                <a:latin typeface="Calibri" pitchFamily="34" charset="0"/>
                <a:ea typeface="Calibri" pitchFamily="34" charset="-122"/>
                <a:cs typeface="Calibri" pitchFamily="34" charset="-120"/>
              </a:rPr>
              <a:t>Extend comparison beyond text to melody and rhythm for fuller copyright checks.</a:t>
            </a:r>
            <a:endParaRPr lang="en-US" sz="1150" dirty="0"/>
          </a:p>
        </p:txBody>
      </p:sp>
      <p:sp>
        <p:nvSpPr>
          <p:cNvPr id="14" name="Shape 12"/>
          <p:cNvSpPr/>
          <p:nvPr/>
        </p:nvSpPr>
        <p:spPr>
          <a:xfrm>
            <a:off x="640080" y="4023360"/>
            <a:ext cx="5257800" cy="1737360"/>
          </a:xfrm>
          <a:prstGeom prst="roundRect">
            <a:avLst>
              <a:gd name="adj" fmla="val 5263"/>
            </a:avLst>
          </a:prstGeom>
          <a:solidFill>
            <a:srgbClr val="FFFFFF"/>
          </a:solidFill>
          <a:ln/>
          <a:effectLst>
            <a:outerShdw sx="100000" sy="100000" kx="0" ky="0" algn="bl" rotWithShape="0" blurRad="101600" dist="25400" dir="5400000">
              <a:srgbClr val="3B2E6B">
                <a:alpha val="14000"/>
              </a:srgbClr>
            </a:outerShdw>
          </a:effectLst>
        </p:spPr>
      </p:sp>
      <p:sp>
        <p:nvSpPr>
          <p:cNvPr id="15" name="Shape 13"/>
          <p:cNvSpPr/>
          <p:nvPr/>
        </p:nvSpPr>
        <p:spPr>
          <a:xfrm>
            <a:off x="896112" y="4279392"/>
            <a:ext cx="457200" cy="457200"/>
          </a:xfrm>
          <a:prstGeom prst="ellipse">
            <a:avLst/>
          </a:prstGeom>
          <a:solidFill>
            <a:srgbClr val="D4A017"/>
          </a:solidFill>
          <a:ln/>
        </p:spPr>
      </p:sp>
      <p:sp>
        <p:nvSpPr>
          <p:cNvPr id="16" name="Text 14"/>
          <p:cNvSpPr/>
          <p:nvPr/>
        </p:nvSpPr>
        <p:spPr>
          <a:xfrm>
            <a:off x="896112" y="4279392"/>
            <a:ext cx="457200" cy="457200"/>
          </a:xfrm>
          <a:prstGeom prst="rect">
            <a:avLst/>
          </a:prstGeom>
          <a:noFill/>
          <a:ln/>
        </p:spPr>
        <p:txBody>
          <a:bodyPr wrap="square" rtlCol="0" anchor="ctr"/>
          <a:lstStyle/>
          <a:p>
            <a:pPr algn="ctr" indent="0" marL="0">
              <a:buNone/>
            </a:pPr>
            <a:r>
              <a:rPr lang="en-US" sz="1500" b="1" dirty="0">
                <a:solidFill>
                  <a:srgbClr val="1E1247"/>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08760" y="4224528"/>
            <a:ext cx="4160520" cy="365760"/>
          </a:xfrm>
          <a:prstGeom prst="rect">
            <a:avLst/>
          </a:prstGeom>
          <a:noFill/>
          <a:ln/>
        </p:spPr>
        <p:txBody>
          <a:bodyPr wrap="square" rtlCol="0" anchor="ctr"/>
          <a:lstStyle/>
          <a:p>
            <a:pPr indent="0" marL="0">
              <a:buNone/>
            </a:pPr>
            <a:r>
              <a:rPr lang="en-US" sz="1450" b="1" dirty="0">
                <a:solidFill>
                  <a:srgbClr val="2D1B69"/>
                </a:solidFill>
                <a:latin typeface="Cambria" pitchFamily="34" charset="0"/>
                <a:ea typeface="Cambria" pitchFamily="34" charset="-122"/>
                <a:cs typeface="Cambria" pitchFamily="34" charset="-120"/>
              </a:rPr>
              <a:t>Multilingual Support</a:t>
            </a:r>
            <a:endParaRPr lang="en-US" sz="1450" dirty="0"/>
          </a:p>
        </p:txBody>
      </p:sp>
      <p:sp>
        <p:nvSpPr>
          <p:cNvPr id="18" name="Text 16"/>
          <p:cNvSpPr/>
          <p:nvPr/>
        </p:nvSpPr>
        <p:spPr>
          <a:xfrm>
            <a:off x="1508760" y="4617720"/>
            <a:ext cx="4160520" cy="1005840"/>
          </a:xfrm>
          <a:prstGeom prst="rect">
            <a:avLst/>
          </a:prstGeom>
          <a:noFill/>
          <a:ln/>
        </p:spPr>
        <p:txBody>
          <a:bodyPr wrap="square" rtlCol="0" anchor="ctr"/>
          <a:lstStyle/>
          <a:p>
            <a:pPr indent="0" marL="0">
              <a:lnSpc>
                <a:spcPct val="125000"/>
              </a:lnSpc>
              <a:buNone/>
            </a:pPr>
            <a:r>
              <a:rPr lang="en-US" sz="1150" dirty="0">
                <a:solidFill>
                  <a:srgbClr val="5B5470"/>
                </a:solidFill>
                <a:latin typeface="Calibri" pitchFamily="34" charset="0"/>
                <a:ea typeface="Calibri" pitchFamily="34" charset="-122"/>
                <a:cs typeface="Calibri" pitchFamily="34" charset="-120"/>
              </a:rPr>
              <a:t>Handle lyrics across languages and scripts, not just English.</a:t>
            </a:r>
            <a:endParaRPr lang="en-US" sz="1150" dirty="0"/>
          </a:p>
        </p:txBody>
      </p:sp>
      <p:sp>
        <p:nvSpPr>
          <p:cNvPr id="19" name="Shape 17"/>
          <p:cNvSpPr/>
          <p:nvPr/>
        </p:nvSpPr>
        <p:spPr>
          <a:xfrm>
            <a:off x="6263640" y="4023360"/>
            <a:ext cx="5257800" cy="1737360"/>
          </a:xfrm>
          <a:prstGeom prst="roundRect">
            <a:avLst>
              <a:gd name="adj" fmla="val 5263"/>
            </a:avLst>
          </a:prstGeom>
          <a:solidFill>
            <a:srgbClr val="FFFFFF"/>
          </a:solidFill>
          <a:ln/>
          <a:effectLst>
            <a:outerShdw sx="100000" sy="100000" kx="0" ky="0" algn="bl" rotWithShape="0" blurRad="101600" dist="25400" dir="5400000">
              <a:srgbClr val="3B2E6B">
                <a:alpha val="14000"/>
              </a:srgbClr>
            </a:outerShdw>
          </a:effectLst>
        </p:spPr>
      </p:sp>
      <p:sp>
        <p:nvSpPr>
          <p:cNvPr id="20" name="Shape 18"/>
          <p:cNvSpPr/>
          <p:nvPr/>
        </p:nvSpPr>
        <p:spPr>
          <a:xfrm>
            <a:off x="6519672" y="4279392"/>
            <a:ext cx="457200" cy="457200"/>
          </a:xfrm>
          <a:prstGeom prst="ellipse">
            <a:avLst/>
          </a:prstGeom>
          <a:solidFill>
            <a:srgbClr val="D4A017"/>
          </a:solidFill>
          <a:ln/>
        </p:spPr>
      </p:sp>
      <p:sp>
        <p:nvSpPr>
          <p:cNvPr id="21" name="Text 19"/>
          <p:cNvSpPr/>
          <p:nvPr/>
        </p:nvSpPr>
        <p:spPr>
          <a:xfrm>
            <a:off x="6519672" y="4279392"/>
            <a:ext cx="457200" cy="457200"/>
          </a:xfrm>
          <a:prstGeom prst="rect">
            <a:avLst/>
          </a:prstGeom>
          <a:noFill/>
          <a:ln/>
        </p:spPr>
        <p:txBody>
          <a:bodyPr wrap="square" rtlCol="0" anchor="ctr"/>
          <a:lstStyle/>
          <a:p>
            <a:pPr algn="ctr" indent="0" marL="0">
              <a:buNone/>
            </a:pPr>
            <a:r>
              <a:rPr lang="en-US" sz="1500" b="1" dirty="0">
                <a:solidFill>
                  <a:srgbClr val="1E1247"/>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132320" y="4224528"/>
            <a:ext cx="4160520" cy="365760"/>
          </a:xfrm>
          <a:prstGeom prst="rect">
            <a:avLst/>
          </a:prstGeom>
          <a:noFill/>
          <a:ln/>
        </p:spPr>
        <p:txBody>
          <a:bodyPr wrap="square" rtlCol="0" anchor="ctr"/>
          <a:lstStyle/>
          <a:p>
            <a:pPr indent="0" marL="0">
              <a:buNone/>
            </a:pPr>
            <a:r>
              <a:rPr lang="en-US" sz="1450" b="1" dirty="0">
                <a:solidFill>
                  <a:srgbClr val="2D1B69"/>
                </a:solidFill>
                <a:latin typeface="Cambria" pitchFamily="34" charset="0"/>
                <a:ea typeface="Cambria" pitchFamily="34" charset="-122"/>
                <a:cs typeface="Cambria" pitchFamily="34" charset="-120"/>
              </a:rPr>
              <a:t>Real-Time API / Platform Integration</a:t>
            </a:r>
            <a:endParaRPr lang="en-US" sz="1450" dirty="0"/>
          </a:p>
        </p:txBody>
      </p:sp>
      <p:sp>
        <p:nvSpPr>
          <p:cNvPr id="23" name="Text 21"/>
          <p:cNvSpPr/>
          <p:nvPr/>
        </p:nvSpPr>
        <p:spPr>
          <a:xfrm>
            <a:off x="7132320" y="4617720"/>
            <a:ext cx="4160520" cy="1005840"/>
          </a:xfrm>
          <a:prstGeom prst="rect">
            <a:avLst/>
          </a:prstGeom>
          <a:noFill/>
          <a:ln/>
        </p:spPr>
        <p:txBody>
          <a:bodyPr wrap="square" rtlCol="0" anchor="ctr"/>
          <a:lstStyle/>
          <a:p>
            <a:pPr indent="0" marL="0">
              <a:lnSpc>
                <a:spcPct val="125000"/>
              </a:lnSpc>
              <a:buNone/>
            </a:pPr>
            <a:r>
              <a:rPr lang="en-US" sz="1150" dirty="0">
                <a:solidFill>
                  <a:srgbClr val="5B5470"/>
                </a:solidFill>
                <a:latin typeface="Calibri" pitchFamily="34" charset="0"/>
                <a:ea typeface="Calibri" pitchFamily="34" charset="-122"/>
                <a:cs typeface="Calibri" pitchFamily="34" charset="-120"/>
              </a:rPr>
              <a:t>Expose the engine as a service that streaming platforms or publishers can query directly.</a:t>
            </a:r>
            <a:endParaRPr lang="en-US" sz="1150" dirty="0"/>
          </a:p>
        </p:txBody>
      </p:sp>
      <p:sp>
        <p:nvSpPr>
          <p:cNvPr id="24"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5B547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247"/>
        </a:solidFill>
      </p:bgPr>
    </p:bg>
    <p:spTree>
      <p:nvGrpSpPr>
        <p:cNvPr id="1" name=""/>
        <p:cNvGrpSpPr/>
        <p:nvPr/>
      </p:nvGrpSpPr>
      <p:grpSpPr>
        <a:xfrm>
          <a:off x="0" y="0"/>
          <a:ext cx="0" cy="0"/>
          <a:chOff x="0" y="0"/>
          <a:chExt cx="0" cy="0"/>
        </a:xfrm>
      </p:grpSpPr>
      <p:sp>
        <p:nvSpPr>
          <p:cNvPr id="2" name="Shape 0"/>
          <p:cNvSpPr/>
          <p:nvPr/>
        </p:nvSpPr>
        <p:spPr>
          <a:xfrm>
            <a:off x="6131052" y="2093976"/>
            <a:ext cx="18288" cy="18288"/>
          </a:xfrm>
          <a:prstGeom prst="ellipse">
            <a:avLst/>
          </a:prstGeom>
          <a:solidFill>
            <a:srgbClr val="D4A017">
              <a:alpha val="30000"/>
            </a:srgbClr>
          </a:solidFill>
          <a:ln/>
        </p:spPr>
      </p:sp>
      <p:sp>
        <p:nvSpPr>
          <p:cNvPr id="3" name="Shape 1"/>
          <p:cNvSpPr/>
          <p:nvPr/>
        </p:nvSpPr>
        <p:spPr>
          <a:xfrm>
            <a:off x="6159945" y="2121658"/>
            <a:ext cx="19314" cy="19314"/>
          </a:xfrm>
          <a:prstGeom prst="ellipse">
            <a:avLst/>
          </a:prstGeom>
          <a:solidFill>
            <a:srgbClr val="D4A017">
              <a:alpha val="31000"/>
            </a:srgbClr>
          </a:solidFill>
          <a:ln/>
        </p:spPr>
      </p:sp>
      <p:sp>
        <p:nvSpPr>
          <p:cNvPr id="4" name="Shape 2"/>
          <p:cNvSpPr/>
          <p:nvPr/>
        </p:nvSpPr>
        <p:spPr>
          <a:xfrm>
            <a:off x="6170733" y="2168459"/>
            <a:ext cx="20341" cy="20341"/>
          </a:xfrm>
          <a:prstGeom prst="ellipse">
            <a:avLst/>
          </a:prstGeom>
          <a:solidFill>
            <a:srgbClr val="D4A017">
              <a:alpha val="32000"/>
            </a:srgbClr>
          </a:solidFill>
          <a:ln/>
        </p:spPr>
      </p:sp>
      <p:sp>
        <p:nvSpPr>
          <p:cNvPr id="5" name="Shape 3"/>
          <p:cNvSpPr/>
          <p:nvPr/>
        </p:nvSpPr>
        <p:spPr>
          <a:xfrm>
            <a:off x="6154536" y="2223900"/>
            <a:ext cx="21367" cy="21367"/>
          </a:xfrm>
          <a:prstGeom prst="ellipse">
            <a:avLst/>
          </a:prstGeom>
          <a:solidFill>
            <a:srgbClr val="D4A017">
              <a:alpha val="33000"/>
            </a:srgbClr>
          </a:solidFill>
          <a:ln/>
        </p:spPr>
      </p:sp>
      <p:sp>
        <p:nvSpPr>
          <p:cNvPr id="6" name="Shape 4"/>
          <p:cNvSpPr/>
          <p:nvPr/>
        </p:nvSpPr>
        <p:spPr>
          <a:xfrm>
            <a:off x="6107953" y="2274073"/>
            <a:ext cx="22393" cy="22393"/>
          </a:xfrm>
          <a:prstGeom prst="ellipse">
            <a:avLst/>
          </a:prstGeom>
          <a:solidFill>
            <a:srgbClr val="D4A017">
              <a:alpha val="34000"/>
            </a:srgbClr>
          </a:solidFill>
          <a:ln/>
        </p:spPr>
      </p:sp>
      <p:sp>
        <p:nvSpPr>
          <p:cNvPr id="7" name="Shape 5"/>
          <p:cNvSpPr/>
          <p:nvPr/>
        </p:nvSpPr>
        <p:spPr>
          <a:xfrm>
            <a:off x="6034182" y="2304272"/>
            <a:ext cx="23420" cy="23420"/>
          </a:xfrm>
          <a:prstGeom prst="ellipse">
            <a:avLst/>
          </a:prstGeom>
          <a:solidFill>
            <a:srgbClr val="D4A017">
              <a:alpha val="35000"/>
            </a:srgbClr>
          </a:solidFill>
          <a:ln/>
        </p:spPr>
      </p:sp>
      <p:sp>
        <p:nvSpPr>
          <p:cNvPr id="8" name="Shape 6"/>
          <p:cNvSpPr/>
          <p:nvPr/>
        </p:nvSpPr>
        <p:spPr>
          <a:xfrm>
            <a:off x="5942953" y="2301927"/>
            <a:ext cx="24446" cy="24446"/>
          </a:xfrm>
          <a:prstGeom prst="ellipse">
            <a:avLst/>
          </a:prstGeom>
          <a:solidFill>
            <a:srgbClr val="D4A017">
              <a:alpha val="37000"/>
            </a:srgbClr>
          </a:solidFill>
          <a:ln/>
        </p:spPr>
      </p:sp>
      <p:sp>
        <p:nvSpPr>
          <p:cNvPr id="9" name="Shape 7"/>
          <p:cNvSpPr/>
          <p:nvPr/>
        </p:nvSpPr>
        <p:spPr>
          <a:xfrm>
            <a:off x="5849242" y="2259303"/>
            <a:ext cx="25473" cy="25473"/>
          </a:xfrm>
          <a:prstGeom prst="ellipse">
            <a:avLst/>
          </a:prstGeom>
          <a:solidFill>
            <a:srgbClr val="D4A017">
              <a:alpha val="38000"/>
            </a:srgbClr>
          </a:solidFill>
          <a:ln/>
        </p:spPr>
      </p:sp>
      <p:sp>
        <p:nvSpPr>
          <p:cNvPr id="10" name="Shape 8"/>
          <p:cNvSpPr/>
          <p:nvPr/>
        </p:nvSpPr>
        <p:spPr>
          <a:xfrm>
            <a:off x="5770921" y="2175509"/>
            <a:ext cx="26499" cy="26499"/>
          </a:xfrm>
          <a:prstGeom prst="ellipse">
            <a:avLst/>
          </a:prstGeom>
          <a:solidFill>
            <a:srgbClr val="D4A017">
              <a:alpha val="39000"/>
            </a:srgbClr>
          </a:solidFill>
          <a:ln/>
        </p:spPr>
      </p:sp>
      <p:sp>
        <p:nvSpPr>
          <p:cNvPr id="11" name="Shape 9"/>
          <p:cNvSpPr/>
          <p:nvPr/>
        </p:nvSpPr>
        <p:spPr>
          <a:xfrm>
            <a:off x="5725719" y="2057407"/>
            <a:ext cx="27525" cy="27525"/>
          </a:xfrm>
          <a:prstGeom prst="ellipse">
            <a:avLst/>
          </a:prstGeom>
          <a:solidFill>
            <a:srgbClr val="D4A017">
              <a:alpha val="40000"/>
            </a:srgbClr>
          </a:solidFill>
          <a:ln/>
        </p:spPr>
      </p:sp>
      <p:sp>
        <p:nvSpPr>
          <p:cNvPr id="12" name="Shape 10"/>
          <p:cNvSpPr/>
          <p:nvPr/>
        </p:nvSpPr>
        <p:spPr>
          <a:xfrm>
            <a:off x="5727964" y="1919216"/>
            <a:ext cx="28552" cy="28552"/>
          </a:xfrm>
          <a:prstGeom prst="ellipse">
            <a:avLst/>
          </a:prstGeom>
          <a:solidFill>
            <a:srgbClr val="D4A017">
              <a:alpha val="41000"/>
            </a:srgbClr>
          </a:solidFill>
          <a:ln/>
        </p:spPr>
      </p:sp>
      <p:sp>
        <p:nvSpPr>
          <p:cNvPr id="13" name="Shape 11"/>
          <p:cNvSpPr/>
          <p:nvPr/>
        </p:nvSpPr>
        <p:spPr>
          <a:xfrm>
            <a:off x="5785656" y="1780799"/>
            <a:ext cx="29578" cy="29578"/>
          </a:xfrm>
          <a:prstGeom prst="ellipse">
            <a:avLst/>
          </a:prstGeom>
          <a:solidFill>
            <a:srgbClr val="D4A017">
              <a:alpha val="42000"/>
            </a:srgbClr>
          </a:solidFill>
          <a:ln/>
        </p:spPr>
      </p:sp>
      <p:sp>
        <p:nvSpPr>
          <p:cNvPr id="14" name="Shape 12"/>
          <p:cNvSpPr/>
          <p:nvPr/>
        </p:nvSpPr>
        <p:spPr>
          <a:xfrm>
            <a:off x="5898383" y="1664836"/>
            <a:ext cx="30604" cy="30604"/>
          </a:xfrm>
          <a:prstGeom prst="ellipse">
            <a:avLst/>
          </a:prstGeom>
          <a:solidFill>
            <a:srgbClr val="D4A017">
              <a:alpha val="43000"/>
            </a:srgbClr>
          </a:solidFill>
          <a:ln/>
        </p:spPr>
      </p:sp>
      <p:sp>
        <p:nvSpPr>
          <p:cNvPr id="15" name="Shape 13"/>
          <p:cNvSpPr/>
          <p:nvPr/>
        </p:nvSpPr>
        <p:spPr>
          <a:xfrm>
            <a:off x="6056474" y="1593280"/>
            <a:ext cx="31631" cy="31631"/>
          </a:xfrm>
          <a:prstGeom prst="ellipse">
            <a:avLst/>
          </a:prstGeom>
          <a:solidFill>
            <a:srgbClr val="D4A017">
              <a:alpha val="44000"/>
            </a:srgbClr>
          </a:solidFill>
          <a:ln/>
        </p:spPr>
      </p:sp>
      <p:sp>
        <p:nvSpPr>
          <p:cNvPr id="16" name="Shape 14"/>
          <p:cNvSpPr/>
          <p:nvPr/>
        </p:nvSpPr>
        <p:spPr>
          <a:xfrm>
            <a:off x="6241632" y="1583639"/>
            <a:ext cx="32657" cy="32657"/>
          </a:xfrm>
          <a:prstGeom prst="ellipse">
            <a:avLst/>
          </a:prstGeom>
          <a:solidFill>
            <a:srgbClr val="D4A017">
              <a:alpha val="46000"/>
            </a:srgbClr>
          </a:solidFill>
          <a:ln/>
        </p:spPr>
      </p:sp>
      <p:sp>
        <p:nvSpPr>
          <p:cNvPr id="17" name="Shape 15"/>
          <p:cNvSpPr/>
          <p:nvPr/>
        </p:nvSpPr>
        <p:spPr>
          <a:xfrm>
            <a:off x="6429014" y="1645662"/>
            <a:ext cx="33684" cy="33684"/>
          </a:xfrm>
          <a:prstGeom prst="ellipse">
            <a:avLst/>
          </a:prstGeom>
          <a:solidFill>
            <a:srgbClr val="D4A017">
              <a:alpha val="47000"/>
            </a:srgbClr>
          </a:solidFill>
          <a:ln/>
        </p:spPr>
      </p:sp>
      <p:sp>
        <p:nvSpPr>
          <p:cNvPr id="18" name="Shape 16"/>
          <p:cNvSpPr/>
          <p:nvPr/>
        </p:nvSpPr>
        <p:spPr>
          <a:xfrm>
            <a:off x="6590553" y="1779004"/>
            <a:ext cx="34710" cy="34710"/>
          </a:xfrm>
          <a:prstGeom prst="ellipse">
            <a:avLst/>
          </a:prstGeom>
          <a:solidFill>
            <a:srgbClr val="D4A017">
              <a:alpha val="48000"/>
            </a:srgbClr>
          </a:solidFill>
          <a:ln/>
        </p:spPr>
      </p:sp>
      <p:sp>
        <p:nvSpPr>
          <p:cNvPr id="19" name="Shape 17"/>
          <p:cNvSpPr/>
          <p:nvPr/>
        </p:nvSpPr>
        <p:spPr>
          <a:xfrm>
            <a:off x="6699057" y="1972294"/>
            <a:ext cx="35736" cy="35736"/>
          </a:xfrm>
          <a:prstGeom prst="ellipse">
            <a:avLst/>
          </a:prstGeom>
          <a:solidFill>
            <a:srgbClr val="D4A017">
              <a:alpha val="49000"/>
            </a:srgbClr>
          </a:solidFill>
          <a:ln/>
        </p:spPr>
      </p:sp>
      <p:sp>
        <p:nvSpPr>
          <p:cNvPr id="20" name="Shape 18"/>
          <p:cNvSpPr/>
          <p:nvPr/>
        </p:nvSpPr>
        <p:spPr>
          <a:xfrm>
            <a:off x="6732512" y="2203861"/>
            <a:ext cx="36763" cy="36763"/>
          </a:xfrm>
          <a:prstGeom prst="ellipse">
            <a:avLst/>
          </a:prstGeom>
          <a:solidFill>
            <a:srgbClr val="D4A017">
              <a:alpha val="50000"/>
            </a:srgbClr>
          </a:solidFill>
          <a:ln/>
        </p:spPr>
      </p:sp>
      <p:sp>
        <p:nvSpPr>
          <p:cNvPr id="21" name="Shape 19"/>
          <p:cNvSpPr/>
          <p:nvPr/>
        </p:nvSpPr>
        <p:spPr>
          <a:xfrm>
            <a:off x="6677922" y="2444107"/>
            <a:ext cx="37789" cy="37789"/>
          </a:xfrm>
          <a:prstGeom prst="ellipse">
            <a:avLst/>
          </a:prstGeom>
          <a:solidFill>
            <a:srgbClr val="D4A017">
              <a:alpha val="51000"/>
            </a:srgbClr>
          </a:solidFill>
          <a:ln/>
        </p:spPr>
      </p:sp>
      <p:sp>
        <p:nvSpPr>
          <p:cNvPr id="22" name="Shape 20"/>
          <p:cNvSpPr/>
          <p:nvPr/>
        </p:nvSpPr>
        <p:spPr>
          <a:xfrm>
            <a:off x="6534072" y="2659285"/>
            <a:ext cx="38815" cy="38815"/>
          </a:xfrm>
          <a:prstGeom prst="ellipse">
            <a:avLst/>
          </a:prstGeom>
          <a:solidFill>
            <a:srgbClr val="D4A017">
              <a:alpha val="52000"/>
            </a:srgbClr>
          </a:solidFill>
          <a:ln/>
        </p:spPr>
      </p:sp>
      <p:sp>
        <p:nvSpPr>
          <p:cNvPr id="23" name="Shape 21"/>
          <p:cNvSpPr/>
          <p:nvPr/>
        </p:nvSpPr>
        <p:spPr>
          <a:xfrm>
            <a:off x="6312717" y="2816187"/>
            <a:ext cx="39842" cy="39842"/>
          </a:xfrm>
          <a:prstGeom prst="ellipse">
            <a:avLst/>
          </a:prstGeom>
          <a:solidFill>
            <a:srgbClr val="D4A017">
              <a:alpha val="53000"/>
            </a:srgbClr>
          </a:solidFill>
          <a:ln/>
        </p:spPr>
      </p:sp>
      <p:sp>
        <p:nvSpPr>
          <p:cNvPr id="24" name="Shape 22"/>
          <p:cNvSpPr/>
          <p:nvPr/>
        </p:nvSpPr>
        <p:spPr>
          <a:xfrm>
            <a:off x="6037915" y="2887107"/>
            <a:ext cx="40868" cy="40868"/>
          </a:xfrm>
          <a:prstGeom prst="ellipse">
            <a:avLst/>
          </a:prstGeom>
          <a:solidFill>
            <a:srgbClr val="D4A017">
              <a:alpha val="55000"/>
            </a:srgbClr>
          </a:solidFill>
          <a:ln/>
        </p:spPr>
      </p:sp>
      <p:sp>
        <p:nvSpPr>
          <p:cNvPr id="25" name="Shape 23"/>
          <p:cNvSpPr/>
          <p:nvPr/>
        </p:nvSpPr>
        <p:spPr>
          <a:xfrm>
            <a:off x="5743484" y="2854351"/>
            <a:ext cx="41894" cy="41894"/>
          </a:xfrm>
          <a:prstGeom prst="ellipse">
            <a:avLst/>
          </a:prstGeom>
          <a:solidFill>
            <a:srgbClr val="D4A017">
              <a:alpha val="56000"/>
            </a:srgbClr>
          </a:solidFill>
          <a:ln/>
        </p:spPr>
      </p:sp>
      <p:sp>
        <p:nvSpPr>
          <p:cNvPr id="26" name="Shape 24"/>
          <p:cNvSpPr/>
          <p:nvPr/>
        </p:nvSpPr>
        <p:spPr>
          <a:xfrm>
            <a:off x="5468834" y="2713584"/>
            <a:ext cx="42921" cy="42921"/>
          </a:xfrm>
          <a:prstGeom prst="ellipse">
            <a:avLst/>
          </a:prstGeom>
          <a:solidFill>
            <a:srgbClr val="D4A017">
              <a:alpha val="57000"/>
            </a:srgbClr>
          </a:solidFill>
          <a:ln/>
        </p:spPr>
      </p:sp>
      <p:sp>
        <p:nvSpPr>
          <p:cNvPr id="27" name="Shape 25"/>
          <p:cNvSpPr/>
          <p:nvPr/>
        </p:nvSpPr>
        <p:spPr>
          <a:xfrm>
            <a:off x="5253700" y="2475461"/>
            <a:ext cx="43947" cy="43947"/>
          </a:xfrm>
          <a:prstGeom prst="ellipse">
            <a:avLst/>
          </a:prstGeom>
          <a:solidFill>
            <a:srgbClr val="D4A017">
              <a:alpha val="58000"/>
            </a:srgbClr>
          </a:solidFill>
          <a:ln/>
        </p:spPr>
      </p:sp>
      <p:sp>
        <p:nvSpPr>
          <p:cNvPr id="28" name="Shape 26"/>
          <p:cNvSpPr/>
          <p:nvPr/>
        </p:nvSpPr>
        <p:spPr>
          <a:xfrm>
            <a:off x="5132462" y="2165192"/>
            <a:ext cx="44974" cy="44974"/>
          </a:xfrm>
          <a:prstGeom prst="ellipse">
            <a:avLst/>
          </a:prstGeom>
          <a:solidFill>
            <a:srgbClr val="D4A017">
              <a:alpha val="59000"/>
            </a:srgbClr>
          </a:solidFill>
          <a:ln/>
        </p:spPr>
      </p:sp>
      <p:sp>
        <p:nvSpPr>
          <p:cNvPr id="29" name="Shape 27"/>
          <p:cNvSpPr/>
          <p:nvPr/>
        </p:nvSpPr>
        <p:spPr>
          <a:xfrm>
            <a:off x="5128867" y="1819976"/>
            <a:ext cx="46000" cy="46000"/>
          </a:xfrm>
          <a:prstGeom prst="ellipse">
            <a:avLst/>
          </a:prstGeom>
          <a:solidFill>
            <a:srgbClr val="D4A017">
              <a:alpha val="60000"/>
            </a:srgbClr>
          </a:solidFill>
          <a:ln/>
        </p:spPr>
      </p:sp>
      <p:sp>
        <p:nvSpPr>
          <p:cNvPr id="30" name="Shape 28"/>
          <p:cNvSpPr/>
          <p:nvPr/>
        </p:nvSpPr>
        <p:spPr>
          <a:xfrm>
            <a:off x="5251937" y="1484550"/>
            <a:ext cx="47026" cy="47026"/>
          </a:xfrm>
          <a:prstGeom prst="ellipse">
            <a:avLst/>
          </a:prstGeom>
          <a:solidFill>
            <a:srgbClr val="D4A017">
              <a:alpha val="61000"/>
            </a:srgbClr>
          </a:solidFill>
          <a:ln/>
        </p:spPr>
      </p:sp>
      <p:sp>
        <p:nvSpPr>
          <p:cNvPr id="31" name="Shape 29"/>
          <p:cNvSpPr/>
          <p:nvPr/>
        </p:nvSpPr>
        <p:spPr>
          <a:xfrm>
            <a:off x="5493719" y="1205383"/>
            <a:ext cx="48053" cy="48053"/>
          </a:xfrm>
          <a:prstGeom prst="ellipse">
            <a:avLst/>
          </a:prstGeom>
          <a:solidFill>
            <a:srgbClr val="D4A017">
              <a:alpha val="62000"/>
            </a:srgbClr>
          </a:solidFill>
          <a:ln/>
        </p:spPr>
      </p:sp>
      <p:sp>
        <p:nvSpPr>
          <p:cNvPr id="32" name="Shape 30"/>
          <p:cNvSpPr/>
          <p:nvPr/>
        </p:nvSpPr>
        <p:spPr>
          <a:xfrm>
            <a:off x="5829298" y="1024276"/>
            <a:ext cx="49079" cy="49079"/>
          </a:xfrm>
          <a:prstGeom prst="ellipse">
            <a:avLst/>
          </a:prstGeom>
          <a:solidFill>
            <a:srgbClr val="D4A017">
              <a:alpha val="64000"/>
            </a:srgbClr>
          </a:solidFill>
          <a:ln/>
        </p:spPr>
      </p:sp>
      <p:sp>
        <p:nvSpPr>
          <p:cNvPr id="33" name="Shape 31"/>
          <p:cNvSpPr/>
          <p:nvPr/>
        </p:nvSpPr>
        <p:spPr>
          <a:xfrm>
            <a:off x="6219220" y="972226"/>
            <a:ext cx="50105" cy="50105"/>
          </a:xfrm>
          <a:prstGeom prst="ellipse">
            <a:avLst/>
          </a:prstGeom>
          <a:solidFill>
            <a:srgbClr val="D4A017">
              <a:alpha val="65000"/>
            </a:srgbClr>
          </a:solidFill>
          <a:ln/>
        </p:spPr>
      </p:sp>
      <p:sp>
        <p:nvSpPr>
          <p:cNvPr id="34" name="Shape 32"/>
          <p:cNvSpPr/>
          <p:nvPr/>
        </p:nvSpPr>
        <p:spPr>
          <a:xfrm>
            <a:off x="6614079" y="1064460"/>
            <a:ext cx="51132" cy="51132"/>
          </a:xfrm>
          <a:prstGeom prst="ellipse">
            <a:avLst/>
          </a:prstGeom>
          <a:solidFill>
            <a:srgbClr val="D4A017">
              <a:alpha val="66000"/>
            </a:srgbClr>
          </a:solidFill>
          <a:ln/>
        </p:spPr>
      </p:sp>
      <p:sp>
        <p:nvSpPr>
          <p:cNvPr id="35" name="Shape 33"/>
          <p:cNvSpPr/>
          <p:nvPr/>
        </p:nvSpPr>
        <p:spPr>
          <a:xfrm>
            <a:off x="6960777" y="1297392"/>
            <a:ext cx="52158" cy="52158"/>
          </a:xfrm>
          <a:prstGeom prst="ellipse">
            <a:avLst/>
          </a:prstGeom>
          <a:solidFill>
            <a:srgbClr val="D4A017">
              <a:alpha val="67000"/>
            </a:srgbClr>
          </a:solidFill>
          <a:ln/>
        </p:spPr>
      </p:sp>
      <p:sp>
        <p:nvSpPr>
          <p:cNvPr id="36" name="Shape 34"/>
          <p:cNvSpPr/>
          <p:nvPr/>
        </p:nvSpPr>
        <p:spPr>
          <a:xfrm>
            <a:off x="7209632" y="1648022"/>
            <a:ext cx="53184" cy="53184"/>
          </a:xfrm>
          <a:prstGeom prst="ellipse">
            <a:avLst/>
          </a:prstGeom>
          <a:solidFill>
            <a:srgbClr val="D4A017">
              <a:alpha val="68000"/>
            </a:srgbClr>
          </a:solidFill>
          <a:ln/>
        </p:spPr>
      </p:sp>
      <p:sp>
        <p:nvSpPr>
          <p:cNvPr id="37" name="Shape 35"/>
          <p:cNvSpPr/>
          <p:nvPr/>
        </p:nvSpPr>
        <p:spPr>
          <a:xfrm>
            <a:off x="7321405" y="2076015"/>
            <a:ext cx="54211" cy="54211"/>
          </a:xfrm>
          <a:prstGeom prst="ellipse">
            <a:avLst/>
          </a:prstGeom>
          <a:solidFill>
            <a:srgbClr val="D4A017">
              <a:alpha val="69000"/>
            </a:srgbClr>
          </a:solidFill>
          <a:ln/>
        </p:spPr>
      </p:sp>
      <p:sp>
        <p:nvSpPr>
          <p:cNvPr id="38" name="Shape 36"/>
          <p:cNvSpPr/>
          <p:nvPr/>
        </p:nvSpPr>
        <p:spPr>
          <a:xfrm>
            <a:off x="7273250" y="2528268"/>
            <a:ext cx="55237" cy="55237"/>
          </a:xfrm>
          <a:prstGeom prst="ellipse">
            <a:avLst/>
          </a:prstGeom>
          <a:solidFill>
            <a:srgbClr val="D4A017">
              <a:alpha val="70000"/>
            </a:srgbClr>
          </a:solidFill>
          <a:ln/>
        </p:spPr>
      </p:sp>
      <p:sp>
        <p:nvSpPr>
          <p:cNvPr id="39" name="Shape 37"/>
          <p:cNvSpPr/>
          <p:nvPr/>
        </p:nvSpPr>
        <p:spPr>
          <a:xfrm>
            <a:off x="7062719" y="2945494"/>
            <a:ext cx="56264" cy="56264"/>
          </a:xfrm>
          <a:prstGeom prst="ellipse">
            <a:avLst/>
          </a:prstGeom>
          <a:solidFill>
            <a:srgbClr val="D4A017">
              <a:alpha val="71000"/>
            </a:srgbClr>
          </a:solidFill>
          <a:ln/>
        </p:spPr>
      </p:sp>
      <p:sp>
        <p:nvSpPr>
          <p:cNvPr id="40" name="Shape 38"/>
          <p:cNvSpPr/>
          <p:nvPr/>
        </p:nvSpPr>
        <p:spPr>
          <a:xfrm>
            <a:off x="6709157" y="3269975"/>
            <a:ext cx="57290" cy="57290"/>
          </a:xfrm>
          <a:prstGeom prst="ellipse">
            <a:avLst/>
          </a:prstGeom>
          <a:solidFill>
            <a:srgbClr val="D4A017">
              <a:alpha val="73000"/>
            </a:srgbClr>
          </a:solidFill>
          <a:ln/>
        </p:spPr>
      </p:sp>
      <p:sp>
        <p:nvSpPr>
          <p:cNvPr id="41" name="Shape 39"/>
          <p:cNvSpPr/>
          <p:nvPr/>
        </p:nvSpPr>
        <p:spPr>
          <a:xfrm>
            <a:off x="6252188" y="3453490"/>
            <a:ext cx="58316" cy="58316"/>
          </a:xfrm>
          <a:prstGeom prst="ellipse">
            <a:avLst/>
          </a:prstGeom>
          <a:solidFill>
            <a:srgbClr val="D4A017">
              <a:alpha val="74000"/>
            </a:srgbClr>
          </a:solidFill>
          <a:ln/>
        </p:spPr>
      </p:sp>
      <p:sp>
        <p:nvSpPr>
          <p:cNvPr id="42" name="Shape 40"/>
          <p:cNvSpPr/>
          <p:nvPr/>
        </p:nvSpPr>
        <p:spPr>
          <a:xfrm>
            <a:off x="5747345" y="3464330"/>
            <a:ext cx="59343" cy="59343"/>
          </a:xfrm>
          <a:prstGeom prst="ellipse">
            <a:avLst/>
          </a:prstGeom>
          <a:solidFill>
            <a:srgbClr val="D4A017">
              <a:alpha val="75000"/>
            </a:srgbClr>
          </a:solidFill>
          <a:ln/>
        </p:spPr>
      </p:sp>
      <p:sp>
        <p:nvSpPr>
          <p:cNvPr id="43" name="Shape 41"/>
          <p:cNvSpPr/>
          <p:nvPr/>
        </p:nvSpPr>
        <p:spPr>
          <a:xfrm>
            <a:off x="5259335" y="3292392"/>
            <a:ext cx="60369" cy="60369"/>
          </a:xfrm>
          <a:prstGeom prst="ellipse">
            <a:avLst/>
          </a:prstGeom>
          <a:solidFill>
            <a:srgbClr val="D4A017">
              <a:alpha val="76000"/>
            </a:srgbClr>
          </a:solidFill>
          <a:ln/>
        </p:spPr>
      </p:sp>
      <p:sp>
        <p:nvSpPr>
          <p:cNvPr id="44" name="Shape 42"/>
          <p:cNvSpPr/>
          <p:nvPr/>
        </p:nvSpPr>
        <p:spPr>
          <a:xfrm>
            <a:off x="4853734" y="2951571"/>
            <a:ext cx="61395" cy="61395"/>
          </a:xfrm>
          <a:prstGeom prst="ellipse">
            <a:avLst/>
          </a:prstGeom>
          <a:solidFill>
            <a:srgbClr val="D4A017">
              <a:alpha val="77000"/>
            </a:srgbClr>
          </a:solidFill>
          <a:ln/>
        </p:spPr>
      </p:sp>
      <p:sp>
        <p:nvSpPr>
          <p:cNvPr id="45" name="Shape 43"/>
          <p:cNvSpPr/>
          <p:nvPr/>
        </p:nvSpPr>
        <p:spPr>
          <a:xfrm>
            <a:off x="4588189" y="2479004"/>
            <a:ext cx="62422" cy="62422"/>
          </a:xfrm>
          <a:prstGeom prst="ellipse">
            <a:avLst/>
          </a:prstGeom>
          <a:solidFill>
            <a:srgbClr val="D4A017">
              <a:alpha val="78000"/>
            </a:srgbClr>
          </a:solidFill>
          <a:ln/>
        </p:spPr>
      </p:sp>
      <p:sp>
        <p:nvSpPr>
          <p:cNvPr id="46" name="Shape 44"/>
          <p:cNvSpPr/>
          <p:nvPr/>
        </p:nvSpPr>
        <p:spPr>
          <a:xfrm>
            <a:off x="4504307" y="1931133"/>
            <a:ext cx="63448" cy="63448"/>
          </a:xfrm>
          <a:prstGeom prst="ellipse">
            <a:avLst/>
          </a:prstGeom>
          <a:solidFill>
            <a:srgbClr val="D4A017">
              <a:alpha val="79000"/>
            </a:srgbClr>
          </a:solidFill>
          <a:ln/>
        </p:spPr>
      </p:sp>
      <p:sp>
        <p:nvSpPr>
          <p:cNvPr id="47" name="Shape 45"/>
          <p:cNvSpPr/>
          <p:nvPr/>
        </p:nvSpPr>
        <p:spPr>
          <a:xfrm>
            <a:off x="4621349" y="1376987"/>
            <a:ext cx="64475" cy="64475"/>
          </a:xfrm>
          <a:prstGeom prst="ellipse">
            <a:avLst/>
          </a:prstGeom>
          <a:solidFill>
            <a:srgbClr val="D4A017">
              <a:alpha val="80000"/>
            </a:srgbClr>
          </a:solidFill>
          <a:ln/>
        </p:spPr>
      </p:sp>
      <p:sp>
        <p:nvSpPr>
          <p:cNvPr id="48" name="Shape 46"/>
          <p:cNvSpPr/>
          <p:nvPr/>
        </p:nvSpPr>
        <p:spPr>
          <a:xfrm>
            <a:off x="4932674" y="889474"/>
            <a:ext cx="65501" cy="65501"/>
          </a:xfrm>
          <a:prstGeom prst="ellipse">
            <a:avLst/>
          </a:prstGeom>
          <a:solidFill>
            <a:srgbClr val="D4A017">
              <a:alpha val="82000"/>
            </a:srgbClr>
          </a:solidFill>
          <a:ln/>
        </p:spPr>
      </p:sp>
      <p:sp>
        <p:nvSpPr>
          <p:cNvPr id="49" name="Shape 47"/>
          <p:cNvSpPr/>
          <p:nvPr/>
        </p:nvSpPr>
        <p:spPr>
          <a:xfrm>
            <a:off x="5405523" y="535796"/>
            <a:ext cx="66527" cy="66527"/>
          </a:xfrm>
          <a:prstGeom prst="ellipse">
            <a:avLst/>
          </a:prstGeom>
          <a:solidFill>
            <a:srgbClr val="D4A017">
              <a:alpha val="83000"/>
            </a:srgbClr>
          </a:solidFill>
          <a:ln/>
        </p:spPr>
      </p:sp>
      <p:sp>
        <p:nvSpPr>
          <p:cNvPr id="50" name="Shape 48"/>
          <p:cNvSpPr/>
          <p:nvPr/>
        </p:nvSpPr>
        <p:spPr>
          <a:xfrm>
            <a:off x="5984302" y="368221"/>
            <a:ext cx="67554" cy="67554"/>
          </a:xfrm>
          <a:prstGeom prst="ellipse">
            <a:avLst/>
          </a:prstGeom>
          <a:solidFill>
            <a:srgbClr val="D4A017">
              <a:alpha val="84000"/>
            </a:srgbClr>
          </a:solidFill>
          <a:ln/>
        </p:spPr>
      </p:sp>
      <p:sp>
        <p:nvSpPr>
          <p:cNvPr id="51" name="Shape 49"/>
          <p:cNvSpPr/>
          <p:nvPr/>
        </p:nvSpPr>
        <p:spPr>
          <a:xfrm>
            <a:off x="6597060" y="416502"/>
            <a:ext cx="68580" cy="68580"/>
          </a:xfrm>
          <a:prstGeom prst="ellipse">
            <a:avLst/>
          </a:prstGeom>
          <a:solidFill>
            <a:srgbClr val="D4A017">
              <a:alpha val="85000"/>
            </a:srgbClr>
          </a:solidFill>
          <a:ln/>
        </p:spPr>
      </p:sp>
      <p:sp>
        <p:nvSpPr>
          <p:cNvPr id="52" name="Text 50"/>
          <p:cNvSpPr/>
          <p:nvPr/>
        </p:nvSpPr>
        <p:spPr>
          <a:xfrm>
            <a:off x="640080" y="3931920"/>
            <a:ext cx="10881360" cy="91440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53" name="Text 51"/>
          <p:cNvSpPr/>
          <p:nvPr/>
        </p:nvSpPr>
        <p:spPr>
          <a:xfrm>
            <a:off x="640080" y="4709160"/>
            <a:ext cx="10881360" cy="457200"/>
          </a:xfrm>
          <a:prstGeom prst="rect">
            <a:avLst/>
          </a:prstGeom>
          <a:noFill/>
          <a:ln/>
        </p:spPr>
        <p:txBody>
          <a:bodyPr wrap="square" rtlCol="0" anchor="ctr"/>
          <a:lstStyle/>
          <a:p>
            <a:pPr algn="ctr" indent="0" marL="0">
              <a:buNone/>
            </a:pPr>
            <a:r>
              <a:rPr lang="en-US" sz="1600" i="1" dirty="0">
                <a:solidFill>
                  <a:srgbClr val="D4A017"/>
                </a:solidFill>
                <a:latin typeface="Calibri" pitchFamily="34" charset="0"/>
                <a:ea typeface="Calibri" pitchFamily="34" charset="-122"/>
                <a:cs typeface="Calibri" pitchFamily="34" charset="-120"/>
              </a:rPr>
              <a:t>Questions &amp; Discussion</a:t>
            </a:r>
            <a:endParaRPr lang="en-US" sz="1600" dirty="0"/>
          </a:p>
        </p:txBody>
      </p:sp>
      <p:sp>
        <p:nvSpPr>
          <p:cNvPr id="54" name="Text 52"/>
          <p:cNvSpPr/>
          <p:nvPr/>
        </p:nvSpPr>
        <p:spPr>
          <a:xfrm>
            <a:off x="640080" y="6035040"/>
            <a:ext cx="10881360" cy="365760"/>
          </a:xfrm>
          <a:prstGeom prst="rect">
            <a:avLst/>
          </a:prstGeom>
          <a:noFill/>
          <a:ln/>
        </p:spPr>
        <p:txBody>
          <a:bodyPr wrap="square" rtlCol="0" anchor="ctr"/>
          <a:lstStyle/>
          <a:p>
            <a:pPr algn="ctr" indent="0" marL="0">
              <a:buNone/>
            </a:pPr>
            <a:r>
              <a:rPr lang="en-US" sz="1200" dirty="0">
                <a:solidFill>
                  <a:srgbClr val="B7AEDB"/>
                </a:solidFill>
                <a:latin typeface="Calibri" pitchFamily="34" charset="0"/>
                <a:ea typeface="Calibri" pitchFamily="34" charset="-122"/>
                <a:cs typeface="Calibri" pitchFamily="34" charset="-120"/>
              </a:rPr>
              <a:t>Kavi Krishna  ·  Hemanth  ·  Prajwal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2026-08-20T03:08:43Z</dcterms:created>
  <dcterms:modified xsi:type="dcterms:W3CDTF">2026-08-20T03:08:43Z</dcterms:modified>
</cp:coreProperties>
</file>
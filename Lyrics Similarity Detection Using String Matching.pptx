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Fira Code" panose="020B0809050000020004" pitchFamily="49" charset="0"/>
      <p:bold r:id="rId15"/>
    </p:embeddedFont>
    <p:embeddedFont>
      <p:font typeface="Inter"/>
      <p:bold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114925"/>
            <a:ext cx="10668000" cy="1133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82100" y="609600"/>
            <a:ext cx="2247900" cy="2762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1149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4500" y="59436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676900"/>
            <a:ext cx="762000" cy="171450"/>
          </a:xfrm>
          <a:prstGeom prst="roundRect">
            <a:avLst>
              <a:gd name="adj" fmla="val 22222"/>
            </a:avLst>
          </a:prstGeom>
          <a:solidFill>
            <a:srgbClr val="12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95500" y="5676900"/>
            <a:ext cx="942975" cy="1714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19475" y="5676900"/>
            <a:ext cx="942975" cy="17145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6034087"/>
            <a:ext cx="10477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61987"/>
            <a:ext cx="2881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MINI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5450" y="666750"/>
            <a:ext cx="2076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Fira Code"/>
              </a:rPr>
              <a:t>Python 3.x Engine &amp; 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93714"/>
            <a:ext cx="930116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Lyrics Similarity Detection</a:t>
            </a:r>
            <a:r>
              <a:t>
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Using String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35535"/>
            <a:ext cx="7905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 KMP-based engine for comparing song lyrics, scoring similarity, and flagging potential plagiarism.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91150"/>
            <a:ext cx="4500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PROJECT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2625" y="6019800"/>
            <a:ext cx="17049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75" b="1" i="0" u="none">
                <a:solidFill>
                  <a:srgbClr val="10B981"/>
                </a:solidFill>
                <a:latin typeface="Inter"/>
              </a:rPr>
              <a:t>Live Implemented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695950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Inter"/>
              </a:rPr>
              <a:t>TEAM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87692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Kavi Krishna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86475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Fira Code"/>
              </a:rPr>
              <a:t>2520080021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1700" y="5695950"/>
            <a:ext cx="8858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TEAM 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5500" y="5876925"/>
            <a:ext cx="1228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Hemanth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6086475"/>
            <a:ext cx="1228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Fira Code"/>
              </a:rPr>
              <a:t>25230090074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5675" y="5695950"/>
            <a:ext cx="8858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TEAM 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475" y="5876925"/>
            <a:ext cx="1228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Prajwal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475" y="6086475"/>
            <a:ext cx="12287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Fira Code"/>
              </a:rPr>
              <a:t>2520080017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478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9081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337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17671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9196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19478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269081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0300" y="34337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0300" y="417671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0300" y="4919662"/>
            <a:ext cx="5372100" cy="62865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9625" y="20907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625" y="28336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625" y="35766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25" y="43195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625" y="50625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10325" y="20907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10325" y="28336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10325" y="35766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10325" y="43195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50625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Presentation Agenda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95300"/>
            <a:ext cx="1702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TABLE OF CONTENTS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5000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02 /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20907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28336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35766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43195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50625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7450" y="20907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7450" y="28336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7450" y="35766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7450" y="43195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7450" y="50625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Fira Code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5875" y="2090737"/>
            <a:ext cx="2500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Abstract &amp; Core Tech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5875" y="2290762"/>
            <a:ext cx="2381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Project summary &amp; algorithm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5875" y="2833687"/>
            <a:ext cx="238779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Introduction &amp;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5875" y="3033712"/>
            <a:ext cx="227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Industry motivation &amp; significance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5875" y="3576637"/>
            <a:ext cx="2400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Literature Survey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5875" y="3776662"/>
            <a:ext cx="2286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Review of string &amp; text techniques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5875" y="4319587"/>
            <a:ext cx="197524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Problem &amp; Objectives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5875" y="4519612"/>
            <a:ext cx="1881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Goals and target milestones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5875" y="5062537"/>
            <a:ext cx="211276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Proposed Methodology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75" y="5262562"/>
            <a:ext cx="2012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5-step detection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6575" y="2090737"/>
            <a:ext cx="27253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Platform UI: Home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6575" y="2290762"/>
            <a:ext cx="2595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Inter"/>
              </a:rPr>
              <a:t>Live interface showcase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6575" y="2833687"/>
            <a:ext cx="29753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Platform UI: Similarity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6575" y="3033712"/>
            <a:ext cx="2833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Inter"/>
              </a:rPr>
              <a:t>KMP, Cosine &amp; Jaccard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6575" y="3576637"/>
            <a:ext cx="25503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Platform UI: Plagiarism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6575" y="3776662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Inter"/>
              </a:rPr>
              <a:t>High risk flagging &amp; passage diffs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86575" y="4319587"/>
            <a:ext cx="253781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Platform UI: Ranked Gallery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6575" y="4519612"/>
            <a:ext cx="2416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369A1"/>
                </a:solidFill>
                <a:latin typeface="Inter"/>
              </a:rPr>
              <a:t>Visual match gallery &amp; player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6575" y="5062537"/>
            <a:ext cx="238779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Conclusion &amp;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6575" y="5262562"/>
            <a:ext cx="227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Summary &amp;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19225"/>
            <a:ext cx="7017394" cy="4676775"/>
          </a:xfrm>
          <a:prstGeom prst="roundRect">
            <a:avLst>
              <a:gd name="adj" fmla="val 24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5353050"/>
            <a:ext cx="6388744" cy="428625"/>
          </a:xfrm>
          <a:prstGeom prst="roundRect">
            <a:avLst>
              <a:gd name="adj" fmla="val 1777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31794" y="1719262"/>
            <a:ext cx="365060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31794" y="3128962"/>
            <a:ext cx="365060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31794" y="4538662"/>
            <a:ext cx="3650605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925" y="5353050"/>
            <a:ext cx="38100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523" y="1919287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523" y="3328987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523" y="4738687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5505450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298" y="2024062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773" y="3433762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1773" y="4843462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Project Abstract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2095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01 · 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5381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03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1733550"/>
            <a:ext cx="838522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Automated Lyrical Originality &amp; Plagiarism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133600"/>
            <a:ext cx="6483994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This project presents an end-to-end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Lyrics Similarity Detection Engine &amp; Web Platform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that compares query song lyrics against a catalogue to identify matching passages and flag potential plagiarism.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017341"/>
            <a:ext cx="648399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Built in Python, the system preprocesses lyrics (lower-casing, punctuation removal, tokenisation), applies the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Knuth-Morris-Pratt (KMP) algorithm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for exact substring matching, and calculates similarity using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Cosine Similarity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Jaccard Similarity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5486400"/>
            <a:ext cx="7462056" cy="1619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Offers an interactive, dark-mode web application for instant lyrical overlap scoring.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3920" y="2395537"/>
            <a:ext cx="4266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KMP 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5500" y="2624137"/>
            <a:ext cx="40631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Fast exact substring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3920" y="3805237"/>
            <a:ext cx="4266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Cosine Similarity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5500" y="4033837"/>
            <a:ext cx="40631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Vector-based term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3920" y="5214937"/>
            <a:ext cx="4266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Jaccard 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5500" y="5443537"/>
            <a:ext cx="40631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Set intersection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83535" y="1419225"/>
            <a:ext cx="5198864" cy="4676775"/>
          </a:xfrm>
          <a:prstGeom prst="roundRect">
            <a:avLst>
              <a:gd name="adj" fmla="val 244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5507235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700587"/>
            <a:ext cx="5507235" cy="1395412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88335" y="5476875"/>
            <a:ext cx="4589264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88335" y="5476875"/>
            <a:ext cx="45892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7163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953000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335" y="2571750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335" y="3124200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335" y="3676650"/>
            <a:ext cx="18097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Introduction &amp;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02 · INDUSTRY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0" y="5381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04 /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933575"/>
            <a:ext cx="512623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Lyric theft and unintentional overlap are common in the music industry, and manually comparing songs for similarity is slow and error-prone.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214937"/>
            <a:ext cx="512623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This project builds an automated engine and interactive dashboard that inputs query lyrics, compares them against a catalogue, and surfaces matched passages with a numeric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8335" y="1752600"/>
            <a:ext cx="2024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KEY VALUE PROPOSITION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335" y="2066925"/>
            <a:ext cx="5503664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Space Grotesk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8335" y="5638800"/>
            <a:ext cx="550366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Python 3 · Interactive Dark UI · 100% Local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475" y="1657350"/>
            <a:ext cx="157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The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4938712"/>
            <a:ext cx="217527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Automated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5510" y="2543175"/>
            <a:ext cx="442733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Protects Originality: Safeguards intellectual property before commercial release.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5510" y="3095625"/>
            <a:ext cx="442733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Speeds Copyright Checks: Eliminates manual review bottlenecks.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3610" y="3648075"/>
            <a:ext cx="438923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8BDF8"/>
                </a:solidFill>
                <a:latin typeface="Inter"/>
              </a:rPr>
              <a:t>Objective Scoring: Replaces subjective "ear-tests" with quantifiable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43600"/>
            <a:ext cx="10972800" cy="381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057900"/>
            <a:ext cx="114300" cy="152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152650"/>
          <a:ext cx="10972798" cy="2828925"/>
        </p:xfrm>
        <a:graphic>
          <a:graphicData uri="http://schemas.openxmlformats.org/drawingml/2006/table">
            <a:tbl>
              <a:tblPr/>
              <a:tblGrid>
                <a:gridCol w="241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Focus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Technique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Key Observation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Exact String-Matching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KMP / Boyer-Moore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Efficient for locating exact repeated phrases, but misses paraphrased or reordered lyrics.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Vector-Space Text 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Cosine Similarity (TF-IDF)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Captures overall lexical overlap between documents; sensitive to vocabulary size.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Set-Based 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Jaccard Similarity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Simple and fast for short texts like song verses; ignores word order and frequency.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Plagiarism-Detection Systems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Turnitin-style Tools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Widely used for academic text; general-purpose, not tuned for lyrical structure or rhyme.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6057900"/>
            <a:ext cx="105608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Design Insight: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Hybridizing KMP exact matching with Cosine and Jaccard metrics covers both literal sequence theft and broader lexical overlap.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643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03 · EXISTING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0" y="5381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19225"/>
            <a:ext cx="4950469" cy="4676775"/>
          </a:xfrm>
          <a:prstGeom prst="roundRect">
            <a:avLst>
              <a:gd name="adj" fmla="val 24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5825" y="5505450"/>
            <a:ext cx="4398019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64869" y="1419225"/>
            <a:ext cx="5717530" cy="676275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64869" y="2752725"/>
            <a:ext cx="5717530" cy="676275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64869" y="4086225"/>
            <a:ext cx="5717530" cy="676275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64869" y="5419725"/>
            <a:ext cx="5717530" cy="676275"/>
          </a:xfrm>
          <a:prstGeom prst="roundRect">
            <a:avLst>
              <a:gd name="adj" fmla="val 14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1695450"/>
            <a:ext cx="1466850" cy="219075"/>
          </a:xfrm>
          <a:prstGeom prst="roundRect">
            <a:avLst>
              <a:gd name="adj" fmla="val 1739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5825" y="5505450"/>
            <a:ext cx="4398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64894" y="16049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64894" y="2938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64894" y="42719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64894" y="56054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686425"/>
            <a:ext cx="95250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Problem Statement &amp;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1643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04 · GOALS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5381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06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1733550"/>
            <a:ext cx="1371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F4444"/>
                </a:solidFill>
                <a:latin typeface="Inter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038350"/>
            <a:ext cx="5772401" cy="272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F172A"/>
                </a:solidFill>
                <a:latin typeface="Inter"/>
              </a:rPr>
              <a:t>Unchecked Lyrical Duplication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425005"/>
            <a:ext cx="449326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There is no lightweight, automated way to check whether a new song's lyrics closely resemble an existing one — making plagiarism checks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slow, manual, and inconsistent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5667375"/>
            <a:ext cx="5497524" cy="15240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High risk of copyright disputes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2019" y="16049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2019" y="2938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2019" y="42719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2019" y="56054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Fira Cod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094" y="1581150"/>
            <a:ext cx="541317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Preprocess &amp; Normalise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094" y="1781175"/>
            <a:ext cx="5155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Clean raw lyrics via lower-casing, punctuation removal &amp; tokenisation.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094" y="2914650"/>
            <a:ext cx="47005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KMP String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094" y="3114675"/>
            <a:ext cx="447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Locate exact matching substrings using prefix table lookups.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094" y="4248150"/>
            <a:ext cx="53256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Multi-Metric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094" y="4448175"/>
            <a:ext cx="5072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Compute Cosine and Jaccard similarity metrics for statistical overlap.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094" y="5581650"/>
            <a:ext cx="542567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Interactive 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094" y="5781675"/>
            <a:ext cx="5167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Display plagiarism warnings, diff views, and ranked similarity galleries.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578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19225"/>
            <a:ext cx="1874490" cy="4210050"/>
          </a:xfrm>
          <a:prstGeom prst="roundRect">
            <a:avLst>
              <a:gd name="adj" fmla="val 60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84140" y="1419225"/>
            <a:ext cx="1874490" cy="4210050"/>
          </a:xfrm>
          <a:prstGeom prst="roundRect">
            <a:avLst>
              <a:gd name="adj" fmla="val 60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58680" y="1419225"/>
            <a:ext cx="1874490" cy="4210050"/>
          </a:xfrm>
          <a:prstGeom prst="roundRect">
            <a:avLst>
              <a:gd name="adj" fmla="val 60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33220" y="1419225"/>
            <a:ext cx="1874490" cy="4210050"/>
          </a:xfrm>
          <a:prstGeom prst="roundRect">
            <a:avLst>
              <a:gd name="adj" fmla="val 60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07760" y="1419225"/>
            <a:ext cx="1874490" cy="4210050"/>
          </a:xfrm>
          <a:prstGeom prst="roundRect">
            <a:avLst>
              <a:gd name="adj" fmla="val 609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5172075"/>
            <a:ext cx="155064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46065" y="5172075"/>
            <a:ext cx="155064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20605" y="5172075"/>
            <a:ext cx="155064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95145" y="5172075"/>
            <a:ext cx="155064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9685" y="5172075"/>
            <a:ext cx="1550640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448050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448050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448050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448050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029325"/>
            <a:ext cx="15240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Proposed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6010275"/>
            <a:ext cx="11191875" cy="1619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Balanced Approach:</a:t>
            </a:r>
            <a:r>
              <a:rPr sz="1050" b="0" i="0" u="none">
                <a:solidFill>
                  <a:srgbClr val="FFFFFF"/>
                </a:solidFill>
                <a:latin typeface="Inter"/>
              </a:rPr>
              <a:t> Combines deterministic string matching (KMP) with statistical similarity measures for optimal precision and recall.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6975" y="6015037"/>
            <a:ext cx="1583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Fira Code"/>
              </a:rPr>
              <a:t>Hybrid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33400"/>
            <a:ext cx="2035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05 · EXECUTION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8025" y="538162"/>
            <a:ext cx="1000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07 /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1619250"/>
            <a:ext cx="1645890" cy="1034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6065" y="1619250"/>
            <a:ext cx="1645890" cy="1034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0605" y="1619250"/>
            <a:ext cx="1645890" cy="86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5145" y="1619250"/>
            <a:ext cx="1645890" cy="86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9685" y="1619250"/>
            <a:ext cx="1645890" cy="86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STEP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1885950"/>
            <a:ext cx="20352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1.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2133600"/>
            <a:ext cx="164589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Collect query song lyrics and load reference catalogue.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29225"/>
            <a:ext cx="1700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34155"/>
                </a:solidFill>
                <a:latin typeface="Fira Code"/>
              </a:rPr>
              <a:t>Raw Lyrics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6065" y="1885950"/>
            <a:ext cx="20352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2. Preprocess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6065" y="2133600"/>
            <a:ext cx="164589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Lower-case, strip punctuation &amp; tokenise raw 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1315" y="5229225"/>
            <a:ext cx="1700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34155"/>
                </a:solidFill>
                <a:latin typeface="Fira Code"/>
              </a:rPr>
              <a:t>Token Cleanse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0605" y="1885950"/>
            <a:ext cx="20352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3. Match (KMP)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0605" y="2133600"/>
            <a:ext cx="164589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Locate exact/near-exact substrings efficiently.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5855" y="5229225"/>
            <a:ext cx="1700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34155"/>
                </a:solidFill>
                <a:latin typeface="Fira Code"/>
              </a:rPr>
              <a:t>KMP Substrings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5145" y="1885950"/>
            <a:ext cx="20352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4.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5145" y="2133600"/>
            <a:ext cx="164589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Apply Cosine &amp; Jaccard similarity metrics.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0395" y="5229225"/>
            <a:ext cx="1700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34155"/>
                </a:solidFill>
                <a:latin typeface="Fira Code"/>
              </a:rPr>
              <a:t>Dual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9685" y="1885950"/>
            <a:ext cx="203521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5. Web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9685" y="2133600"/>
            <a:ext cx="164589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Display plagiarism alerts &amp; ranked gallery.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4935" y="5229225"/>
            <a:ext cx="1700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334155"/>
                </a:solidFill>
                <a:latin typeface="Fira Code"/>
              </a:rPr>
              <a:t>Interactive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19337"/>
            <a:ext cx="4373612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05237"/>
            <a:ext cx="4373612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12" y="1638300"/>
            <a:ext cx="6332487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687" y="1743075"/>
            <a:ext cx="6122937" cy="398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552700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403860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329112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557712"/>
            <a:ext cx="10477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786312"/>
            <a:ext cx="104775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Platform Interface &amp;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5300"/>
            <a:ext cx="3667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06 · PLATFORM IMPLEMENTATION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5000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08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2833687"/>
            <a:ext cx="403071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Features an intuitive sidebar navigation providing seamless access to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Home, Similarity Detection, Plagiarism Detection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, and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Similar Songs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2538412"/>
            <a:ext cx="24878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Modern Dark Theme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024312"/>
            <a:ext cx="26503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Core Dashboard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4319587"/>
            <a:ext cx="4738352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4 Songs Catalogue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loaded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548187"/>
            <a:ext cx="4738352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3 Matching Algorithms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active (KMP, Cosine, Jaccard)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4776787"/>
            <a:ext cx="4738352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100% Local Processing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for instant results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C1D366-8566-F39F-F0C4-742CB95565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687" y="1743075"/>
            <a:ext cx="6122937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08787" y="2228850"/>
            <a:ext cx="4373612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08787" y="3276600"/>
            <a:ext cx="4373612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08787" y="4324350"/>
            <a:ext cx="4373612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48950" y="2409825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3457575"/>
            <a:ext cx="885825" cy="190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15575" y="4505325"/>
            <a:ext cx="1085850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8300"/>
            <a:ext cx="6332487" cy="419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743075"/>
            <a:ext cx="6122937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Multi-Metric Similarity Detection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5300"/>
            <a:ext cx="190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07 · ENGINE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0" y="500062"/>
            <a:ext cx="1009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09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9762" y="2657475"/>
            <a:ext cx="41069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Identifies exact phrase overlaps in real-time without redundant scanning.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9762" y="3705225"/>
            <a:ext cx="41069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Measures lexical vector alignment and term frequency across lyrics.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9762" y="4752975"/>
            <a:ext cx="41069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Calculates word set intersection over union ratio for unique vocabulary.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9762" y="2414587"/>
            <a:ext cx="2000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KMP Substring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150" y="2428875"/>
            <a:ext cx="695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Fira Code"/>
              </a:rPr>
              <a:t>3 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9762" y="3462337"/>
            <a:ext cx="15501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Cosine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3476625"/>
            <a:ext cx="828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Fira Code"/>
              </a:rPr>
              <a:t>82% Overlap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762" y="4510087"/>
            <a:ext cx="134016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Jaccard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91775" y="4524375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Fira Code"/>
              </a:rPr>
              <a:t>68% Unique Set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AD9B6C5-B915-D23D-DFE4-82BB5A97B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743075"/>
            <a:ext cx="6065787" cy="39814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5987"/>
            <a:ext cx="4373612" cy="1343025"/>
          </a:xfrm>
          <a:prstGeom prst="roundRect">
            <a:avLst>
              <a:gd name="adj" fmla="val 851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81412"/>
            <a:ext cx="4373612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625" y="4414837"/>
            <a:ext cx="397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9625" y="4776787"/>
            <a:ext cx="397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625" y="4414837"/>
            <a:ext cx="397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68787" y="4157662"/>
            <a:ext cx="914400" cy="200025"/>
          </a:xfrm>
          <a:prstGeom prst="roundRect">
            <a:avLst>
              <a:gd name="adj" fmla="val 19047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9625" y="4776787"/>
            <a:ext cx="39735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44987" y="4519612"/>
            <a:ext cx="838200" cy="200025"/>
          </a:xfrm>
          <a:prstGeom prst="roundRect">
            <a:avLst>
              <a:gd name="adj" fmla="val 1904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4987" y="4881562"/>
            <a:ext cx="838200" cy="200025"/>
          </a:xfrm>
          <a:prstGeom prst="roundRect">
            <a:avLst>
              <a:gd name="adj" fmla="val 1904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12" y="1638300"/>
            <a:ext cx="6332487" cy="419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687" y="1743075"/>
            <a:ext cx="6122937" cy="398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Plagiarism Flagging &amp; Passage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95300"/>
            <a:ext cx="1869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F4444"/>
                </a:solidFill>
                <a:latin typeface="Space Grotesk"/>
              </a:rPr>
              <a:t>08 · 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7075" y="500062"/>
            <a:ext cx="981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10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395537"/>
            <a:ext cx="4049762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C2626"/>
                </a:solidFill>
                <a:latin typeface="Inter"/>
              </a:rPr>
              <a:t> Risk Alert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2671762"/>
            <a:ext cx="516529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Inter"/>
              </a:rPr>
              <a:t>High Plagiarism Risk (75%)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2986087"/>
            <a:ext cx="40307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Inter"/>
              </a:rPr>
              <a:t>Flagged song: </a:t>
            </a:r>
            <a:r>
              <a:rPr sz="1050" b="1" i="0" u="none">
                <a:solidFill>
                  <a:srgbClr val="7F1D1D"/>
                </a:solidFill>
                <a:latin typeface="Inter"/>
              </a:rPr>
              <a:t>"Same Sky"</a:t>
            </a:r>
            <a:r>
              <a:rPr sz="1050" b="0" i="0" u="none">
                <a:solidFill>
                  <a:srgbClr val="7F1D1D"/>
                </a:solidFill>
                <a:latin typeface="Inter"/>
              </a:rPr>
              <a:t> — 3 matching passages detected against query.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881437"/>
            <a:ext cx="5215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Passage Breakdown: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157662"/>
            <a:ext cx="406881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Match 1 (Exact 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519612"/>
            <a:ext cx="406881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Match 2 (Chorus Variant)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881562"/>
            <a:ext cx="406881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Match 3 (Verse Phrase)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4987" y="4176712"/>
            <a:ext cx="857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Fira Code"/>
              </a:rPr>
              <a:t>100%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1187" y="4538662"/>
            <a:ext cx="781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Fira Code"/>
              </a:rPr>
              <a:t>67%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1187" y="4900612"/>
            <a:ext cx="781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Fira Code"/>
              </a:rPr>
              <a:t>50% Match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CEA4DC-4A0D-AD51-E0D0-8CF4B3210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296" y="1674017"/>
            <a:ext cx="6122938" cy="4119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08787" y="2409825"/>
            <a:ext cx="4373612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08787" y="3429000"/>
            <a:ext cx="4373612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208787" y="4010025"/>
            <a:ext cx="4373612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08787" y="4591050"/>
            <a:ext cx="4373612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80237" y="2581275"/>
            <a:ext cx="819150" cy="171450"/>
          </a:xfrm>
          <a:prstGeom prst="roundRect">
            <a:avLst>
              <a:gd name="adj" fmla="val 22222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8300"/>
            <a:ext cx="6332487" cy="419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743075"/>
            <a:ext cx="6122937" cy="398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Ranked Similar Songs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5300"/>
            <a:ext cx="1714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09 · VISUAL GALLERY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5650" y="500062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11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237" y="2790825"/>
            <a:ext cx="48117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1. Same Sky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237" y="3000375"/>
            <a:ext cx="48117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Top ranked lyrical overlap with query verse.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6437" y="2600325"/>
            <a:ext cx="762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333EA"/>
                </a:solidFill>
                <a:latin typeface="Inter"/>
              </a:rPr>
              <a:t>BEST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0" y="2586037"/>
            <a:ext cx="1123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333EA"/>
                </a:solidFill>
                <a:latin typeface="Fira Code"/>
              </a:rPr>
              <a:t>75% Similar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662" y="3571875"/>
            <a:ext cx="13701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2. Empty Hand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1325" y="3581400"/>
            <a:ext cx="11239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Fira Code"/>
              </a:rPr>
              <a:t>32% Similar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662" y="4152900"/>
            <a:ext cx="13701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3. Quiet Static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7525" y="4162425"/>
            <a:ext cx="104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Fira Code"/>
              </a:rPr>
              <a:t>8% Similar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662" y="4733925"/>
            <a:ext cx="126015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4. City 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7525" y="4743450"/>
            <a:ext cx="1047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Fira Code"/>
              </a:rPr>
              <a:t>4% Similar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94E02A-E1D7-0776-88F3-EC353720F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49" y="1743074"/>
            <a:ext cx="6122937" cy="40597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8434"/>
            <a:ext cx="10972800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99744"/>
            <a:ext cx="2628900" cy="1224855"/>
          </a:xfrm>
          <a:prstGeom prst="roundRect">
            <a:avLst>
              <a:gd name="adj" fmla="val 77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5099744"/>
            <a:ext cx="2628900" cy="1224855"/>
          </a:xfrm>
          <a:prstGeom prst="roundRect">
            <a:avLst>
              <a:gd name="adj" fmla="val 77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5099744"/>
            <a:ext cx="2628900" cy="1224855"/>
          </a:xfrm>
          <a:prstGeom prst="roundRect">
            <a:avLst>
              <a:gd name="adj" fmla="val 77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5099744"/>
            <a:ext cx="2628900" cy="1224855"/>
          </a:xfrm>
          <a:prstGeom prst="roundRect">
            <a:avLst>
              <a:gd name="adj" fmla="val 77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299769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5299769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5299769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525" y="5299769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8096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678459"/>
            <a:ext cx="11344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Project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926109"/>
            <a:ext cx="1059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implemented system combines deterministic string matching with statistical text similarity techniques in a modern web platform. It eliminates manual effort in plagiarism detection, providing songwriters, publishers, and platforms a practical first line of defence.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813994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FUTURE ENHANCEMENT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3400"/>
            <a:ext cx="2059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pace Grotesk"/>
              </a:rPr>
              <a:t>10 · ROADMAP &amp; CLOSING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7075" y="538162"/>
            <a:ext cx="981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12 /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585519"/>
            <a:ext cx="29253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1. Deep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5804594"/>
            <a:ext cx="23241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Use transformers to catch semantic &amp; paraphrased similarity.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925" y="5585519"/>
            <a:ext cx="29253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2. Audio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0925" y="5804594"/>
            <a:ext cx="23241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Extend checks beyond text to melody and rhythm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5585519"/>
            <a:ext cx="29253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3. Multilingual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5" y="5804594"/>
            <a:ext cx="23241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Support lyric comparison across multiple languages and scripts.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525" y="5585519"/>
            <a:ext cx="29253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4. Real-Time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525" y="5804594"/>
            <a:ext cx="23241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Expose engine as a cloud API service for streaming platforms.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10250" y="3843337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6388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2059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PROJECT DEFENSE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34675" y="614362"/>
            <a:ext cx="981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Slide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5768" y="2538412"/>
            <a:ext cx="3700462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3875" y="3367087"/>
            <a:ext cx="3524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Inter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876925"/>
            <a:ext cx="3036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57900"/>
            <a:ext cx="3036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Kavi Krishna · Hemanth · Prajwal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0" y="5981700"/>
            <a:ext cx="4476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94A3B8"/>
                </a:solidFill>
                <a:latin typeface="Fira Code"/>
              </a:rPr>
              <a:t>Roll Nos: 2520080021 · 25230090074 · 2520080017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1102</Words>
  <Application>Microsoft Office PowerPoint</Application>
  <PresentationFormat>Widescreen</PresentationFormat>
  <Paragraphs>205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Space Grotesk</vt:lpstr>
      <vt:lpstr>Calibri</vt:lpstr>
      <vt:lpstr>Arial</vt:lpstr>
      <vt:lpstr>Inter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Kumar</cp:lastModifiedBy>
  <cp:revision>3</cp:revision>
  <dcterms:created xsi:type="dcterms:W3CDTF">2013-01-27T09:14:16Z</dcterms:created>
  <dcterms:modified xsi:type="dcterms:W3CDTF">2026-10-12T06:15:09Z</dcterms:modified>
  <cp:category/>
</cp:coreProperties>
</file>